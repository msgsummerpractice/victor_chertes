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00"/>
  </p:notesMasterIdLst>
  <p:handoutMasterIdLst>
    <p:handoutMasterId r:id="rId101"/>
  </p:handoutMasterIdLst>
  <p:sldIdLst>
    <p:sldId id="264" r:id="rId3"/>
    <p:sldId id="270" r:id="rId4"/>
    <p:sldId id="346" r:id="rId5"/>
    <p:sldId id="269" r:id="rId6"/>
    <p:sldId id="267" r:id="rId7"/>
    <p:sldId id="268" r:id="rId8"/>
    <p:sldId id="271" r:id="rId9"/>
    <p:sldId id="272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347" r:id="rId24"/>
    <p:sldId id="343" r:id="rId25"/>
    <p:sldId id="341" r:id="rId26"/>
    <p:sldId id="344" r:id="rId27"/>
    <p:sldId id="288" r:id="rId28"/>
    <p:sldId id="290" r:id="rId29"/>
    <p:sldId id="292" r:id="rId30"/>
    <p:sldId id="291" r:id="rId31"/>
    <p:sldId id="345" r:id="rId32"/>
    <p:sldId id="296" r:id="rId33"/>
    <p:sldId id="297" r:id="rId34"/>
    <p:sldId id="293" r:id="rId35"/>
    <p:sldId id="294" r:id="rId36"/>
    <p:sldId id="340" r:id="rId37"/>
    <p:sldId id="353" r:id="rId38"/>
    <p:sldId id="352" r:id="rId39"/>
    <p:sldId id="348" r:id="rId40"/>
    <p:sldId id="295" r:id="rId41"/>
    <p:sldId id="349" r:id="rId42"/>
    <p:sldId id="301" r:id="rId43"/>
    <p:sldId id="371" r:id="rId44"/>
    <p:sldId id="300" r:id="rId45"/>
    <p:sldId id="372" r:id="rId46"/>
    <p:sldId id="302" r:id="rId47"/>
    <p:sldId id="303" r:id="rId48"/>
    <p:sldId id="304" r:id="rId49"/>
    <p:sldId id="350" r:id="rId50"/>
    <p:sldId id="305" r:id="rId51"/>
    <p:sldId id="306" r:id="rId52"/>
    <p:sldId id="307" r:id="rId53"/>
    <p:sldId id="308" r:id="rId54"/>
    <p:sldId id="313" r:id="rId55"/>
    <p:sldId id="312" r:id="rId56"/>
    <p:sldId id="351" r:id="rId57"/>
    <p:sldId id="309" r:id="rId58"/>
    <p:sldId id="310" r:id="rId59"/>
    <p:sldId id="311" r:id="rId60"/>
    <p:sldId id="356" r:id="rId61"/>
    <p:sldId id="314" r:id="rId62"/>
    <p:sldId id="315" r:id="rId63"/>
    <p:sldId id="355" r:id="rId64"/>
    <p:sldId id="316" r:id="rId65"/>
    <p:sldId id="317" r:id="rId66"/>
    <p:sldId id="318" r:id="rId67"/>
    <p:sldId id="319" r:id="rId68"/>
    <p:sldId id="320" r:id="rId69"/>
    <p:sldId id="321" r:id="rId70"/>
    <p:sldId id="354" r:id="rId71"/>
    <p:sldId id="359" r:id="rId72"/>
    <p:sldId id="360" r:id="rId73"/>
    <p:sldId id="362" r:id="rId74"/>
    <p:sldId id="357" r:id="rId75"/>
    <p:sldId id="323" r:id="rId76"/>
    <p:sldId id="322" r:id="rId77"/>
    <p:sldId id="324" r:id="rId78"/>
    <p:sldId id="369" r:id="rId79"/>
    <p:sldId id="373" r:id="rId80"/>
    <p:sldId id="370" r:id="rId81"/>
    <p:sldId id="374" r:id="rId82"/>
    <p:sldId id="363" r:id="rId83"/>
    <p:sldId id="366" r:id="rId84"/>
    <p:sldId id="326" r:id="rId85"/>
    <p:sldId id="327" r:id="rId86"/>
    <p:sldId id="328" r:id="rId87"/>
    <p:sldId id="339" r:id="rId88"/>
    <p:sldId id="330" r:id="rId89"/>
    <p:sldId id="329" r:id="rId90"/>
    <p:sldId id="331" r:id="rId91"/>
    <p:sldId id="375" r:id="rId92"/>
    <p:sldId id="325" r:id="rId93"/>
    <p:sldId id="333" r:id="rId94"/>
    <p:sldId id="336" r:id="rId95"/>
    <p:sldId id="364" r:id="rId96"/>
    <p:sldId id="335" r:id="rId97"/>
    <p:sldId id="365" r:id="rId98"/>
    <p:sldId id="338" r:id="rId99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90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od Molnar" initials="EM" lastIdx="2" clrIdx="0">
    <p:extLst>
      <p:ext uri="{19B8F6BF-5375-455C-9EA6-DF929625EA0E}">
        <p15:presenceInfo xmlns:p15="http://schemas.microsoft.com/office/powerpoint/2012/main" userId="S::Elod.Molnar@msg.group::d67026d1-71ee-48c4-b56b-750613dac6ae" providerId="AD"/>
      </p:ext>
    </p:extLst>
  </p:cmAuthor>
  <p:cmAuthor id="2" name="Elod Molnar" initials="EM [2]" lastIdx="1" clrIdx="1">
    <p:extLst>
      <p:ext uri="{19B8F6BF-5375-455C-9EA6-DF929625EA0E}">
        <p15:presenceInfo xmlns:p15="http://schemas.microsoft.com/office/powerpoint/2012/main" userId="a78397ef5bea4d9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1DD"/>
    <a:srgbClr val="D2EEFA"/>
    <a:srgbClr val="A2C6D5"/>
    <a:srgbClr val="FEE7C6"/>
    <a:srgbClr val="EB9795"/>
    <a:srgbClr val="FF3300"/>
    <a:srgbClr val="DAE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EDCB8-9A89-42D0-BD4F-B44259ECD27E}" v="350" dt="2024-07-16T13:32:59.554"/>
  </p1510:revLst>
</p1510:revInfo>
</file>

<file path=ppt/tableStyles.xml><?xml version="1.0" encoding="utf-8"?>
<a:tblStyleLst xmlns:a="http://schemas.openxmlformats.org/drawingml/2006/main" def="{3B499C51-E065-441F-A7F9-1BCB1B5F97B9}">
  <a:tblStyle styleId="{3B499C51-E065-441F-A7F9-1BCB1B5F97B9}" styleName="msg systems Standardtabelle">
    <a:wholeTbl>
      <a:tcTxStyle>
        <a:fontRef idx="minor">
          <a:scrgbClr r="0" g="0" b="0"/>
        </a:fontRef>
        <a:schemeClr val="tx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9525" cmpd="sng">
              <a:solidFill>
                <a:schemeClr val="accent3"/>
              </a:solidFill>
            </a:ln>
          </a:insideH>
          <a:insideV>
            <a:ln w="9525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>
        <a:schemeClr val="accent1"/>
      </a:tcTxStyle>
      <a:tcStyle>
        <a:tcBdr>
          <a:bottom>
            <a:ln w="9525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603" autoAdjust="0"/>
  </p:normalViewPr>
  <p:slideViewPr>
    <p:cSldViewPr snapToGrid="0">
      <p:cViewPr varScale="1">
        <p:scale>
          <a:sx n="86" d="100"/>
          <a:sy n="86" d="100"/>
        </p:scale>
        <p:origin x="72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microsoft.com/office/2015/10/relationships/revisionInfo" Target="revisionInfo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commentAuthors" Target="commentAuthor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notesMaster" Target="notesMasters/notesMaster1.xml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6CCC16E-228D-43D2-8390-31111086EB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045F98-938A-49AC-BE05-5688D63C2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53045-7CB0-45FC-B08A-AB6ECF2A2C91}" type="datetimeFigureOut">
              <a:rPr lang="de-DE" sz="1000" smtClean="0">
                <a:solidFill>
                  <a:schemeClr val="tx2"/>
                </a:solidFill>
              </a:rPr>
              <a:t>31.07.2026</a:t>
            </a:fld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83A03F-57E6-4F67-AAE5-AA325AAE3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2D2B52-0026-41B5-AD45-1FB521DB5D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0D932-A563-4BE9-A9BD-2FD44D180931}" type="slidenum">
              <a:rPr lang="de-DE" sz="1000" smtClean="0">
                <a:solidFill>
                  <a:schemeClr val="tx2"/>
                </a:solidFill>
              </a:rPr>
              <a:t>‹#›</a:t>
            </a:fld>
            <a:endParaRPr lang="de-DE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36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33C12E-3F61-468E-BC90-EC3528E23546}" type="datetimeFigureOut">
              <a:rPr lang="de-DE" smtClean="0"/>
              <a:pPr/>
              <a:t>31.07.2026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</a:pPr>
            <a:r>
              <a:rPr lang="de-DE"/>
              <a:t>Mastertextformat bearbeiten</a:t>
            </a:r>
          </a:p>
          <a:p>
            <a:pPr marL="144000" lvl="1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540000" lvl="2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900000" lvl="3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1260000" lvl="4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EA03A34-464E-4330-B842-BE15B10045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86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4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0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Prerequisites for the course:</a:t>
            </a:r>
          </a:p>
          <a:p>
            <a:br>
              <a:rPr lang="en-US" dirty="0"/>
            </a:br>
            <a:r>
              <a:rPr lang="en-US" dirty="0"/>
              <a:t>https://github.com/msgsummerpractice/cloud-trainers/tree/main/resources/wsl-docker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525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Bad example: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PowerShell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cd ~</a:t>
            </a:r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wsl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-d alpine</a:t>
            </a:r>
            <a:b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mkdir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endParaRPr lang="en-US" sz="1800" b="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cd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b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endParaRPr lang="en-US" sz="1800" b="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https://redis.io/download</a:t>
            </a:r>
          </a:p>
          <a:p>
            <a:b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wget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https://download.redis.io/releases/redis-6.2.1.tar.gz (CONNECT TO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PulseSecure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to demonstrate first error)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tar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xzf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redis-6.2.1.tar.gz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cd redis-6.2.1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make (ERROR 2: no make available)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redis</a:t>
            </a:r>
            <a:r>
              <a:rPr lang="en-US" dirty="0"/>
              <a:t>-server</a:t>
            </a:r>
          </a:p>
          <a:p>
            <a:b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New terminal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./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src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-cli</a:t>
            </a:r>
            <a:b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endParaRPr lang="en-US" sz="180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 It will fail when executing make =&gt; debug??</a:t>
            </a:r>
            <a:endParaRPr lang="en-US" sz="180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run  -it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7019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556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 use Docker on my Project”</a:t>
            </a:r>
          </a:p>
          <a:p>
            <a:pPr marL="285750" indent="-285750">
              <a:buFontTx/>
              <a:buChar char="-"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 be referring to Client, Server, etc.</a:t>
            </a:r>
          </a:p>
          <a:p>
            <a:pPr marL="285750" indent="-285750">
              <a:buFontTx/>
              <a:buChar char="-"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tools to come together to form an ecosystem / platform around creating and running “containers”</a:t>
            </a:r>
          </a:p>
          <a:p>
            <a:pPr marL="0" indent="0">
              <a:buFontTx/>
              <a:buNone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Wtf is a container?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8789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terminology: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Image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Container</a:t>
            </a:r>
          </a:p>
          <a:p>
            <a:endParaRPr lang="en-US" sz="1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again what happened when we ran docker run –it </a:t>
            </a:r>
            <a:r>
              <a:rPr lang="en-US" sz="18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endParaRPr lang="en-US" sz="1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>
              <a:buFontTx/>
              <a:buChar char="-"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docker-cli reached out to docker hub</a:t>
            </a:r>
          </a:p>
          <a:p>
            <a:pPr marL="285750" indent="-285750">
              <a:buFontTx/>
              <a:buChar char="-"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downloaded an image with all dependencies and configurations to run a very specific program. For example Redis.</a:t>
            </a:r>
          </a:p>
          <a:p>
            <a:pPr marL="285750" indent="-285750">
              <a:buFontTx/>
              <a:buChar char="-"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is an instance of an image (like Class -&gt; Object)</a:t>
            </a:r>
          </a:p>
          <a:p>
            <a:pPr marL="742950" lvl="1" indent="-285750">
              <a:buFontTx/>
              <a:buChar char="-"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own little space of memory, networking, hard drive</a:t>
            </a:r>
          </a:p>
          <a:p>
            <a:pPr marL="742950" lvl="1" indent="-285750">
              <a:buFontTx/>
              <a:buChar char="-"/>
            </a:pPr>
            <a:endParaRPr lang="en-US" sz="1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421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Tx/>
              <a:buChar char="-"/>
            </a:pPr>
            <a:endParaRPr lang="en-US" sz="1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877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“unable to find image locally”…. What happened?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716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hello world again to demonstrate cache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055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do we solve a problem where a java application needs Java 1.8, another needs java 15 and we can’t have both installed at the same time on our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2239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Namespacing</a:t>
            </a:r>
            <a:endParaRPr lang="en-US" dirty="0"/>
          </a:p>
          <a:p>
            <a:r>
              <a:rPr lang="en-US" dirty="0"/>
              <a:t>Java App 1 has access to the segment with Java 1.8, Java App 2 (</a:t>
            </a:r>
            <a:r>
              <a:rPr lang="en-US" dirty="0" err="1"/>
              <a:t>blabla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Kernel is responsible to figure out which process it is coming from.</a:t>
            </a:r>
          </a:p>
          <a:p>
            <a:r>
              <a:rPr lang="en-US" dirty="0"/>
              <a:t>Java App 1 -&gt; Java 1.8 segment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Java App 2 -&gt; Java 15  segment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5204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Namespacing</a:t>
            </a:r>
            <a:endParaRPr lang="en-US"/>
          </a:p>
          <a:p>
            <a:r>
              <a:rPr lang="en-US"/>
              <a:t>Java App 1 has access to the segment with Java 1.8, Java App 2 (</a:t>
            </a:r>
            <a:r>
              <a:rPr lang="en-US" err="1"/>
              <a:t>blabla</a:t>
            </a:r>
            <a:r>
              <a:rPr lang="en-US"/>
              <a:t>)</a:t>
            </a:r>
            <a:br>
              <a:rPr lang="en-US"/>
            </a:br>
            <a:r>
              <a:rPr lang="en-US"/>
              <a:t>Kernel is responsible to figure out which process it is coming from.</a:t>
            </a:r>
          </a:p>
          <a:p>
            <a:r>
              <a:rPr lang="en-US"/>
              <a:t>Java App 1 -&gt; Java 1.8 segment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Java App 2 -&gt; Java 15  segment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1760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Control Groups used for limiting the amount of resources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0481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Putting </a:t>
            </a:r>
            <a:r>
              <a:rPr lang="en-US" err="1"/>
              <a:t>Namespacing</a:t>
            </a:r>
            <a:r>
              <a:rPr lang="en-US"/>
              <a:t> and Control Groups together: Container</a:t>
            </a:r>
          </a:p>
          <a:p>
            <a:r>
              <a:rPr lang="en-US"/>
              <a:t>Container is not physical, it’s logical.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051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Putting </a:t>
            </a:r>
            <a:r>
              <a:rPr lang="en-US" err="1"/>
              <a:t>Namespacing</a:t>
            </a:r>
            <a:r>
              <a:rPr lang="en-US"/>
              <a:t> and Control Groups together: Container</a:t>
            </a:r>
          </a:p>
          <a:p>
            <a:r>
              <a:rPr lang="en-US"/>
              <a:t>Container is not physical, it’s logical.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699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Putting </a:t>
            </a:r>
            <a:r>
              <a:rPr lang="en-US" err="1"/>
              <a:t>Namespacing</a:t>
            </a:r>
            <a:r>
              <a:rPr lang="en-US"/>
              <a:t> and Control Groups together: Container</a:t>
            </a:r>
          </a:p>
          <a:p>
            <a:r>
              <a:rPr lang="en-US"/>
              <a:t>Container is not physical, it’s logical.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634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Remind of slides in containers explained where the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1116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use </a:t>
            </a:r>
            <a:r>
              <a:rPr lang="en-US" dirty="0" err="1"/>
              <a:t>busybox</a:t>
            </a:r>
            <a:r>
              <a:rPr lang="en-US" dirty="0"/>
              <a:t> and not hello-world image?</a:t>
            </a:r>
          </a:p>
          <a:p>
            <a:r>
              <a:rPr lang="en-US" dirty="0"/>
              <a:t>Do examples:</a:t>
            </a:r>
          </a:p>
          <a:p>
            <a:r>
              <a:rPr lang="en-US" dirty="0"/>
              <a:t>docker run hello-world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docker run hello-world echo hi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Command ls and echo executables / programs exist in </a:t>
            </a:r>
            <a:r>
              <a:rPr lang="en-US" dirty="0" err="1"/>
              <a:t>busybox</a:t>
            </a:r>
            <a:r>
              <a:rPr lang="en-US" dirty="0"/>
              <a:t>, but not in hello-world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0927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310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883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356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about container id, image, command, crated, status, ports, names</a:t>
            </a:r>
          </a:p>
          <a:p>
            <a:r>
              <a:rPr lang="en-US"/>
              <a:t>Container id – used for a lot of other operations (later on)</a:t>
            </a:r>
          </a:p>
          <a:p>
            <a:r>
              <a:rPr lang="en-US"/>
              <a:t>Image – container created with this image</a:t>
            </a:r>
          </a:p>
          <a:p>
            <a:r>
              <a:rPr lang="en-US"/>
              <a:t>Command – command executed at startup</a:t>
            </a:r>
          </a:p>
          <a:p>
            <a:r>
              <a:rPr lang="en-US"/>
              <a:t>Created – how long was it created</a:t>
            </a:r>
          </a:p>
          <a:p>
            <a:r>
              <a:rPr lang="en-US"/>
              <a:t>Status – it’s been up for 31 seconds</a:t>
            </a:r>
          </a:p>
          <a:p>
            <a:r>
              <a:rPr lang="en-US"/>
              <a:t>Ports – any ports for outside access</a:t>
            </a:r>
          </a:p>
          <a:p>
            <a:r>
              <a:rPr lang="en-US"/>
              <a:t>Names – randomly generated name (my case </a:t>
            </a:r>
            <a:r>
              <a:rPr lang="en-US" err="1"/>
              <a:t>great_banzai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Press </a:t>
            </a:r>
            <a:r>
              <a:rPr lang="en-US" err="1"/>
              <a:t>Ctrl+C</a:t>
            </a:r>
            <a:r>
              <a:rPr lang="en-US"/>
              <a:t> and check if it’s still running by executing docker </a:t>
            </a:r>
            <a:r>
              <a:rPr lang="en-US" err="1"/>
              <a:t>ps</a:t>
            </a:r>
            <a:endParaRPr lang="en-US"/>
          </a:p>
          <a:p>
            <a:r>
              <a:rPr lang="en-US"/>
              <a:t>How do we stop it?</a:t>
            </a:r>
          </a:p>
          <a:p>
            <a:r>
              <a:rPr lang="en-US"/>
              <a:t>docker stop container-id | name</a:t>
            </a:r>
          </a:p>
          <a:p>
            <a:endParaRPr lang="en-US"/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again to show that it’s stopped (not in the running containers list)</a:t>
            </a:r>
          </a:p>
          <a:p>
            <a:endParaRPr lang="en-US"/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–all (show all containers, including stopped containers)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5762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9198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Demo:</a:t>
            </a:r>
          </a:p>
          <a:p>
            <a:r>
              <a:rPr lang="en-US"/>
              <a:t>docker create hello-world</a:t>
            </a:r>
          </a:p>
          <a:p>
            <a:r>
              <a:rPr lang="en-US"/>
              <a:t>docker start </a:t>
            </a:r>
            <a:r>
              <a:rPr lang="en-US" b="1"/>
              <a:t>-a</a:t>
            </a:r>
            <a:r>
              <a:rPr lang="en-US"/>
              <a:t> &lt;docker id&gt; (-a = --attach, as in watch the output)</a:t>
            </a:r>
          </a:p>
          <a:p>
            <a:r>
              <a:rPr lang="en-US"/>
              <a:t>Docker start --help and show the -a section</a:t>
            </a:r>
            <a:br>
              <a:rPr lang="en-US"/>
            </a:br>
            <a:r>
              <a:rPr lang="en-US"/>
              <a:t>Per default no output will be shown, that is why you need -a.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9159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Once a container is created it’s default command cannot be overridden.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048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Once a container is created it’s default command cannot be overridden.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31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>
                <a:solidFill>
                  <a:schemeClr val="tx1"/>
                </a:solidFill>
              </a:rPr>
              <a:t>SIGTERM</a:t>
            </a:r>
            <a:r>
              <a:rPr lang="en-US"/>
              <a:t> -&gt;terminate signal</a:t>
            </a:r>
          </a:p>
          <a:p>
            <a:r>
              <a:rPr lang="en-US"/>
              <a:t>Received by the process, and means shut down at your own time.</a:t>
            </a:r>
          </a:p>
          <a:p>
            <a:r>
              <a:rPr lang="en-US"/>
              <a:t>Gives the process time for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5369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>
                <a:solidFill>
                  <a:schemeClr val="tx1"/>
                </a:solidFill>
              </a:rPr>
              <a:t>SIGKILL</a:t>
            </a:r>
            <a:r>
              <a:rPr lang="en-US"/>
              <a:t> -&gt;kill signal</a:t>
            </a:r>
          </a:p>
          <a:p>
            <a:r>
              <a:rPr lang="en-US"/>
              <a:t>Tells process to shut down immediately without doing any additional work.</a:t>
            </a:r>
            <a:br>
              <a:rPr lang="en-US"/>
            </a:br>
            <a:br>
              <a:rPr lang="en-US"/>
            </a:br>
            <a:r>
              <a:rPr lang="en-US"/>
              <a:t>Demo with </a:t>
            </a:r>
            <a:br>
              <a:rPr lang="en-US"/>
            </a:br>
            <a:r>
              <a:rPr lang="en-US"/>
              <a:t>docker run </a:t>
            </a:r>
            <a:r>
              <a:rPr lang="en-US" err="1"/>
              <a:t>busybox</a:t>
            </a:r>
            <a:r>
              <a:rPr lang="en-US"/>
              <a:t> ping www.google.com</a:t>
            </a:r>
            <a:br>
              <a:rPr lang="en-US"/>
            </a:br>
            <a:r>
              <a:rPr lang="en-US"/>
              <a:t>docker stop &lt;container id&gt;</a:t>
            </a:r>
            <a:br>
              <a:rPr lang="en-US"/>
            </a:br>
            <a:r>
              <a:rPr lang="en-US"/>
              <a:t>docker start &lt;container id&gt;</a:t>
            </a:r>
            <a:br>
              <a:rPr lang="en-US"/>
            </a:br>
            <a:r>
              <a:rPr lang="en-US"/>
              <a:t>docker kill &lt;container id&gt;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62072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Once a container is created it’s default command cannot be overridden. </a:t>
            </a:r>
          </a:p>
          <a:p>
            <a:endParaRPr lang="en-US"/>
          </a:p>
          <a:p>
            <a:r>
              <a:rPr lang="en-US"/>
              <a:t>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5592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Deleting all stopped containers</a:t>
            </a:r>
          </a:p>
          <a:p>
            <a:endParaRPr lang="en-US"/>
          </a:p>
          <a:p>
            <a:r>
              <a:rPr lang="en-US"/>
              <a:t>Demo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r>
              <a:rPr lang="en-US"/>
              <a:t>docker system prune</a:t>
            </a:r>
          </a:p>
          <a:p>
            <a:r>
              <a:rPr lang="en-US"/>
              <a:t>docker system prune --all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83432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Deleting all stopped containers</a:t>
            </a:r>
          </a:p>
          <a:p>
            <a:endParaRPr lang="en-US"/>
          </a:p>
          <a:p>
            <a:r>
              <a:rPr lang="en-US"/>
              <a:t>Demo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r>
              <a:rPr lang="en-US"/>
              <a:t>docker system prune</a:t>
            </a:r>
          </a:p>
          <a:p>
            <a:r>
              <a:rPr lang="en-US"/>
              <a:t>docker system prune --all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53195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Deleting all stopped containers</a:t>
            </a:r>
          </a:p>
          <a:p>
            <a:endParaRPr lang="en-US"/>
          </a:p>
          <a:p>
            <a:r>
              <a:rPr lang="en-US"/>
              <a:t>Demo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r>
              <a:rPr lang="en-US"/>
              <a:t>docker system prune</a:t>
            </a:r>
          </a:p>
          <a:p>
            <a:r>
              <a:rPr lang="en-US"/>
              <a:t>docker system prune --all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0889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Deleting all stopped containers</a:t>
            </a:r>
          </a:p>
          <a:p>
            <a:endParaRPr lang="en-US"/>
          </a:p>
          <a:p>
            <a:r>
              <a:rPr lang="en-US"/>
              <a:t>Demo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r>
              <a:rPr lang="en-US"/>
              <a:t>docker system prune</a:t>
            </a:r>
          </a:p>
          <a:p>
            <a:r>
              <a:rPr lang="en-US"/>
              <a:t>docker system prune --all</a:t>
            </a:r>
          </a:p>
          <a:p>
            <a:r>
              <a:rPr lang="en-US"/>
              <a:t>docker </a:t>
            </a:r>
            <a:r>
              <a:rPr lang="en-US" err="1"/>
              <a:t>ps</a:t>
            </a:r>
            <a:r>
              <a:rPr lang="en-US"/>
              <a:t> --all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78473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Demo with ping www.google.com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1379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Demo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wsl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endParaRPr lang="en-US" sz="1800" b="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wsl</a:t>
            </a:r>
            <a:b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 ~/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/redis-6.2.1/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src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-server</a:t>
            </a:r>
          </a:p>
          <a:p>
            <a:b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New terminal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~/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/redis-6.2.1/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src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-cli</a:t>
            </a:r>
            <a:b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set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mynumber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5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get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mynumber</a:t>
            </a:r>
            <a:endParaRPr lang="en-US" sz="180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del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mynumber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646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5285-F8F9-56B9-8150-F3AE4893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C5967-7095-A502-D927-3EA44723B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DF07-796D-EB4A-2C3D-A89E9DA3E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Demo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wsl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endParaRPr lang="en-US" sz="1800" b="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wsl</a:t>
            </a:r>
            <a:br>
              <a:rPr lang="en-US" sz="1800" b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 ~/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/redis-6.2.1/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src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-server</a:t>
            </a:r>
          </a:p>
          <a:p>
            <a:b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New terminal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~/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/redis-6.2.1/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src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-cli</a:t>
            </a:r>
            <a:b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set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mynumber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5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get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mynumber</a:t>
            </a:r>
            <a:endParaRPr lang="en-US" sz="1800" kern="1200" dirty="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$ del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mynumber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A232D-AF03-F5F5-BB0F-BBAA426FC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4226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Deleting all stopped containers</a:t>
            </a:r>
          </a:p>
          <a:p>
            <a:endParaRPr lang="en-US" dirty="0"/>
          </a:p>
          <a:p>
            <a:r>
              <a:rPr lang="en-US" dirty="0"/>
              <a:t>Demo</a:t>
            </a:r>
          </a:p>
          <a:p>
            <a:r>
              <a:rPr lang="en-US" dirty="0"/>
              <a:t>docker </a:t>
            </a:r>
            <a:r>
              <a:rPr lang="en-US" dirty="0" err="1"/>
              <a:t>ps</a:t>
            </a:r>
            <a:r>
              <a:rPr lang="en-US" dirty="0"/>
              <a:t> --all</a:t>
            </a:r>
            <a:br>
              <a:rPr lang="en-US" dirty="0"/>
            </a:br>
            <a:r>
              <a:rPr lang="en-US" dirty="0"/>
              <a:t>docker system prune</a:t>
            </a:r>
          </a:p>
          <a:p>
            <a:r>
              <a:rPr lang="en-US" dirty="0"/>
              <a:t>docker system prune --all</a:t>
            </a:r>
          </a:p>
          <a:p>
            <a:r>
              <a:rPr lang="en-US" dirty="0"/>
              <a:t>docker </a:t>
            </a:r>
            <a:r>
              <a:rPr lang="en-US" dirty="0" err="1"/>
              <a:t>ps</a:t>
            </a:r>
            <a:r>
              <a:rPr lang="en-US" dirty="0"/>
              <a:t> --all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04157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21885-8DCC-8714-E986-E9E58B27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A969F-17FB-5AB1-ED3A-082243CB1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52B93-D97F-3B5B-1156-18B96E9A7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Deleting all stopped containers</a:t>
            </a:r>
          </a:p>
          <a:p>
            <a:endParaRPr lang="en-US" dirty="0"/>
          </a:p>
          <a:p>
            <a:r>
              <a:rPr lang="en-US" dirty="0"/>
              <a:t>Demo</a:t>
            </a:r>
          </a:p>
          <a:p>
            <a:r>
              <a:rPr lang="en-US" dirty="0"/>
              <a:t>docker </a:t>
            </a:r>
            <a:r>
              <a:rPr lang="en-US" dirty="0" err="1"/>
              <a:t>ps</a:t>
            </a:r>
            <a:r>
              <a:rPr lang="en-US" dirty="0"/>
              <a:t> --all</a:t>
            </a:r>
            <a:br>
              <a:rPr lang="en-US" dirty="0"/>
            </a:br>
            <a:r>
              <a:rPr lang="en-US" dirty="0"/>
              <a:t>docker system prune</a:t>
            </a:r>
          </a:p>
          <a:p>
            <a:r>
              <a:rPr lang="en-US" dirty="0"/>
              <a:t>docker system prune --all</a:t>
            </a:r>
          </a:p>
          <a:p>
            <a:r>
              <a:rPr lang="en-US" dirty="0"/>
              <a:t>docker </a:t>
            </a:r>
            <a:r>
              <a:rPr lang="en-US" dirty="0" err="1"/>
              <a:t>ps</a:t>
            </a:r>
            <a:r>
              <a:rPr lang="en-US" dirty="0"/>
              <a:t> --all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DF7BC-FD8E-DE0F-4E57-7E730FAA5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9244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need the </a:t>
            </a:r>
            <a:r>
              <a:rPr lang="en-US" b="1" dirty="0"/>
              <a:t>-it</a:t>
            </a:r>
            <a:r>
              <a:rPr lang="en-US" dirty="0"/>
              <a:t> flag?</a:t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/>
              <a:t>i</a:t>
            </a:r>
            <a:r>
              <a:rPr lang="en-US" dirty="0"/>
              <a:t> redirects everything we write on the terminal to the container (keeps STDIN open)</a:t>
            </a:r>
          </a:p>
          <a:p>
            <a:r>
              <a:rPr lang="en-US" dirty="0"/>
              <a:t>-t makes sure that all text entered, returned shows up nicely formatted (allocates a terminal. does more in the background, but this is it’s effect)</a:t>
            </a:r>
          </a:p>
          <a:p>
            <a:r>
              <a:rPr lang="en-US" dirty="0"/>
              <a:t>Can be written separately: -</a:t>
            </a:r>
            <a:r>
              <a:rPr lang="en-US" dirty="0" err="1"/>
              <a:t>i</a:t>
            </a:r>
            <a:r>
              <a:rPr lang="en-US" dirty="0"/>
              <a:t> -t</a:t>
            </a:r>
          </a:p>
          <a:p>
            <a:endParaRPr lang="en-US" dirty="0"/>
          </a:p>
          <a:p>
            <a:r>
              <a:rPr lang="en-US" dirty="0"/>
              <a:t>demo with -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docker exec -</a:t>
            </a:r>
            <a:r>
              <a:rPr lang="en-US" dirty="0" err="1"/>
              <a:t>i</a:t>
            </a:r>
            <a:r>
              <a:rPr lang="en-US" dirty="0"/>
              <a:t> &lt;container od&gt; </a:t>
            </a:r>
            <a:r>
              <a:rPr lang="en-US" dirty="0" err="1"/>
              <a:t>redis</a:t>
            </a:r>
            <a:r>
              <a:rPr lang="en-US" dirty="0"/>
              <a:t>-cli (no autocomplete, no format, nothing)</a:t>
            </a:r>
          </a:p>
          <a:p>
            <a:endParaRPr lang="en-US" dirty="0"/>
          </a:p>
          <a:p>
            <a:r>
              <a:rPr lang="en-US" dirty="0"/>
              <a:t>demo with full terminal access for debugging:</a:t>
            </a:r>
            <a:br>
              <a:rPr lang="en-US" dirty="0"/>
            </a:br>
            <a:r>
              <a:rPr lang="en-US" dirty="0"/>
              <a:t>docker exec -it &lt;container od&gt; </a:t>
            </a:r>
            <a:r>
              <a:rPr lang="en-US" b="1" dirty="0" err="1"/>
              <a:t>sh</a:t>
            </a:r>
            <a:br>
              <a:rPr lang="en-US" b="1" dirty="0"/>
            </a:br>
            <a:r>
              <a:rPr lang="en-US" b="0" dirty="0"/>
              <a:t>ls</a:t>
            </a:r>
          </a:p>
          <a:p>
            <a:r>
              <a:rPr lang="en-US" b="0" dirty="0" err="1"/>
              <a:t>Pwd</a:t>
            </a:r>
            <a:endParaRPr lang="en-US" b="0" dirty="0"/>
          </a:p>
          <a:p>
            <a:r>
              <a:rPr lang="en-US" b="0" dirty="0" err="1"/>
              <a:t>Whoami</a:t>
            </a:r>
            <a:endParaRPr lang="en-US" b="0" dirty="0"/>
          </a:p>
          <a:p>
            <a:r>
              <a:rPr lang="en-US" b="0" dirty="0"/>
              <a:t>echo hi there</a:t>
            </a:r>
            <a:br>
              <a:rPr lang="en-US" b="0" dirty="0"/>
            </a:br>
            <a:endParaRPr lang="en-US" b="0" dirty="0"/>
          </a:p>
          <a:p>
            <a:r>
              <a:rPr lang="en-US" b="0" dirty="0"/>
              <a:t>If you can’t exit a container then </a:t>
            </a:r>
            <a:r>
              <a:rPr lang="en-US" b="1" dirty="0" err="1"/>
              <a:t>Ctrl+D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65881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are all command processors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8923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15983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basest base image you might ask?</a:t>
            </a:r>
            <a:br>
              <a:rPr lang="en-US" dirty="0"/>
            </a:br>
            <a:r>
              <a:rPr lang="en-US" dirty="0"/>
              <a:t>https://docs.docker.com/develop/develop-images/baseimages/#create-a-simple-parent-image-using-scratch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0808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a live demo by creating the docker image with </a:t>
            </a:r>
            <a:r>
              <a:rPr lang="en-US" err="1"/>
              <a:t>redis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7927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msg Zscaler causes issues then:</a:t>
            </a:r>
            <a:br>
              <a:rPr lang="en-US" dirty="0"/>
            </a:br>
            <a:br>
              <a:rPr lang="en-US" dirty="0"/>
            </a:b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alpine:latest</a:t>
            </a:r>
            <a:b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./resources/</a:t>
            </a:r>
            <a:r>
              <a:rPr lang="en-US" sz="18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wsl</a:t>
            </a:r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-docker/certificates/ /</a:t>
            </a:r>
            <a:r>
              <a:rPr lang="en-US" sz="18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usr</a:t>
            </a:r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/local/share/ca-certificates/</a:t>
            </a:r>
            <a:b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</a:t>
            </a:r>
            <a:r>
              <a:rPr lang="en-US" sz="18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apk</a:t>
            </a:r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 --no-cache --no-check-certificate ca-certificates</a:t>
            </a:r>
            <a:b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update-ca-certificates</a:t>
            </a:r>
            <a:b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apk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 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b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CMD ["</a:t>
            </a:r>
            <a:r>
              <a:rPr 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-server"]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7293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</a:t>
            </a:r>
          </a:p>
          <a:p>
            <a:r>
              <a:rPr lang="en-US" dirty="0"/>
              <a:t>docker create hello-world</a:t>
            </a:r>
          </a:p>
          <a:p>
            <a:r>
              <a:rPr lang="en-US" dirty="0"/>
              <a:t>docker start </a:t>
            </a:r>
            <a:r>
              <a:rPr lang="en-US" b="1" dirty="0"/>
              <a:t>-a</a:t>
            </a:r>
            <a:r>
              <a:rPr lang="en-US" dirty="0"/>
              <a:t> &lt;docker id&gt; (-a = --attach, as in watch the output)</a:t>
            </a:r>
          </a:p>
          <a:p>
            <a:r>
              <a:rPr lang="en-US" dirty="0"/>
              <a:t>Docker start --help and show the -a section</a:t>
            </a:r>
            <a:br>
              <a:rPr lang="en-US" dirty="0"/>
            </a:br>
            <a:r>
              <a:rPr lang="en-US" dirty="0"/>
              <a:t>Per default no output will be shown, that is why you need -a.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47585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</a:t>
            </a:r>
          </a:p>
          <a:p>
            <a:r>
              <a:rPr lang="en-US" dirty="0"/>
              <a:t>docker create hello-world</a:t>
            </a:r>
          </a:p>
          <a:p>
            <a:r>
              <a:rPr lang="en-US" dirty="0"/>
              <a:t>docker start </a:t>
            </a:r>
            <a:r>
              <a:rPr lang="en-US" b="1" dirty="0"/>
              <a:t>-a</a:t>
            </a:r>
            <a:r>
              <a:rPr lang="en-US" dirty="0"/>
              <a:t> &lt;docker id&gt; (-a = --attach, as in watch the output)</a:t>
            </a:r>
          </a:p>
          <a:p>
            <a:r>
              <a:rPr lang="en-US" dirty="0"/>
              <a:t>Docker start --help and show the -a section</a:t>
            </a:r>
            <a:br>
              <a:rPr lang="en-US" dirty="0"/>
            </a:br>
            <a:r>
              <a:rPr lang="en-US" dirty="0"/>
              <a:t>Per default no output will be shown, that is why you need -a.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3318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Thought exercise:</a:t>
            </a:r>
          </a:p>
          <a:p>
            <a:r>
              <a:rPr lang="en-US"/>
              <a:t>Writing a </a:t>
            </a:r>
            <a:r>
              <a:rPr lang="en-US" err="1"/>
              <a:t>Dockerfile</a:t>
            </a:r>
            <a:r>
              <a:rPr lang="en-US"/>
              <a:t> is a little bit like being given a computer without an OS and being told to install Chrome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5634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Thought exercise:</a:t>
            </a:r>
          </a:p>
          <a:p>
            <a:r>
              <a:rPr lang="en-US" dirty="0"/>
              <a:t>Install an OS because without it you’d just get some boot information</a:t>
            </a:r>
          </a:p>
          <a:p>
            <a:endParaRPr lang="en-US" dirty="0"/>
          </a:p>
          <a:p>
            <a:r>
              <a:rPr lang="en-US" dirty="0"/>
              <a:t>Why alpine and not something else?</a:t>
            </a:r>
            <a:br>
              <a:rPr lang="en-US" dirty="0"/>
            </a:br>
            <a:r>
              <a:rPr lang="en-US" dirty="0"/>
              <a:t>(Why do you use Windows and not Mac or Ubuntu, or something else?)</a:t>
            </a:r>
          </a:p>
          <a:p>
            <a:r>
              <a:rPr lang="en-US" dirty="0"/>
              <a:t>-&gt; it suits your needs. It has preinstalled programs that suit your needs and goals. (</a:t>
            </a:r>
            <a:r>
              <a:rPr lang="en-US" dirty="0" err="1"/>
              <a:t>apk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7116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0678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3299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two of these in two separate terminals and demonstrate that they have nothing in common with each other:</a:t>
            </a:r>
          </a:p>
          <a:p>
            <a:r>
              <a:rPr lang="en-US" dirty="0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0435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01296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9855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9586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26091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535816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two of these in two separate terminals and demonstrate that they have nothing in common with each other:</a:t>
            </a:r>
          </a:p>
          <a:p>
            <a:r>
              <a:rPr lang="en-US" dirty="0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4624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4D43-409B-3EBC-C51A-418C6F6D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5CF83-17FD-3C0D-6128-FEA2BB033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FB931-BCC8-77CB-7A8A-5C1ACDACA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two of these in two separate terminals and demonstrate that they have nothing in common with each other:</a:t>
            </a:r>
          </a:p>
          <a:p>
            <a:r>
              <a:rPr lang="en-US" dirty="0"/>
              <a:t>Create a file in one and list it in the other, where it won’t exist.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863BE-DB82-9072-C51B-CA7B13ACF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147888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CE2B-4E68-4437-4CF8-D8FB501F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15209-8A3F-5889-264F-2485E6C29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3755B-3B1F-6C9B-66A8-BFFDB54A6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two of these in two separate terminals and demonstrate that they have nothing in common with each other:</a:t>
            </a:r>
          </a:p>
          <a:p>
            <a:r>
              <a:rPr lang="en-US" dirty="0"/>
              <a:t>Create a file in one and list it in the other, where it won’t exist.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19727-D6AA-7ABD-BCE5-AABB7A0BC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5076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4FAFE-5F66-10A0-C097-956D97305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36FC3-A12A-38CC-6C2B-57DD50475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75E73-C9CA-A33B-CF5D-D655802C3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two of these in two separate terminals and demonstrate that they have nothing in common with each other:</a:t>
            </a:r>
          </a:p>
          <a:p>
            <a:r>
              <a:rPr lang="en-US" dirty="0"/>
              <a:t>Create a file in one and list it in the other, where it won’t exist.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8249A-DCF5-56FB-96CA-CB187F8F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99444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0285-C80E-99CC-7603-055B28AF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00F6B-19E0-E474-FBC9-A1E357F55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9529-E9F3-D592-6F77-209920F60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two of these in two separate terminals and demonstrate that they have nothing in common with each other:</a:t>
            </a:r>
          </a:p>
          <a:p>
            <a:r>
              <a:rPr lang="en-US" dirty="0"/>
              <a:t>Create a file in one and list it in the other, where it won’t exist.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0F382-7FDE-F153-E3E1-B851E46AA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05013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9287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4820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37702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6BB27-003E-DC5B-7C97-05528B75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F4CB2-2D4E-1CAD-6C38-A4221E620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62B8C-3576-24D3-5483-A31EABB6B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ABAC0-9C16-AD45-636B-8827FDBC9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629976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3F031-77C5-2311-EC82-CC49E88E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279EE-5EA1-C9E3-089A-F8D6952B9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69087-002F-877D-FB3E-2BCA2ED15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two of these in two separate terminals and demonstrate that they have nothing in common with each other:</a:t>
            </a:r>
          </a:p>
          <a:p>
            <a:r>
              <a:rPr lang="en-US"/>
              <a:t>Create a file in one and list it in the other, where it won’t exist.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80089-1908-4138-641F-33077E66C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10222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6860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piel, weiß, Mann, Tisch enthält.&#10;&#10;Automatisch generierte Beschreibung">
            <a:extLst>
              <a:ext uri="{FF2B5EF4-FFF2-40B4-BE49-F238E27FC236}">
                <a16:creationId xmlns:a16="http://schemas.microsoft.com/office/drawing/2014/main" id="{2A76D50B-C2AE-4EBE-B19C-1FC2E1AB0F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968934" y="524210"/>
            <a:ext cx="888104" cy="27873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375" y="2854800"/>
            <a:ext cx="10510838" cy="16560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4561200"/>
            <a:ext cx="10510838" cy="1604650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990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‹#›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69572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00" y="475171"/>
            <a:ext cx="5254800" cy="792000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Kontakt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</a:t>
            </a:r>
            <a:r>
              <a:rPr lang="de-DE" sz="1800" b="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de-DE" sz="1800" b="0" i="0" kern="120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systems</a:t>
            </a:r>
            <a:r>
              <a:rPr lang="de-DE" sz="1800" b="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de-DE" sz="1800" b="0" i="0" kern="120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ag</a:t>
            </a:r>
            <a:endParaRPr lang="de-DE" sz="1800" b="0" i="0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  <a:endParaRPr lang="de-DE" sz="1800" b="0" i="0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 dirty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721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03ECAFD-9781-4257-B351-7F0273D72724}"/>
              </a:ext>
            </a:extLst>
          </p:cNvPr>
          <p:cNvSpPr txBox="1">
            <a:spLocks/>
          </p:cNvSpPr>
          <p:nvPr/>
        </p:nvSpPr>
        <p:spPr>
          <a:xfrm>
            <a:off x="0" y="1055675"/>
            <a:ext cx="12192000" cy="21748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5400000" scaled="1"/>
            <a:tileRect/>
          </a:gradFill>
          <a:effectLst/>
        </p:spPr>
        <p:txBody>
          <a:bodyPr vert="horz" wrap="none" lIns="91440" tIns="45720" rIns="91440" bIns="45720" rtlCol="0" anchor="ctr">
            <a:noAutofit/>
          </a:bodyPr>
          <a:lstStyle>
            <a:lvl1pPr marL="720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2800" b="0" i="0" kern="1200">
                <a:solidFill>
                  <a:srgbClr val="A01441"/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endParaRPr lang="de-DE" sz="300" b="1" i="0">
              <a:noFill/>
              <a:latin typeface="Calibri" panose="020F0502020204030204" pitchFamily="34" charset="0"/>
            </a:endParaRPr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968934" y="524210"/>
            <a:ext cx="888104" cy="278730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720087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408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7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>
          <p15:clr>
            <a:srgbClr val="F26B43"/>
          </p15:clr>
        </p15:guide>
        <p15:guide id="2" pos="3840">
          <p15:clr>
            <a:srgbClr val="F26B43"/>
          </p15:clr>
        </p15:guide>
        <p15:guide id="3" pos="4067">
          <p15:clr>
            <a:srgbClr val="F26B43"/>
          </p15:clr>
        </p15:guide>
        <p15:guide id="4" pos="7151">
          <p15:clr>
            <a:srgbClr val="F26B43"/>
          </p15:clr>
        </p15:guide>
        <p15:guide id="5" pos="7469">
          <p15:clr>
            <a:srgbClr val="F26B43"/>
          </p15:clr>
        </p15:guide>
        <p15:guide id="6" orient="horz" pos="464">
          <p15:clr>
            <a:srgbClr val="F26B43"/>
          </p15:clr>
        </p15:guide>
        <p15:guide id="7" orient="horz" pos="800">
          <p15:clr>
            <a:srgbClr val="F26B43"/>
          </p15:clr>
        </p15:guide>
        <p15:guide id="8" orient="horz" pos="1163">
          <p15:clr>
            <a:srgbClr val="F26B43"/>
          </p15:clr>
        </p15:guide>
        <p15:guide id="9" orient="horz" pos="1481">
          <p15:clr>
            <a:srgbClr val="F26B43"/>
          </p15:clr>
        </p15:guide>
        <p15:guide id="10" orient="horz" pos="1797">
          <p15:clr>
            <a:srgbClr val="F26B43"/>
          </p15:clr>
        </p15:guide>
        <p15:guide id="11" orient="horz" pos="2024">
          <p15:clr>
            <a:srgbClr val="F26B43"/>
          </p15:clr>
        </p15:guide>
        <p15:guide id="12" orient="horz" pos="3884">
          <p15:clr>
            <a:srgbClr val="F26B43"/>
          </p15:clr>
        </p15:guide>
        <p15:guide id="13" orient="horz" pos="3974">
          <p15:clr>
            <a:srgbClr val="F26B43"/>
          </p15:clr>
        </p15:guide>
        <p15:guide id="14" orient="horz" pos="42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Docker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815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601217-D80A-43A4-A141-4FBFC68B7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3027892" cy="293355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Container Lifecycles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 Command 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Docker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Project with 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Multi-Stage </a:t>
            </a:r>
            <a:r>
              <a:rPr lang="de-DE" dirty="0" err="1"/>
              <a:t>Builds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cs typeface="Calibri"/>
              </a:rPr>
              <a:t>volumes</a:t>
            </a:r>
            <a:endParaRPr lang="de-DE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cs typeface="Calibri"/>
              </a:rPr>
              <a:t>networking</a:t>
            </a:r>
            <a:endParaRPr lang="en-US" dirty="0"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7758E-DB47-4287-B3B4-C9BCA201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A9EF0-DBFB-412F-9DB1-02437BCA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02C7B0-DC2B-41A0-BA75-D0FA80B0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714378-90B6-43AD-93B6-2320CD6EF32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EA6C2249-B4F7-4232-B178-A8C6261C38BE}"/>
              </a:ext>
            </a:extLst>
          </p:cNvPr>
          <p:cNvSpPr txBox="1">
            <a:spLocks/>
          </p:cNvSpPr>
          <p:nvPr/>
        </p:nvSpPr>
        <p:spPr>
          <a:xfrm>
            <a:off x="5294106" y="1847675"/>
            <a:ext cx="3330129" cy="29335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Docker Compose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crashed 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869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Docker - Basics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04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2A056C-8AB5-4CFF-9DF2-ED3D82C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49DB34-493D-4525-9B69-B3A51E16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D6F101D-DDE6-4814-B732-36B52EF6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Why</a:t>
            </a:r>
            <a:r>
              <a:rPr lang="de-DE"/>
              <a:t> Use Docker?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5B3E32-D331-4258-AEC4-3A12C14D57E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1BAE50-2901-4469-8162-CD73BC715130}"/>
              </a:ext>
            </a:extLst>
          </p:cNvPr>
          <p:cNvSpPr/>
          <p:nvPr/>
        </p:nvSpPr>
        <p:spPr>
          <a:xfrm>
            <a:off x="4021687" y="1838183"/>
            <a:ext cx="3063240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Download Installer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28B814-4509-4F9C-AD2E-5F9D5B73FF91}"/>
              </a:ext>
            </a:extLst>
          </p:cNvPr>
          <p:cNvSpPr/>
          <p:nvPr/>
        </p:nvSpPr>
        <p:spPr>
          <a:xfrm>
            <a:off x="4021687" y="2600752"/>
            <a:ext cx="3063240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Run Installer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1898A9-4E89-489E-BDA9-5587A74C9C2D}"/>
              </a:ext>
            </a:extLst>
          </p:cNvPr>
          <p:cNvSpPr/>
          <p:nvPr/>
        </p:nvSpPr>
        <p:spPr>
          <a:xfrm>
            <a:off x="4034387" y="3363321"/>
            <a:ext cx="3063240" cy="5588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Get Error While Installation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12E1CD-7C6D-4618-94B1-0831F6739046}"/>
              </a:ext>
            </a:extLst>
          </p:cNvPr>
          <p:cNvSpPr/>
          <p:nvPr/>
        </p:nvSpPr>
        <p:spPr>
          <a:xfrm>
            <a:off x="4034387" y="4888459"/>
            <a:ext cx="3063240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Rerun Installer</a:t>
            </a: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769EBA43-EB4D-4D86-BDB4-69299400CF3A}"/>
              </a:ext>
            </a:extLst>
          </p:cNvPr>
          <p:cNvSpPr/>
          <p:nvPr/>
        </p:nvSpPr>
        <p:spPr>
          <a:xfrm>
            <a:off x="2785637" y="1838183"/>
            <a:ext cx="1108926" cy="440648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Flow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147BED1-5F4C-4FED-AE08-F541DC16C970}"/>
              </a:ext>
            </a:extLst>
          </p:cNvPr>
          <p:cNvSpPr/>
          <p:nvPr/>
        </p:nvSpPr>
        <p:spPr>
          <a:xfrm>
            <a:off x="4021687" y="4125890"/>
            <a:ext cx="3063240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Troubleshoot Issue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6E1FAF5-A62A-4E5C-AE64-BD43EB54F1D7}"/>
              </a:ext>
            </a:extLst>
          </p:cNvPr>
          <p:cNvSpPr/>
          <p:nvPr/>
        </p:nvSpPr>
        <p:spPr>
          <a:xfrm>
            <a:off x="4021687" y="5651028"/>
            <a:ext cx="3063240" cy="5588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Get Another Error</a:t>
            </a:r>
          </a:p>
        </p:txBody>
      </p: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21DBB69E-521F-4B00-A3D8-D2497424643F}"/>
              </a:ext>
            </a:extLst>
          </p:cNvPr>
          <p:cNvCxnSpPr>
            <a:stCxn id="60" idx="3"/>
            <a:endCxn id="51" idx="3"/>
          </p:cNvCxnSpPr>
          <p:nvPr/>
        </p:nvCxnSpPr>
        <p:spPr>
          <a:xfrm flipV="1">
            <a:off x="7084927" y="4405290"/>
            <a:ext cx="12700" cy="1525138"/>
          </a:xfrm>
          <a:prstGeom prst="curvedConnector3">
            <a:avLst>
              <a:gd name="adj1" fmla="val 4317071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F9FEE31-B2A3-467A-8A39-5629045AC526}"/>
              </a:ext>
            </a:extLst>
          </p:cNvPr>
          <p:cNvSpPr/>
          <p:nvPr/>
        </p:nvSpPr>
        <p:spPr>
          <a:xfrm>
            <a:off x="8156575" y="1838183"/>
            <a:ext cx="1574723" cy="132136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This is what Docker is trying to fix</a:t>
            </a:r>
          </a:p>
        </p:txBody>
      </p:sp>
    </p:spTree>
    <p:extLst>
      <p:ext uri="{BB962C8B-B14F-4D97-AF65-F5344CB8AC3E}">
        <p14:creationId xmlns:p14="http://schemas.microsoft.com/office/powerpoint/2010/main" val="66682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2A056C-8AB5-4CFF-9DF2-ED3D82C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49DB34-493D-4525-9B69-B3A51E16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D6F101D-DDE6-4814-B732-36B52EF6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Why</a:t>
            </a:r>
            <a:r>
              <a:rPr lang="de-DE"/>
              <a:t> Use Docker?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5B3E32-D331-4258-AEC4-3A12C14D57E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1BAE50-2901-4469-8162-CD73BC715130}"/>
              </a:ext>
            </a:extLst>
          </p:cNvPr>
          <p:cNvSpPr/>
          <p:nvPr/>
        </p:nvSpPr>
        <p:spPr>
          <a:xfrm>
            <a:off x="2288862" y="3191706"/>
            <a:ext cx="2244890" cy="1415768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Why use docker?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096240-D6AD-42C5-81AD-DDBCCC533E29}"/>
              </a:ext>
            </a:extLst>
          </p:cNvPr>
          <p:cNvSpPr/>
          <p:nvPr/>
        </p:nvSpPr>
        <p:spPr>
          <a:xfrm>
            <a:off x="5986666" y="3191706"/>
            <a:ext cx="4574796" cy="1415768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Docker makes it really easy to install and run software without worrying about setup or dependencies.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ECFFC5-B573-4F97-8902-B29B0F938594}"/>
              </a:ext>
            </a:extLst>
          </p:cNvPr>
          <p:cNvCxnSpPr>
            <a:stCxn id="18" idx="3"/>
            <a:endCxn id="15" idx="1"/>
          </p:cNvCxnSpPr>
          <p:nvPr/>
        </p:nvCxnSpPr>
        <p:spPr>
          <a:xfrm>
            <a:off x="4533752" y="3899590"/>
            <a:ext cx="1452914" cy="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9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F50AC666-20C7-414E-9754-EEAB7D8514BD}"/>
              </a:ext>
            </a:extLst>
          </p:cNvPr>
          <p:cNvSpPr/>
          <p:nvPr/>
        </p:nvSpPr>
        <p:spPr>
          <a:xfrm>
            <a:off x="1065402" y="1805085"/>
            <a:ext cx="4286774" cy="4189011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2A056C-8AB5-4CFF-9DF2-ED3D82C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49DB34-493D-4525-9B69-B3A51E16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D6F101D-DDE6-4814-B732-36B52EF6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Docker?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5B3E32-D331-4258-AEC4-3A12C14D57E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199AFC-6FB9-438C-8934-BB2AFA84AB33}"/>
              </a:ext>
            </a:extLst>
          </p:cNvPr>
          <p:cNvSpPr/>
          <p:nvPr/>
        </p:nvSpPr>
        <p:spPr>
          <a:xfrm>
            <a:off x="1496601" y="2260691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Docker </a:t>
            </a:r>
            <a:r>
              <a:rPr lang="en-US" b="1">
                <a:solidFill>
                  <a:schemeClr val="bg1"/>
                </a:solidFill>
              </a:rPr>
              <a:t>Client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862B82-965F-49A7-BA47-993D57921F4A}"/>
              </a:ext>
            </a:extLst>
          </p:cNvPr>
          <p:cNvSpPr/>
          <p:nvPr/>
        </p:nvSpPr>
        <p:spPr>
          <a:xfrm>
            <a:off x="3336304" y="2260691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Docker </a:t>
            </a:r>
            <a:r>
              <a:rPr lang="en-US" b="1">
                <a:solidFill>
                  <a:schemeClr val="bg1"/>
                </a:solidFill>
              </a:rPr>
              <a:t>Server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20C0BCC-6B31-4971-A5EA-6190FF217205}"/>
              </a:ext>
            </a:extLst>
          </p:cNvPr>
          <p:cNvSpPr/>
          <p:nvPr/>
        </p:nvSpPr>
        <p:spPr>
          <a:xfrm>
            <a:off x="1496601" y="3459019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Docker </a:t>
            </a:r>
            <a:r>
              <a:rPr lang="en-US" b="1">
                <a:solidFill>
                  <a:schemeClr val="bg1"/>
                </a:solidFill>
              </a:rPr>
              <a:t>Machine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391D29-518B-4DFE-92A8-3480954DD1EA}"/>
              </a:ext>
            </a:extLst>
          </p:cNvPr>
          <p:cNvSpPr/>
          <p:nvPr/>
        </p:nvSpPr>
        <p:spPr>
          <a:xfrm>
            <a:off x="3336304" y="3459019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Docker </a:t>
            </a:r>
            <a:r>
              <a:rPr lang="en-US" b="1">
                <a:solidFill>
                  <a:schemeClr val="bg1"/>
                </a:solidFill>
              </a:rPr>
              <a:t>Images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A9AA5E-658C-4070-AAEE-C13F17BD654C}"/>
              </a:ext>
            </a:extLst>
          </p:cNvPr>
          <p:cNvSpPr/>
          <p:nvPr/>
        </p:nvSpPr>
        <p:spPr>
          <a:xfrm>
            <a:off x="1496601" y="4657347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Docker </a:t>
            </a:r>
            <a:r>
              <a:rPr lang="en-US" b="1">
                <a:solidFill>
                  <a:schemeClr val="bg1"/>
                </a:solidFill>
              </a:rPr>
              <a:t>Hub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BAF43B-981C-443D-9DD3-792D9AADCCA9}"/>
              </a:ext>
            </a:extLst>
          </p:cNvPr>
          <p:cNvSpPr/>
          <p:nvPr/>
        </p:nvSpPr>
        <p:spPr>
          <a:xfrm>
            <a:off x="3336304" y="4657347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Docker </a:t>
            </a:r>
            <a:r>
              <a:rPr lang="en-US" b="1" dirty="0">
                <a:solidFill>
                  <a:schemeClr val="bg1"/>
                </a:solidFill>
              </a:rPr>
              <a:t>Compose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E89B21-2BF8-4D9D-8868-E0A5BB87765A}"/>
              </a:ext>
            </a:extLst>
          </p:cNvPr>
          <p:cNvSpPr/>
          <p:nvPr/>
        </p:nvSpPr>
        <p:spPr>
          <a:xfrm>
            <a:off x="5986666" y="3190875"/>
            <a:ext cx="4574796" cy="1415768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Docker is a platform or ecosystem around creating and running containers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163E4F-3DFF-4B82-877E-358CD47FCE10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5352176" y="3898759"/>
            <a:ext cx="634490" cy="83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9A4A8D7-2CB5-42D4-A71C-444147BBF5AA}"/>
              </a:ext>
            </a:extLst>
          </p:cNvPr>
          <p:cNvSpPr txBox="1"/>
          <p:nvPr/>
        </p:nvSpPr>
        <p:spPr>
          <a:xfrm>
            <a:off x="2352657" y="1854786"/>
            <a:ext cx="1712264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b="1"/>
              <a:t>Docker Ecosystem</a:t>
            </a:r>
          </a:p>
        </p:txBody>
      </p:sp>
    </p:spTree>
    <p:extLst>
      <p:ext uri="{BB962C8B-B14F-4D97-AF65-F5344CB8AC3E}">
        <p14:creationId xmlns:p14="http://schemas.microsoft.com/office/powerpoint/2010/main" val="34775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2A056C-8AB5-4CFF-9DF2-ED3D82C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49DB34-493D-4525-9B69-B3A51E16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D6F101D-DDE6-4814-B732-36B52EF6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Docker?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5B3E32-D331-4258-AEC4-3A12C14D57E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552CC3-41C8-4573-82E5-D518294F3745}"/>
              </a:ext>
            </a:extLst>
          </p:cNvPr>
          <p:cNvSpPr/>
          <p:nvPr/>
        </p:nvSpPr>
        <p:spPr>
          <a:xfrm>
            <a:off x="3336304" y="3459019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Image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64A5FB-7A29-405F-AC18-1D83457A161E}"/>
              </a:ext>
            </a:extLst>
          </p:cNvPr>
          <p:cNvSpPr/>
          <p:nvPr/>
        </p:nvSpPr>
        <p:spPr>
          <a:xfrm>
            <a:off x="6748229" y="2113406"/>
            <a:ext cx="1573770" cy="93018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Container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61E670-5584-4520-A847-EFC72622B57D}"/>
              </a:ext>
            </a:extLst>
          </p:cNvPr>
          <p:cNvSpPr/>
          <p:nvPr/>
        </p:nvSpPr>
        <p:spPr>
          <a:xfrm>
            <a:off x="6748229" y="3466420"/>
            <a:ext cx="1573770" cy="93018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Container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ABC49A-87BD-416E-A58B-AA65E33FEB76}"/>
              </a:ext>
            </a:extLst>
          </p:cNvPr>
          <p:cNvSpPr/>
          <p:nvPr/>
        </p:nvSpPr>
        <p:spPr>
          <a:xfrm>
            <a:off x="6748229" y="4819433"/>
            <a:ext cx="1573770" cy="93018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Container</a:t>
            </a:r>
            <a:endParaRPr lang="en-US" b="1">
              <a:solidFill>
                <a:schemeClr val="tx1"/>
              </a:solidFill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5A43B104-71D8-4CC4-AE9F-876299D8D22D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4910074" y="2578498"/>
            <a:ext cx="1838155" cy="1345613"/>
          </a:xfrm>
          <a:prstGeom prst="curvedConnector3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8EB80963-2731-4795-8783-4D591C014138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4910074" y="3924111"/>
            <a:ext cx="1838155" cy="1360414"/>
          </a:xfrm>
          <a:prstGeom prst="curvedConnector3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450DEC4-9C25-4546-AFD5-D790A3890B5C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4910074" y="3924111"/>
            <a:ext cx="1838155" cy="7401"/>
          </a:xfrm>
          <a:prstGeom prst="curvedConnector3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0134306-AF44-4C60-B17E-C597DC7AEBC9}"/>
              </a:ext>
            </a:extLst>
          </p:cNvPr>
          <p:cNvSpPr txBox="1"/>
          <p:nvPr/>
        </p:nvSpPr>
        <p:spPr>
          <a:xfrm>
            <a:off x="3204111" y="4502718"/>
            <a:ext cx="1838155" cy="93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Single File with all the dependencies and configurations required to run a 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AEBE0E-77A8-4CCE-9CC8-B634A27E577C}"/>
              </a:ext>
            </a:extLst>
          </p:cNvPr>
          <p:cNvSpPr txBox="1"/>
          <p:nvPr/>
        </p:nvSpPr>
        <p:spPr>
          <a:xfrm>
            <a:off x="6769523" y="5850199"/>
            <a:ext cx="1552476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algn="ctr">
              <a:defRPr sz="1400"/>
            </a:lvl1pPr>
          </a:lstStyle>
          <a:p>
            <a:r>
              <a:rPr lang="en-US"/>
              <a:t>Instance of an image.</a:t>
            </a:r>
            <a:br>
              <a:rPr lang="en-US"/>
            </a:br>
            <a:r>
              <a:rPr lang="en-US"/>
              <a:t>Runs a program.</a:t>
            </a:r>
          </a:p>
        </p:txBody>
      </p:sp>
    </p:spTree>
    <p:extLst>
      <p:ext uri="{BB962C8B-B14F-4D97-AF65-F5344CB8AC3E}">
        <p14:creationId xmlns:p14="http://schemas.microsoft.com/office/powerpoint/2010/main" val="204943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2A056C-8AB5-4CFF-9DF2-ED3D82C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49DB34-493D-4525-9B69-B3A51E16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D6F101D-DDE6-4814-B732-36B52EF6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Docker?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5B3E32-D331-4258-AEC4-3A12C14D57E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86795CE-4C96-4D59-A54E-0A17F24BE494}"/>
              </a:ext>
            </a:extLst>
          </p:cNvPr>
          <p:cNvSpPr/>
          <p:nvPr/>
        </p:nvSpPr>
        <p:spPr>
          <a:xfrm>
            <a:off x="3952613" y="1815245"/>
            <a:ext cx="4286774" cy="4189011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 Desktop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EF9D06-E0D4-4C50-A3FF-85CD6AFF6928}"/>
              </a:ext>
            </a:extLst>
          </p:cNvPr>
          <p:cNvSpPr/>
          <p:nvPr/>
        </p:nvSpPr>
        <p:spPr>
          <a:xfrm>
            <a:off x="4604842" y="2392009"/>
            <a:ext cx="3221108" cy="1302256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Docker Client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(Docker CLI)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DF0D59-6BB1-468A-8719-3C05F9A87748}"/>
              </a:ext>
            </a:extLst>
          </p:cNvPr>
          <p:cNvSpPr/>
          <p:nvPr/>
        </p:nvSpPr>
        <p:spPr>
          <a:xfrm>
            <a:off x="4604842" y="4156753"/>
            <a:ext cx="3221108" cy="130225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Docker Server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(Docker Daemon)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B5907-61B5-497F-8B60-2C463DE98D6D}"/>
              </a:ext>
            </a:extLst>
          </p:cNvPr>
          <p:cNvSpPr txBox="1"/>
          <p:nvPr/>
        </p:nvSpPr>
        <p:spPr>
          <a:xfrm>
            <a:off x="2069151" y="2746522"/>
            <a:ext cx="1470025" cy="59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/>
              <a:t>Tool to issue commands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C5336-1833-40A6-BBEE-7ECE4233DD80}"/>
              </a:ext>
            </a:extLst>
          </p:cNvPr>
          <p:cNvSpPr txBox="1"/>
          <p:nvPr/>
        </p:nvSpPr>
        <p:spPr>
          <a:xfrm>
            <a:off x="1318569" y="4358462"/>
            <a:ext cx="2238152" cy="898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/>
              <a:t>Tool responsible for creating images, running containers, etc.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FFE900-7073-4B0C-84C9-10794151B4B7}"/>
              </a:ext>
            </a:extLst>
          </p:cNvPr>
          <p:cNvCxnSpPr>
            <a:stCxn id="2" idx="3"/>
            <a:endCxn id="16" idx="1"/>
          </p:cNvCxnSpPr>
          <p:nvPr/>
        </p:nvCxnSpPr>
        <p:spPr>
          <a:xfrm flipV="1">
            <a:off x="3539176" y="3043137"/>
            <a:ext cx="1065666" cy="454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15DB00-9CD2-476C-A2A7-CC56730ADD99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3556721" y="4807880"/>
            <a:ext cx="1048121" cy="1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6132E6B-DE2F-4DA8-BB6C-1A266C5126C2}"/>
              </a:ext>
            </a:extLst>
          </p:cNvPr>
          <p:cNvCxnSpPr>
            <a:stCxn id="16" idx="2"/>
          </p:cNvCxnSpPr>
          <p:nvPr/>
        </p:nvCxnSpPr>
        <p:spPr>
          <a:xfrm>
            <a:off x="6215396" y="3694265"/>
            <a:ext cx="0" cy="462488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565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6ABC4C-F634-4E91-992E-45D716FA2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8689" y="1453586"/>
            <a:ext cx="3280111" cy="1685194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50800" dist="50800" dir="5400000" sx="200000" sy="200000" algn="ctr" rotWithShape="0">
              <a:srgbClr val="000000">
                <a:alpha val="0"/>
              </a:srgbClr>
            </a:outerShdw>
            <a:reflection stA="0" endPos="65000" dir="5400000" sy="-100000" algn="bl" rotWithShape="0"/>
            <a:softEdge rad="0"/>
          </a:effectLst>
          <a:scene3d>
            <a:camera prst="orthographicFront"/>
            <a:lightRig rig="threePt" dir="t"/>
          </a:scene3d>
          <a:sp3d>
            <a:bevelT w="0"/>
          </a:sp3d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9CE3C-2622-4165-ACEA-BF8C16E9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1F58B-FC84-4707-B241-BAFE4FD1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9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BFF7DD-E42A-4EC7-A967-9EC436D6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Docker CLI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53C4FB-AC6A-422D-A9A5-4EAD3F4FFAF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D65800-04E0-4C73-9C38-88F433100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687" y="1453586"/>
            <a:ext cx="6638011" cy="494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5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F5A81-B88B-4D70-8DAE-0914209F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0B7F5-7622-441C-925C-CDD8B50D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B27B0579-4238-4E44-9A9E-134B676F827C}" type="slidenum">
              <a:rPr lang="de-DE" smtClean="0"/>
              <a:t>10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D18E84-A0D2-46AC-A929-B421BA5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Docker CLI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010529-D0E0-4E80-A68C-30F340A65C3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D81017DA-B906-4C53-B20C-4898C35D0B7B}"/>
              </a:ext>
            </a:extLst>
          </p:cNvPr>
          <p:cNvSpPr/>
          <p:nvPr/>
        </p:nvSpPr>
        <p:spPr>
          <a:xfrm>
            <a:off x="4702351" y="1805085"/>
            <a:ext cx="2697516" cy="4189011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Your Computer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A17604-7A60-4411-89F0-F5E4392C3135}"/>
              </a:ext>
            </a:extLst>
          </p:cNvPr>
          <p:cNvSpPr/>
          <p:nvPr/>
        </p:nvSpPr>
        <p:spPr>
          <a:xfrm>
            <a:off x="5235184" y="2269044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Docker Client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9E0835-75AF-47CA-82C3-C322FA222289}"/>
              </a:ext>
            </a:extLst>
          </p:cNvPr>
          <p:cNvSpPr/>
          <p:nvPr/>
        </p:nvSpPr>
        <p:spPr>
          <a:xfrm>
            <a:off x="5235184" y="3402223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Docker Server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88C566-79D2-445E-8FAF-7552CF77D9E7}"/>
              </a:ext>
            </a:extLst>
          </p:cNvPr>
          <p:cNvSpPr/>
          <p:nvPr/>
        </p:nvSpPr>
        <p:spPr>
          <a:xfrm>
            <a:off x="5040451" y="4673597"/>
            <a:ext cx="2096950" cy="1108445"/>
          </a:xfrm>
          <a:prstGeom prst="roundRect">
            <a:avLst/>
          </a:prstGeom>
          <a:ln>
            <a:solidFill>
              <a:srgbClr val="EB9795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D3962-DB3F-42DC-9FF0-1AAAC88B09EA}"/>
              </a:ext>
            </a:extLst>
          </p:cNvPr>
          <p:cNvSpPr txBox="1"/>
          <p:nvPr/>
        </p:nvSpPr>
        <p:spPr>
          <a:xfrm>
            <a:off x="5404305" y="4352681"/>
            <a:ext cx="1197123" cy="289438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Image Cache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30386D-379D-4601-82F3-74949F53E969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88926" y="2938265"/>
            <a:ext cx="0" cy="463958"/>
          </a:xfrm>
          <a:prstGeom prst="straightConnector1">
            <a:avLst/>
          </a:prstGeom>
          <a:ln w="5715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34A6D7-CEA3-475B-8D55-3ED6B96F46DA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4629548" y="2543799"/>
            <a:ext cx="605636" cy="1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B38335D1-4DFC-4064-AF2D-2CB7969B277A}"/>
              </a:ext>
            </a:extLst>
          </p:cNvPr>
          <p:cNvSpPr/>
          <p:nvPr/>
        </p:nvSpPr>
        <p:spPr>
          <a:xfrm>
            <a:off x="8156575" y="1805084"/>
            <a:ext cx="2697516" cy="4189011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 Hub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4CA700D-02A8-4A28-B4BF-25C269A74BB8}"/>
              </a:ext>
            </a:extLst>
          </p:cNvPr>
          <p:cNvSpPr/>
          <p:nvPr/>
        </p:nvSpPr>
        <p:spPr>
          <a:xfrm>
            <a:off x="8651591" y="2269044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hello-world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E3CB78-E1C5-4589-A239-FE66F4E7E503}"/>
              </a:ext>
            </a:extLst>
          </p:cNvPr>
          <p:cNvSpPr/>
          <p:nvPr/>
        </p:nvSpPr>
        <p:spPr>
          <a:xfrm>
            <a:off x="8651588" y="2975499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bg1"/>
                </a:solidFill>
              </a:rPr>
              <a:t>redis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A390B2-383F-45E1-90CD-9925C3A82895}"/>
              </a:ext>
            </a:extLst>
          </p:cNvPr>
          <p:cNvSpPr/>
          <p:nvPr/>
        </p:nvSpPr>
        <p:spPr>
          <a:xfrm>
            <a:off x="8651588" y="3681955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bg1"/>
                </a:solidFill>
              </a:rPr>
              <a:t>busybox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4CA2F4-95C9-4E0C-A6DC-539A932EF5CC}"/>
              </a:ext>
            </a:extLst>
          </p:cNvPr>
          <p:cNvSpPr/>
          <p:nvPr/>
        </p:nvSpPr>
        <p:spPr>
          <a:xfrm>
            <a:off x="8651589" y="4673597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Other Image 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A3C47C-DD9B-48A1-9F5F-186490C52524}"/>
              </a:ext>
            </a:extLst>
          </p:cNvPr>
          <p:cNvSpPr/>
          <p:nvPr/>
        </p:nvSpPr>
        <p:spPr>
          <a:xfrm>
            <a:off x="8651590" y="5283691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Other Image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6A5843-DDAD-40E4-BE1A-9FE7277433ED}"/>
              </a:ext>
            </a:extLst>
          </p:cNvPr>
          <p:cNvSpPr/>
          <p:nvPr/>
        </p:nvSpPr>
        <p:spPr>
          <a:xfrm>
            <a:off x="9331243" y="4115629"/>
            <a:ext cx="348172" cy="381771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b="1"/>
              <a:t>…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72C3BB2-829D-493D-BC45-B9AB9179363E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 rot="10800000" flipV="1">
            <a:off x="5040452" y="3736834"/>
            <a:ext cx="194733" cy="1490986"/>
          </a:xfrm>
          <a:prstGeom prst="bentConnector3">
            <a:avLst>
              <a:gd name="adj1" fmla="val 21739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AE8D59F-2250-4811-B904-E2C4D333FAF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6942667" y="2463789"/>
            <a:ext cx="1708924" cy="1273045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25E97DD-3839-4E03-B121-D5702149D252}"/>
              </a:ext>
            </a:extLst>
          </p:cNvPr>
          <p:cNvSpPr/>
          <p:nvPr/>
        </p:nvSpPr>
        <p:spPr>
          <a:xfrm>
            <a:off x="8803991" y="2421444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hello-world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8EFEEF-03ED-4D6E-93DC-68788E763A5E}"/>
              </a:ext>
            </a:extLst>
          </p:cNvPr>
          <p:cNvSpPr/>
          <p:nvPr/>
        </p:nvSpPr>
        <p:spPr>
          <a:xfrm>
            <a:off x="155710" y="2365910"/>
            <a:ext cx="4473838" cy="355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hello-world</a:t>
            </a:r>
          </a:p>
        </p:txBody>
      </p:sp>
    </p:spTree>
    <p:extLst>
      <p:ext uri="{BB962C8B-B14F-4D97-AF65-F5344CB8AC3E}">
        <p14:creationId xmlns:p14="http://schemas.microsoft.com/office/powerpoint/2010/main" val="63750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48148E-6 L 2.70833E-6 -1.48148E-6 C -0.00183 0.00255 -0.00352 0.00533 -0.00508 0.00833 C -0.0056 0.00949 -0.00573 0.01111 -0.00638 0.01204 C -0.00703 0.01273 -0.00782 0.01273 -0.00834 0.0132 C -0.00912 0.01412 -0.0099 0.01505 -0.01055 0.01597 C -0.01341 0.01991 -0.01237 0.02269 -0.01745 0.02593 L -0.01966 0.02732 C -0.02005 0.02847 -0.02045 0.03009 -0.02097 0.03102 C -0.02188 0.03218 -0.02292 0.03264 -0.02383 0.03357 C -0.02448 0.03426 -0.025 0.03519 -0.02578 0.03588 C -0.0267 0.03681 -0.02774 0.03727 -0.02852 0.03843 C -0.03021 0.04028 -0.03138 0.04306 -0.03268 0.04491 C -0.0336 0.04583 -0.03464 0.0463 -0.03542 0.04722 C -0.0362 0.04792 -0.03685 0.04884 -0.0375 0.04977 C -0.0388 0.05139 -0.03985 0.05324 -0.04102 0.05486 C -0.04206 0.05602 -0.04336 0.05648 -0.04453 0.05741 C -0.04896 0.06783 -0.04401 0.05764 -0.05417 0.06991 C -0.05664 0.07269 -0.05938 0.07546 -0.0612 0.07963 C -0.06185 0.08125 -0.06237 0.08357 -0.06328 0.08472 C -0.0655 0.0882 -0.06849 0.09005 -0.07084 0.09352 C -0.07305 0.09699 -0.07552 0.1 -0.07774 0.10347 C -0.0793 0.10579 -0.08047 0.10903 -0.0819 0.11111 C -0.08334 0.1132 -0.08516 0.11412 -0.08672 0.11621 C -0.08763 0.11713 -0.08815 0.11852 -0.08893 0.11991 C -0.09037 0.12222 -0.09206 0.12477 -0.09362 0.12755 C -0.09505 0.12986 -0.09636 0.13264 -0.09779 0.13496 C -0.10899 0.15139 -0.09323 0.12477 -0.10482 0.14352 C -0.10612 0.14583 -0.10742 0.14861 -0.10899 0.15116 C -0.1112 0.15463 -0.11354 0.15764 -0.11576 0.16111 C -0.11719 0.16296 -0.1181 0.16551 -0.1194 0.16736 C -0.12071 0.16921 -0.12201 0.1706 -0.12344 0.17246 C -0.12578 0.17546 -0.12826 0.17894 -0.13034 0.18241 C -0.13164 0.18426 -0.13255 0.18681 -0.13386 0.18866 C -0.13516 0.19074 -0.13672 0.19213 -0.13802 0.19375 C -0.14037 0.19699 -0.14258 0.20046 -0.14492 0.20371 C -0.14597 0.20509 -0.14675 0.20648 -0.14766 0.20764 C -0.15 0.21065 -0.15248 0.21296 -0.15456 0.21597 C -0.1569 0.21945 -0.15899 0.22384 -0.16159 0.22616 C -0.16328 0.22778 -0.16537 0.22894 -0.16719 0.23102 C -0.16849 0.23287 -0.16992 0.23449 -0.17123 0.23634 C -0.17214 0.2375 -0.17292 0.23889 -0.17396 0.24005 C -0.17487 0.24097 -0.17604 0.24144 -0.17683 0.24236 C -0.17761 0.24352 -0.17813 0.24537 -0.17878 0.2463 C -0.1806 0.24861 -0.18242 0.25046 -0.18438 0.25255 C -0.18789 0.25602 -0.18646 0.25371 -0.1892 0.25741 C -0.19128 0.26042 -0.19323 0.26389 -0.19545 0.26644 C -0.19792 0.26898 -0.19961 0.27037 -0.2017 0.27408 C -0.20261 0.27546 -0.20339 0.27732 -0.20456 0.27894 C -0.20651 0.28195 -0.20886 0.28403 -0.21068 0.2875 L -0.21498 0.29491 L -0.21771 0.30023 C -0.2181 0.30093 -0.21849 0.30232 -0.21901 0.30255 L -0.2211 0.30394 C -0.22774 0.31597 -0.22058 0.30371 -0.22604 0.31134 C -0.228 0.31458 -0.2267 0.31389 -0.22943 0.31644 C -0.23516 0.32153 -0.22761 0.31273 -0.23373 0.32014 C -0.23412 0.3213 -0.23438 0.32292 -0.23503 0.32384 C -0.23711 0.32685 -0.2388 0.32593 -0.24115 0.32778 C -0.24219 0.32847 -0.2431 0.3294 -0.24401 0.33033 C -0.24466 0.33079 -0.24545 0.33079 -0.2461 0.33148 C -0.25117 0.33611 -0.2444 0.33218 -0.25143 0.33634 C -0.25417 0.33796 -0.2556 0.33773 -0.2586 0.33889 C -0.27136 0.34398 -0.25964 0.33935 -0.26615 0.34283 C -0.26784 0.34375 -0.26979 0.34445 -0.27162 0.34537 C -0.27266 0.3456 -0.27357 0.34607 -0.27448 0.34653 C -0.27552 0.34699 -0.2767 0.34722 -0.27787 0.34769 C -0.2793 0.34838 -0.28073 0.34884 -0.28216 0.35023 C -0.28347 0.35185 -0.28451 0.35371 -0.2862 0.35417 C -0.28802 0.35417 -0.28985 0.35417 -0.29154 0.35417 " pathEditMode="relative" rAng="0" ptsTypes="AAAAAAAAAAAAAAAAAAAAAAAAAAAAAAAAAAAAAAAAAAAAAAAAAAAAAAAAAAAAAAAAAAAAAA">
                                      <p:cBhvr>
                                        <p:cTn id="2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3" y="1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1774382" y="1984173"/>
            <a:ext cx="8353250" cy="12027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Processes Running on your computer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EA01B-69E3-4922-A6CA-FF2B11C6278D}"/>
              </a:ext>
            </a:extLst>
          </p:cNvPr>
          <p:cNvSpPr/>
          <p:nvPr/>
        </p:nvSpPr>
        <p:spPr>
          <a:xfrm>
            <a:off x="1999632" y="2358885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Chrome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31B24-972A-44B8-8283-9BCB13C09593}"/>
              </a:ext>
            </a:extLst>
          </p:cNvPr>
          <p:cNvSpPr/>
          <p:nvPr/>
        </p:nvSpPr>
        <p:spPr>
          <a:xfrm>
            <a:off x="4031367" y="2350418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Terminal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413FBE-00A1-4F06-9EF5-29B4ABBE52FA}"/>
              </a:ext>
            </a:extLst>
          </p:cNvPr>
          <p:cNvSpPr/>
          <p:nvPr/>
        </p:nvSpPr>
        <p:spPr>
          <a:xfrm>
            <a:off x="6063102" y="2350418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Spotify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D45924-7BB4-4EF6-A05A-1D1ADC714A85}"/>
              </a:ext>
            </a:extLst>
          </p:cNvPr>
          <p:cNvSpPr/>
          <p:nvPr/>
        </p:nvSpPr>
        <p:spPr>
          <a:xfrm>
            <a:off x="8094836" y="2350419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NodeJS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0E0DAA-310B-4386-AE66-00248EE18083}"/>
              </a:ext>
            </a:extLst>
          </p:cNvPr>
          <p:cNvSpPr/>
          <p:nvPr/>
        </p:nvSpPr>
        <p:spPr>
          <a:xfrm>
            <a:off x="3196899" y="3510101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E62134-C4AC-438D-BAEE-BF3AC1008C2D}"/>
              </a:ext>
            </a:extLst>
          </p:cNvPr>
          <p:cNvSpPr/>
          <p:nvPr/>
        </p:nvSpPr>
        <p:spPr>
          <a:xfrm>
            <a:off x="5097265" y="3514416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1523907-DDA6-423C-B9EA-FB23DD92E0ED}"/>
              </a:ext>
            </a:extLst>
          </p:cNvPr>
          <p:cNvSpPr/>
          <p:nvPr/>
        </p:nvSpPr>
        <p:spPr>
          <a:xfrm>
            <a:off x="6999530" y="3513541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DE2467AA-4978-4366-B7CF-F8F398C2A73E}"/>
              </a:ext>
            </a:extLst>
          </p:cNvPr>
          <p:cNvSpPr/>
          <p:nvPr/>
        </p:nvSpPr>
        <p:spPr>
          <a:xfrm>
            <a:off x="1774382" y="4276296"/>
            <a:ext cx="8353250" cy="389489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32EF18B-F680-45E6-AEF3-66677FEA5465}"/>
              </a:ext>
            </a:extLst>
          </p:cNvPr>
          <p:cNvSpPr/>
          <p:nvPr/>
        </p:nvSpPr>
        <p:spPr>
          <a:xfrm>
            <a:off x="2874204" y="5005276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94BE843-EA86-464D-823C-ECD77C926417}"/>
              </a:ext>
            </a:extLst>
          </p:cNvPr>
          <p:cNvSpPr/>
          <p:nvPr/>
        </p:nvSpPr>
        <p:spPr>
          <a:xfrm>
            <a:off x="5097265" y="4998596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D2F4016-DC45-416B-9A52-4FD74B20613C}"/>
              </a:ext>
            </a:extLst>
          </p:cNvPr>
          <p:cNvSpPr/>
          <p:nvPr/>
        </p:nvSpPr>
        <p:spPr>
          <a:xfrm>
            <a:off x="7320326" y="4998596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Hard Disk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F9E3618-A21B-4AA8-ACD4-6A8173377F7B}"/>
              </a:ext>
            </a:extLst>
          </p:cNvPr>
          <p:cNvCxnSpPr>
            <a:cxnSpLocks/>
          </p:cNvCxnSpPr>
          <p:nvPr/>
        </p:nvCxnSpPr>
        <p:spPr>
          <a:xfrm>
            <a:off x="3735596" y="4661092"/>
            <a:ext cx="0" cy="36040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F012C51-6B48-4FEA-9EEB-BAF32F49DE85}"/>
              </a:ext>
            </a:extLst>
          </p:cNvPr>
          <p:cNvCxnSpPr>
            <a:cxnSpLocks/>
          </p:cNvCxnSpPr>
          <p:nvPr/>
        </p:nvCxnSpPr>
        <p:spPr>
          <a:xfrm>
            <a:off x="5951006" y="4661092"/>
            <a:ext cx="0" cy="36040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E211D97-063E-4422-8EF4-2DF1C891F4F9}"/>
              </a:ext>
            </a:extLst>
          </p:cNvPr>
          <p:cNvCxnSpPr>
            <a:cxnSpLocks/>
          </p:cNvCxnSpPr>
          <p:nvPr/>
        </p:nvCxnSpPr>
        <p:spPr>
          <a:xfrm>
            <a:off x="8149968" y="4661092"/>
            <a:ext cx="0" cy="36040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CC20D17-5B37-4FDD-A369-30419D3739E1}"/>
              </a:ext>
            </a:extLst>
          </p:cNvPr>
          <p:cNvSpPr txBox="1"/>
          <p:nvPr/>
        </p:nvSpPr>
        <p:spPr>
          <a:xfrm>
            <a:off x="8839082" y="3365167"/>
            <a:ext cx="2296444" cy="69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/>
              <a:t>Running program issues request to kernel to interact with a piece of hardware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A32B7FF-C66F-4DDA-865E-B097B79F92F9}"/>
              </a:ext>
            </a:extLst>
          </p:cNvPr>
          <p:cNvCxnSpPr>
            <a:cxnSpLocks/>
            <a:stCxn id="8" idx="3"/>
            <a:endCxn id="30" idx="0"/>
          </p:cNvCxnSpPr>
          <p:nvPr/>
        </p:nvCxnSpPr>
        <p:spPr>
          <a:xfrm>
            <a:off x="7851371" y="3183794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B31216E-72A4-4E0F-A101-F9D943D90EF1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7851372" y="390303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1CE9AC3-DC69-41AA-A355-4463AB5DDF42}"/>
              </a:ext>
            </a:extLst>
          </p:cNvPr>
          <p:cNvCxnSpPr>
            <a:cxnSpLocks/>
          </p:cNvCxnSpPr>
          <p:nvPr/>
        </p:nvCxnSpPr>
        <p:spPr>
          <a:xfrm flipH="1">
            <a:off x="5951006" y="3903029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CD708AF-724F-4097-BAFE-860F97A67059}"/>
              </a:ext>
            </a:extLst>
          </p:cNvPr>
          <p:cNvCxnSpPr>
            <a:cxnSpLocks/>
          </p:cNvCxnSpPr>
          <p:nvPr/>
        </p:nvCxnSpPr>
        <p:spPr>
          <a:xfrm flipH="1">
            <a:off x="4047791" y="389959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1459D2-ED97-4A54-A573-AFEE47C8667B}"/>
              </a:ext>
            </a:extLst>
          </p:cNvPr>
          <p:cNvCxnSpPr>
            <a:cxnSpLocks/>
          </p:cNvCxnSpPr>
          <p:nvPr/>
        </p:nvCxnSpPr>
        <p:spPr>
          <a:xfrm>
            <a:off x="5951005" y="3188448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81B189-271A-47E0-BBE2-7E73AA27FE33}"/>
              </a:ext>
            </a:extLst>
          </p:cNvPr>
          <p:cNvCxnSpPr>
            <a:cxnSpLocks/>
          </p:cNvCxnSpPr>
          <p:nvPr/>
        </p:nvCxnSpPr>
        <p:spPr>
          <a:xfrm>
            <a:off x="4047791" y="3167765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59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1774382" y="1984173"/>
            <a:ext cx="8353250" cy="12027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EA01B-69E3-4922-A6CA-FF2B11C6278D}"/>
              </a:ext>
            </a:extLst>
          </p:cNvPr>
          <p:cNvSpPr/>
          <p:nvPr/>
        </p:nvSpPr>
        <p:spPr>
          <a:xfrm>
            <a:off x="3919321" y="2351069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31B24-972A-44B8-8283-9BCB13C09593}"/>
              </a:ext>
            </a:extLst>
          </p:cNvPr>
          <p:cNvSpPr/>
          <p:nvPr/>
        </p:nvSpPr>
        <p:spPr>
          <a:xfrm>
            <a:off x="6456496" y="2326220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2</a:t>
            </a:r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DE2467AA-4978-4366-B7CF-F8F398C2A73E}"/>
              </a:ext>
            </a:extLst>
          </p:cNvPr>
          <p:cNvSpPr/>
          <p:nvPr/>
        </p:nvSpPr>
        <p:spPr>
          <a:xfrm>
            <a:off x="1774382" y="4276296"/>
            <a:ext cx="8353250" cy="513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40FDA-7854-4E0D-BE3C-B6874F0C31B3}"/>
              </a:ext>
            </a:extLst>
          </p:cNvPr>
          <p:cNvSpPr txBox="1"/>
          <p:nvPr/>
        </p:nvSpPr>
        <p:spPr>
          <a:xfrm>
            <a:off x="4226630" y="2023569"/>
            <a:ext cx="1092863" cy="225126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rgbClr val="FF3300"/>
                </a:solidFill>
              </a:rPr>
              <a:t>Needs Java 1.8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8BCD27-921C-4344-A3A2-807755B8E6E4}"/>
              </a:ext>
            </a:extLst>
          </p:cNvPr>
          <p:cNvSpPr txBox="1"/>
          <p:nvPr/>
        </p:nvSpPr>
        <p:spPr>
          <a:xfrm>
            <a:off x="6787850" y="2023858"/>
            <a:ext cx="1044773" cy="462114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FF3300"/>
                </a:solidFill>
              </a:rPr>
              <a:t>Needs Java 21</a:t>
            </a:r>
          </a:p>
          <a:p>
            <a:pPr algn="l"/>
            <a:endParaRPr lang="en-US" sz="1400" b="1" dirty="0">
              <a:solidFill>
                <a:srgbClr val="FF3300"/>
              </a:solidFill>
            </a:endParaRP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426A6EF9-C20D-41C2-967A-3C213BD6C7EC}"/>
              </a:ext>
            </a:extLst>
          </p:cNvPr>
          <p:cNvSpPr/>
          <p:nvPr/>
        </p:nvSpPr>
        <p:spPr>
          <a:xfrm>
            <a:off x="1774382" y="5153649"/>
            <a:ext cx="8353250" cy="1214894"/>
          </a:xfrm>
          <a:prstGeom prst="flowChartProcess">
            <a:avLst/>
          </a:prstGeom>
          <a:solidFill>
            <a:srgbClr val="FEE7C6"/>
          </a:solidFill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Hard Disk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20C2BB6-ADBA-4309-A102-7B95B3C11AE8}"/>
              </a:ext>
            </a:extLst>
          </p:cNvPr>
          <p:cNvSpPr/>
          <p:nvPr/>
        </p:nvSpPr>
        <p:spPr>
          <a:xfrm>
            <a:off x="5097265" y="5671861"/>
            <a:ext cx="1707483" cy="39175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Java 21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4011BCF-43E1-47AC-9196-38265A75F142}"/>
              </a:ext>
            </a:extLst>
          </p:cNvPr>
          <p:cNvSpPr/>
          <p:nvPr/>
        </p:nvSpPr>
        <p:spPr>
          <a:xfrm>
            <a:off x="3196899" y="3510101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738E688-8FA0-4BE9-85A3-0369580A51F2}"/>
              </a:ext>
            </a:extLst>
          </p:cNvPr>
          <p:cNvSpPr/>
          <p:nvPr/>
        </p:nvSpPr>
        <p:spPr>
          <a:xfrm>
            <a:off x="5097265" y="3514416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7D0E6AB-FD45-4A3F-8748-0852432D130D}"/>
              </a:ext>
            </a:extLst>
          </p:cNvPr>
          <p:cNvSpPr/>
          <p:nvPr/>
        </p:nvSpPr>
        <p:spPr>
          <a:xfrm>
            <a:off x="6999530" y="3513541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6E70DA-3B1D-47A4-9AE8-F112921FD3D4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7851371" y="3183794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38C216-417F-41CE-B95B-FADB371B6B2E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851372" y="390303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C1F811-2BE5-4454-9ED0-9055957FFEA1}"/>
              </a:ext>
            </a:extLst>
          </p:cNvPr>
          <p:cNvCxnSpPr>
            <a:cxnSpLocks/>
          </p:cNvCxnSpPr>
          <p:nvPr/>
        </p:nvCxnSpPr>
        <p:spPr>
          <a:xfrm flipH="1">
            <a:off x="5951006" y="3903029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 flipH="1">
            <a:off x="4047791" y="389959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6AAACEB-644A-441E-8C60-8B8D72B68AB4}"/>
              </a:ext>
            </a:extLst>
          </p:cNvPr>
          <p:cNvCxnSpPr>
            <a:cxnSpLocks/>
          </p:cNvCxnSpPr>
          <p:nvPr/>
        </p:nvCxnSpPr>
        <p:spPr>
          <a:xfrm>
            <a:off x="5951005" y="3188448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8708A28-827C-47D6-A798-C16BC9C06220}"/>
              </a:ext>
            </a:extLst>
          </p:cNvPr>
          <p:cNvCxnSpPr>
            <a:cxnSpLocks/>
          </p:cNvCxnSpPr>
          <p:nvPr/>
        </p:nvCxnSpPr>
        <p:spPr>
          <a:xfrm>
            <a:off x="4047791" y="3167765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1F2BE7-DE04-4064-869C-D51D1170D0A6}"/>
              </a:ext>
            </a:extLst>
          </p:cNvPr>
          <p:cNvCxnSpPr>
            <a:cxnSpLocks/>
          </p:cNvCxnSpPr>
          <p:nvPr/>
        </p:nvCxnSpPr>
        <p:spPr>
          <a:xfrm>
            <a:off x="5951005" y="4790256"/>
            <a:ext cx="0" cy="36040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472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1774382" y="1984173"/>
            <a:ext cx="8353250" cy="12027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EA01B-69E3-4922-A6CA-FF2B11C6278D}"/>
              </a:ext>
            </a:extLst>
          </p:cNvPr>
          <p:cNvSpPr/>
          <p:nvPr/>
        </p:nvSpPr>
        <p:spPr>
          <a:xfrm>
            <a:off x="3919321" y="2351069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31B24-972A-44B8-8283-9BCB13C09593}"/>
              </a:ext>
            </a:extLst>
          </p:cNvPr>
          <p:cNvSpPr/>
          <p:nvPr/>
        </p:nvSpPr>
        <p:spPr>
          <a:xfrm>
            <a:off x="6456496" y="2326220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40FDA-7854-4E0D-BE3C-B6874F0C31B3}"/>
              </a:ext>
            </a:extLst>
          </p:cNvPr>
          <p:cNvSpPr txBox="1"/>
          <p:nvPr/>
        </p:nvSpPr>
        <p:spPr>
          <a:xfrm>
            <a:off x="4226630" y="2023569"/>
            <a:ext cx="1092863" cy="225126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rgbClr val="FF3300"/>
                </a:solidFill>
              </a:rPr>
              <a:t>Needs Java 1.8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8BCD27-921C-4344-A3A2-807755B8E6E4}"/>
              </a:ext>
            </a:extLst>
          </p:cNvPr>
          <p:cNvSpPr txBox="1"/>
          <p:nvPr/>
        </p:nvSpPr>
        <p:spPr>
          <a:xfrm>
            <a:off x="6787850" y="2023858"/>
            <a:ext cx="1044773" cy="225126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FF3300"/>
                </a:solidFill>
              </a:rPr>
              <a:t>Needs Java 21</a:t>
            </a: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426A6EF9-C20D-41C2-967A-3C213BD6C7EC}"/>
              </a:ext>
            </a:extLst>
          </p:cNvPr>
          <p:cNvSpPr/>
          <p:nvPr/>
        </p:nvSpPr>
        <p:spPr>
          <a:xfrm>
            <a:off x="1774382" y="5153649"/>
            <a:ext cx="8353250" cy="1214894"/>
          </a:xfrm>
          <a:prstGeom prst="flowChartProcess">
            <a:avLst/>
          </a:prstGeom>
          <a:solidFill>
            <a:srgbClr val="FEE7C6"/>
          </a:solidFill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Hard Disk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4011BCF-43E1-47AC-9196-38265A75F142}"/>
              </a:ext>
            </a:extLst>
          </p:cNvPr>
          <p:cNvSpPr/>
          <p:nvPr/>
        </p:nvSpPr>
        <p:spPr>
          <a:xfrm>
            <a:off x="3196899" y="3510101"/>
            <a:ext cx="1707483" cy="389489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738E688-8FA0-4BE9-85A3-0369580A51F2}"/>
              </a:ext>
            </a:extLst>
          </p:cNvPr>
          <p:cNvSpPr/>
          <p:nvPr/>
        </p:nvSpPr>
        <p:spPr>
          <a:xfrm>
            <a:off x="5097265" y="3514416"/>
            <a:ext cx="1707483" cy="389489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7D0E6AB-FD45-4A3F-8748-0852432D130D}"/>
              </a:ext>
            </a:extLst>
          </p:cNvPr>
          <p:cNvSpPr/>
          <p:nvPr/>
        </p:nvSpPr>
        <p:spPr>
          <a:xfrm>
            <a:off x="6999530" y="3513541"/>
            <a:ext cx="1707483" cy="389489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6E70DA-3B1D-47A4-9AE8-F112921FD3D4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7851371" y="3183794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38C216-417F-41CE-B95B-FADB371B6B2E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851372" y="390303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C1F811-2BE5-4454-9ED0-9055957FFEA1}"/>
              </a:ext>
            </a:extLst>
          </p:cNvPr>
          <p:cNvCxnSpPr>
            <a:cxnSpLocks/>
          </p:cNvCxnSpPr>
          <p:nvPr/>
        </p:nvCxnSpPr>
        <p:spPr>
          <a:xfrm flipH="1">
            <a:off x="5951006" y="3903029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 flipH="1">
            <a:off x="4047791" y="389959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6AAACEB-644A-441E-8C60-8B8D72B68AB4}"/>
              </a:ext>
            </a:extLst>
          </p:cNvPr>
          <p:cNvCxnSpPr>
            <a:cxnSpLocks/>
          </p:cNvCxnSpPr>
          <p:nvPr/>
        </p:nvCxnSpPr>
        <p:spPr>
          <a:xfrm>
            <a:off x="5951005" y="3188448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8708A28-827C-47D6-A798-C16BC9C06220}"/>
              </a:ext>
            </a:extLst>
          </p:cNvPr>
          <p:cNvCxnSpPr>
            <a:cxnSpLocks/>
          </p:cNvCxnSpPr>
          <p:nvPr/>
        </p:nvCxnSpPr>
        <p:spPr>
          <a:xfrm>
            <a:off x="4047791" y="3167765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1D23502-7565-4A51-B4FB-0E0E38C54379}"/>
              </a:ext>
            </a:extLst>
          </p:cNvPr>
          <p:cNvSpPr/>
          <p:nvPr/>
        </p:nvSpPr>
        <p:spPr>
          <a:xfrm>
            <a:off x="1774382" y="5153649"/>
            <a:ext cx="2226118" cy="726451"/>
          </a:xfrm>
          <a:prstGeom prst="rect">
            <a:avLst/>
          </a:prstGeom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20C2BB6-ADBA-4309-A102-7B95B3C11AE8}"/>
              </a:ext>
            </a:extLst>
          </p:cNvPr>
          <p:cNvSpPr/>
          <p:nvPr/>
        </p:nvSpPr>
        <p:spPr>
          <a:xfrm>
            <a:off x="2033699" y="5320997"/>
            <a:ext cx="1707483" cy="39175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1.8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167C3C-CE8F-42AF-A807-75E85258EDAD}"/>
              </a:ext>
            </a:extLst>
          </p:cNvPr>
          <p:cNvSpPr/>
          <p:nvPr/>
        </p:nvSpPr>
        <p:spPr>
          <a:xfrm>
            <a:off x="7901514" y="5153649"/>
            <a:ext cx="2226118" cy="726451"/>
          </a:xfrm>
          <a:prstGeom prst="rect">
            <a:avLst/>
          </a:prstGeom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8839C5-F46E-4A23-8C60-A0AD0B2DAD79}"/>
              </a:ext>
            </a:extLst>
          </p:cNvPr>
          <p:cNvSpPr/>
          <p:nvPr/>
        </p:nvSpPr>
        <p:spPr>
          <a:xfrm>
            <a:off x="8160831" y="5320997"/>
            <a:ext cx="1707483" cy="39175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Java 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B429-DD81-4E06-8592-03D58007FE0B}"/>
              </a:ext>
            </a:extLst>
          </p:cNvPr>
          <p:cNvSpPr txBox="1"/>
          <p:nvPr/>
        </p:nvSpPr>
        <p:spPr>
          <a:xfrm>
            <a:off x="2038600" y="4873737"/>
            <a:ext cx="1702582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/>
              <a:t>Segment for Java App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DF7278-621C-4676-BBCF-BA2EAB2C3601}"/>
              </a:ext>
            </a:extLst>
          </p:cNvPr>
          <p:cNvSpPr txBox="1"/>
          <p:nvPr/>
        </p:nvSpPr>
        <p:spPr>
          <a:xfrm>
            <a:off x="8165732" y="4873737"/>
            <a:ext cx="1702582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/>
              <a:t>Segment for Java App 2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65045F86-D6D7-487D-8707-619CFD036C70}"/>
              </a:ext>
            </a:extLst>
          </p:cNvPr>
          <p:cNvSpPr/>
          <p:nvPr/>
        </p:nvSpPr>
        <p:spPr>
          <a:xfrm>
            <a:off x="1774382" y="4276296"/>
            <a:ext cx="8353250" cy="513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3D5643-8655-4AF4-9BD9-0113FDD66ED7}"/>
              </a:ext>
            </a:extLst>
          </p:cNvPr>
          <p:cNvCxnSpPr>
            <a:cxnSpLocks/>
          </p:cNvCxnSpPr>
          <p:nvPr/>
        </p:nvCxnSpPr>
        <p:spPr>
          <a:xfrm>
            <a:off x="5951005" y="4790256"/>
            <a:ext cx="0" cy="36040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904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1774382" y="1984173"/>
            <a:ext cx="8353250" cy="12027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EA01B-69E3-4922-A6CA-FF2B11C6278D}"/>
              </a:ext>
            </a:extLst>
          </p:cNvPr>
          <p:cNvSpPr/>
          <p:nvPr/>
        </p:nvSpPr>
        <p:spPr>
          <a:xfrm>
            <a:off x="3919321" y="2351069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31B24-972A-44B8-8283-9BCB13C09593}"/>
              </a:ext>
            </a:extLst>
          </p:cNvPr>
          <p:cNvSpPr/>
          <p:nvPr/>
        </p:nvSpPr>
        <p:spPr>
          <a:xfrm>
            <a:off x="6456496" y="2326220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40FDA-7854-4E0D-BE3C-B6874F0C31B3}"/>
              </a:ext>
            </a:extLst>
          </p:cNvPr>
          <p:cNvSpPr txBox="1"/>
          <p:nvPr/>
        </p:nvSpPr>
        <p:spPr>
          <a:xfrm>
            <a:off x="4226630" y="2023569"/>
            <a:ext cx="1092863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rgbClr val="FF3300"/>
                </a:solidFill>
              </a:rPr>
              <a:t>Needs Java 1.8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8BCD27-921C-4344-A3A2-807755B8E6E4}"/>
              </a:ext>
            </a:extLst>
          </p:cNvPr>
          <p:cNvSpPr txBox="1"/>
          <p:nvPr/>
        </p:nvSpPr>
        <p:spPr>
          <a:xfrm>
            <a:off x="6787850" y="2023858"/>
            <a:ext cx="1044773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FF3300"/>
                </a:solidFill>
              </a:rPr>
              <a:t>Needs Java 21</a:t>
            </a: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426A6EF9-C20D-41C2-967A-3C213BD6C7EC}"/>
              </a:ext>
            </a:extLst>
          </p:cNvPr>
          <p:cNvSpPr/>
          <p:nvPr/>
        </p:nvSpPr>
        <p:spPr>
          <a:xfrm>
            <a:off x="1774382" y="5153649"/>
            <a:ext cx="8353250" cy="1214894"/>
          </a:xfrm>
          <a:prstGeom prst="flowChartProcess">
            <a:avLst/>
          </a:prstGeom>
          <a:solidFill>
            <a:srgbClr val="FEE7C6"/>
          </a:solidFill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Hard Disk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4011BCF-43E1-47AC-9196-38265A75F142}"/>
              </a:ext>
            </a:extLst>
          </p:cNvPr>
          <p:cNvSpPr/>
          <p:nvPr/>
        </p:nvSpPr>
        <p:spPr>
          <a:xfrm>
            <a:off x="3196899" y="3510101"/>
            <a:ext cx="1707483" cy="389489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738E688-8FA0-4BE9-85A3-0369580A51F2}"/>
              </a:ext>
            </a:extLst>
          </p:cNvPr>
          <p:cNvSpPr/>
          <p:nvPr/>
        </p:nvSpPr>
        <p:spPr>
          <a:xfrm>
            <a:off x="5097265" y="3514416"/>
            <a:ext cx="1707483" cy="389489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7D0E6AB-FD45-4A3F-8748-0852432D130D}"/>
              </a:ext>
            </a:extLst>
          </p:cNvPr>
          <p:cNvSpPr/>
          <p:nvPr/>
        </p:nvSpPr>
        <p:spPr>
          <a:xfrm>
            <a:off x="6999530" y="3513541"/>
            <a:ext cx="1707483" cy="389489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6E70DA-3B1D-47A4-9AE8-F112921FD3D4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7851371" y="3183794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38C216-417F-41CE-B95B-FADB371B6B2E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851372" y="390303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C1F811-2BE5-4454-9ED0-9055957FFEA1}"/>
              </a:ext>
            </a:extLst>
          </p:cNvPr>
          <p:cNvCxnSpPr>
            <a:cxnSpLocks/>
          </p:cNvCxnSpPr>
          <p:nvPr/>
        </p:nvCxnSpPr>
        <p:spPr>
          <a:xfrm flipH="1">
            <a:off x="5951006" y="3903029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 flipH="1">
            <a:off x="4047791" y="389959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6AAACEB-644A-441E-8C60-8B8D72B68AB4}"/>
              </a:ext>
            </a:extLst>
          </p:cNvPr>
          <p:cNvCxnSpPr>
            <a:cxnSpLocks/>
          </p:cNvCxnSpPr>
          <p:nvPr/>
        </p:nvCxnSpPr>
        <p:spPr>
          <a:xfrm>
            <a:off x="5951005" y="3188448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8708A28-827C-47D6-A798-C16BC9C06220}"/>
              </a:ext>
            </a:extLst>
          </p:cNvPr>
          <p:cNvCxnSpPr>
            <a:cxnSpLocks/>
          </p:cNvCxnSpPr>
          <p:nvPr/>
        </p:nvCxnSpPr>
        <p:spPr>
          <a:xfrm>
            <a:off x="4047791" y="3167765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1D23502-7565-4A51-B4FB-0E0E38C54379}"/>
              </a:ext>
            </a:extLst>
          </p:cNvPr>
          <p:cNvSpPr/>
          <p:nvPr/>
        </p:nvSpPr>
        <p:spPr>
          <a:xfrm>
            <a:off x="1774382" y="5153649"/>
            <a:ext cx="2226118" cy="726451"/>
          </a:xfrm>
          <a:prstGeom prst="rect">
            <a:avLst/>
          </a:prstGeom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20C2BB6-ADBA-4309-A102-7B95B3C11AE8}"/>
              </a:ext>
            </a:extLst>
          </p:cNvPr>
          <p:cNvSpPr/>
          <p:nvPr/>
        </p:nvSpPr>
        <p:spPr>
          <a:xfrm>
            <a:off x="2033699" y="5320997"/>
            <a:ext cx="1707483" cy="39175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1.8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167C3C-CE8F-42AF-A807-75E85258EDAD}"/>
              </a:ext>
            </a:extLst>
          </p:cNvPr>
          <p:cNvSpPr/>
          <p:nvPr/>
        </p:nvSpPr>
        <p:spPr>
          <a:xfrm>
            <a:off x="7901514" y="5153649"/>
            <a:ext cx="2226118" cy="726451"/>
          </a:xfrm>
          <a:prstGeom prst="rect">
            <a:avLst/>
          </a:prstGeom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8839C5-F46E-4A23-8C60-A0AD0B2DAD79}"/>
              </a:ext>
            </a:extLst>
          </p:cNvPr>
          <p:cNvSpPr/>
          <p:nvPr/>
        </p:nvSpPr>
        <p:spPr>
          <a:xfrm>
            <a:off x="8160831" y="5320997"/>
            <a:ext cx="1707483" cy="39175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Java 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B429-DD81-4E06-8592-03D58007FE0B}"/>
              </a:ext>
            </a:extLst>
          </p:cNvPr>
          <p:cNvSpPr txBox="1"/>
          <p:nvPr/>
        </p:nvSpPr>
        <p:spPr>
          <a:xfrm>
            <a:off x="2038600" y="4873737"/>
            <a:ext cx="1702582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/>
              <a:t>Segment for Java App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DF7278-621C-4676-BBCF-BA2EAB2C3601}"/>
              </a:ext>
            </a:extLst>
          </p:cNvPr>
          <p:cNvSpPr txBox="1"/>
          <p:nvPr/>
        </p:nvSpPr>
        <p:spPr>
          <a:xfrm>
            <a:off x="8165732" y="4873737"/>
            <a:ext cx="1702582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/>
              <a:t>Segment for Java App 2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1774382" y="4276296"/>
            <a:ext cx="8353250" cy="513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9CB042-46F8-4E77-9F70-9B1B8CB7BFB6}"/>
              </a:ext>
            </a:extLst>
          </p:cNvPr>
          <p:cNvCxnSpPr>
            <a:cxnSpLocks/>
          </p:cNvCxnSpPr>
          <p:nvPr/>
        </p:nvCxnSpPr>
        <p:spPr>
          <a:xfrm>
            <a:off x="5951005" y="4790256"/>
            <a:ext cx="0" cy="36040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3EBEE9E-DF52-4752-9CCD-92CF4DC16F71}"/>
              </a:ext>
            </a:extLst>
          </p:cNvPr>
          <p:cNvSpPr/>
          <p:nvPr/>
        </p:nvSpPr>
        <p:spPr>
          <a:xfrm>
            <a:off x="3903320" y="4331671"/>
            <a:ext cx="4095369" cy="37826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Which process is making the system call?</a:t>
            </a:r>
          </a:p>
        </p:txBody>
      </p:sp>
    </p:spTree>
    <p:extLst>
      <p:ext uri="{BB962C8B-B14F-4D97-AF65-F5344CB8AC3E}">
        <p14:creationId xmlns:p14="http://schemas.microsoft.com/office/powerpoint/2010/main" val="1855105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34958-89D5-4E74-9146-8E782A2F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8355-B0AD-4B33-BBA6-F24B928B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4B510C-BFDA-45B7-A9A1-5B5A739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CEBDC6-2FA5-42F1-8921-709A4B1889D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9A984B-9972-4875-BD68-1A7F0D1462C5}"/>
              </a:ext>
            </a:extLst>
          </p:cNvPr>
          <p:cNvSpPr/>
          <p:nvPr/>
        </p:nvSpPr>
        <p:spPr>
          <a:xfrm>
            <a:off x="1221297" y="4270712"/>
            <a:ext cx="2246529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Control Groups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(</a:t>
            </a:r>
            <a:r>
              <a:rPr lang="en-US" b="1" err="1">
                <a:solidFill>
                  <a:schemeClr val="bg1"/>
                </a:solidFill>
              </a:rPr>
              <a:t>cgroups</a:t>
            </a:r>
            <a:r>
              <a:rPr lang="en-US" b="1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Flowchart: Process 7">
            <a:extLst>
              <a:ext uri="{FF2B5EF4-FFF2-40B4-BE49-F238E27FC236}">
                <a16:creationId xmlns:a16="http://schemas.microsoft.com/office/drawing/2014/main" id="{60ECA6F8-5625-4FDB-99B6-231F40A27A67}"/>
              </a:ext>
            </a:extLst>
          </p:cNvPr>
          <p:cNvSpPr/>
          <p:nvPr/>
        </p:nvSpPr>
        <p:spPr>
          <a:xfrm>
            <a:off x="4384324" y="2408276"/>
            <a:ext cx="6177138" cy="13002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EDFE95-C587-46AC-B18F-45F1777DE956}"/>
              </a:ext>
            </a:extLst>
          </p:cNvPr>
          <p:cNvSpPr/>
          <p:nvPr/>
        </p:nvSpPr>
        <p:spPr>
          <a:xfrm>
            <a:off x="4641441" y="2566999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Processes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A244A9-C524-4497-B070-E84ADDBCE3C4}"/>
              </a:ext>
            </a:extLst>
          </p:cNvPr>
          <p:cNvSpPr/>
          <p:nvPr/>
        </p:nvSpPr>
        <p:spPr>
          <a:xfrm>
            <a:off x="6597241" y="2570393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Hard drive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2C2DBC-56CB-450C-ABB8-4C0BBFA04BBB}"/>
              </a:ext>
            </a:extLst>
          </p:cNvPr>
          <p:cNvSpPr/>
          <p:nvPr/>
        </p:nvSpPr>
        <p:spPr>
          <a:xfrm>
            <a:off x="8553041" y="2573787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CA2C0F-D89B-49D5-B244-CA6F6422C682}"/>
              </a:ext>
            </a:extLst>
          </p:cNvPr>
          <p:cNvSpPr/>
          <p:nvPr/>
        </p:nvSpPr>
        <p:spPr>
          <a:xfrm>
            <a:off x="4641440" y="3137759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Users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71D9BC-9341-4810-BBA4-6D7D11DC143F}"/>
              </a:ext>
            </a:extLst>
          </p:cNvPr>
          <p:cNvSpPr/>
          <p:nvPr/>
        </p:nvSpPr>
        <p:spPr>
          <a:xfrm>
            <a:off x="6597240" y="3143644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Hostnames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078C2F-CD62-4579-A417-EC2D6A136EBE}"/>
              </a:ext>
            </a:extLst>
          </p:cNvPr>
          <p:cNvSpPr/>
          <p:nvPr/>
        </p:nvSpPr>
        <p:spPr>
          <a:xfrm>
            <a:off x="8553040" y="3137759"/>
            <a:ext cx="1841499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Internal Process Communication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0" name="Flowchart: Process 7">
            <a:extLst>
              <a:ext uri="{FF2B5EF4-FFF2-40B4-BE49-F238E27FC236}">
                <a16:creationId xmlns:a16="http://schemas.microsoft.com/office/drawing/2014/main" id="{F57168C5-CE84-47A2-B199-6F82CAE454DE}"/>
              </a:ext>
            </a:extLst>
          </p:cNvPr>
          <p:cNvSpPr/>
          <p:nvPr/>
        </p:nvSpPr>
        <p:spPr>
          <a:xfrm>
            <a:off x="4384324" y="3959660"/>
            <a:ext cx="6177138" cy="13002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65F8C0-48AB-4DD8-A919-C7605957E6F9}"/>
              </a:ext>
            </a:extLst>
          </p:cNvPr>
          <p:cNvSpPr/>
          <p:nvPr/>
        </p:nvSpPr>
        <p:spPr>
          <a:xfrm>
            <a:off x="4641441" y="4118383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Memory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95A7C0-1E5A-4BFC-A458-EE49C756D189}"/>
              </a:ext>
            </a:extLst>
          </p:cNvPr>
          <p:cNvSpPr/>
          <p:nvPr/>
        </p:nvSpPr>
        <p:spPr>
          <a:xfrm>
            <a:off x="6597241" y="4121777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 Usage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5D0F7C-C167-4A36-B811-6AD198C90EBE}"/>
              </a:ext>
            </a:extLst>
          </p:cNvPr>
          <p:cNvSpPr/>
          <p:nvPr/>
        </p:nvSpPr>
        <p:spPr>
          <a:xfrm>
            <a:off x="8553041" y="4125171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HD I/O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62BEE0-0CE8-4099-922D-7EF85861B1E6}"/>
              </a:ext>
            </a:extLst>
          </p:cNvPr>
          <p:cNvSpPr/>
          <p:nvPr/>
        </p:nvSpPr>
        <p:spPr>
          <a:xfrm>
            <a:off x="4641440" y="4689143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 Bandwidth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850EB8C-CD35-45A7-96A3-2B506AAC4245}"/>
              </a:ext>
            </a:extLst>
          </p:cNvPr>
          <p:cNvSpPr/>
          <p:nvPr/>
        </p:nvSpPr>
        <p:spPr>
          <a:xfrm>
            <a:off x="1224952" y="2803148"/>
            <a:ext cx="2246529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bg1"/>
                </a:solidFill>
              </a:rPr>
              <a:t>Namespacing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154B76-55AF-4B64-B7D0-D88BABE305C1}"/>
              </a:ext>
            </a:extLst>
          </p:cNvPr>
          <p:cNvCxnSpPr>
            <a:stCxn id="27" idx="3"/>
          </p:cNvCxnSpPr>
          <p:nvPr/>
        </p:nvCxnSpPr>
        <p:spPr>
          <a:xfrm flipV="1">
            <a:off x="3471481" y="3137758"/>
            <a:ext cx="912843" cy="1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9DC8B1-5C5A-45DA-8D41-E1A33B0CB9AC}"/>
              </a:ext>
            </a:extLst>
          </p:cNvPr>
          <p:cNvCxnSpPr/>
          <p:nvPr/>
        </p:nvCxnSpPr>
        <p:spPr>
          <a:xfrm flipV="1">
            <a:off x="3473671" y="4605321"/>
            <a:ext cx="912843" cy="1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8533D0F-4E87-4F2F-9629-5D013E764D5A}"/>
              </a:ext>
            </a:extLst>
          </p:cNvPr>
          <p:cNvSpPr txBox="1"/>
          <p:nvPr/>
        </p:nvSpPr>
        <p:spPr>
          <a:xfrm>
            <a:off x="1221297" y="3482253"/>
            <a:ext cx="2395755" cy="46211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 dirty="0"/>
              <a:t>Isolating resources per process (or group of processes)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D4BCF9-E6CB-457F-A7B4-1C929BD873C3}"/>
              </a:ext>
            </a:extLst>
          </p:cNvPr>
          <p:cNvSpPr txBox="1"/>
          <p:nvPr/>
        </p:nvSpPr>
        <p:spPr>
          <a:xfrm>
            <a:off x="1198387" y="4928790"/>
            <a:ext cx="2395755" cy="46211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/>
              <a:t>Limit amount of resources used per process</a:t>
            </a:r>
          </a:p>
        </p:txBody>
      </p:sp>
    </p:spTree>
    <p:extLst>
      <p:ext uri="{BB962C8B-B14F-4D97-AF65-F5344CB8AC3E}">
        <p14:creationId xmlns:p14="http://schemas.microsoft.com/office/powerpoint/2010/main" val="2077737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2BC325A-24F7-439A-9DCE-3D1D3056A25F}"/>
              </a:ext>
            </a:extLst>
          </p:cNvPr>
          <p:cNvSpPr/>
          <p:nvPr/>
        </p:nvSpPr>
        <p:spPr>
          <a:xfrm>
            <a:off x="1263523" y="1452966"/>
            <a:ext cx="4692851" cy="5076215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1774382" y="1984173"/>
            <a:ext cx="8353250" cy="12027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EA01B-69E3-4922-A6CA-FF2B11C6278D}"/>
              </a:ext>
            </a:extLst>
          </p:cNvPr>
          <p:cNvSpPr/>
          <p:nvPr/>
        </p:nvSpPr>
        <p:spPr>
          <a:xfrm>
            <a:off x="3919321" y="2351069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31B24-972A-44B8-8283-9BCB13C09593}"/>
              </a:ext>
            </a:extLst>
          </p:cNvPr>
          <p:cNvSpPr/>
          <p:nvPr/>
        </p:nvSpPr>
        <p:spPr>
          <a:xfrm>
            <a:off x="6456496" y="2326220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40FDA-7854-4E0D-BE3C-B6874F0C31B3}"/>
              </a:ext>
            </a:extLst>
          </p:cNvPr>
          <p:cNvSpPr txBox="1"/>
          <p:nvPr/>
        </p:nvSpPr>
        <p:spPr>
          <a:xfrm>
            <a:off x="4226630" y="2023569"/>
            <a:ext cx="1092863" cy="225126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rgbClr val="FF3300"/>
                </a:solidFill>
              </a:rPr>
              <a:t>Needs Java 1.8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8BCD27-921C-4344-A3A2-807755B8E6E4}"/>
              </a:ext>
            </a:extLst>
          </p:cNvPr>
          <p:cNvSpPr txBox="1"/>
          <p:nvPr/>
        </p:nvSpPr>
        <p:spPr>
          <a:xfrm>
            <a:off x="6787850" y="2023858"/>
            <a:ext cx="1044773" cy="225126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FF3300"/>
                </a:solidFill>
              </a:rPr>
              <a:t>Needs Java 21</a:t>
            </a: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426A6EF9-C20D-41C2-967A-3C213BD6C7EC}"/>
              </a:ext>
            </a:extLst>
          </p:cNvPr>
          <p:cNvSpPr/>
          <p:nvPr/>
        </p:nvSpPr>
        <p:spPr>
          <a:xfrm>
            <a:off x="1774382" y="5153649"/>
            <a:ext cx="8353250" cy="1214894"/>
          </a:xfrm>
          <a:prstGeom prst="flowChartProcess">
            <a:avLst/>
          </a:prstGeom>
          <a:solidFill>
            <a:srgbClr val="FEE7C6"/>
          </a:solidFill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Hard Disk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4011BCF-43E1-47AC-9196-38265A75F142}"/>
              </a:ext>
            </a:extLst>
          </p:cNvPr>
          <p:cNvSpPr/>
          <p:nvPr/>
        </p:nvSpPr>
        <p:spPr>
          <a:xfrm>
            <a:off x="3196899" y="3510101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7D0E6AB-FD45-4A3F-8748-0852432D130D}"/>
              </a:ext>
            </a:extLst>
          </p:cNvPr>
          <p:cNvSpPr/>
          <p:nvPr/>
        </p:nvSpPr>
        <p:spPr>
          <a:xfrm>
            <a:off x="6999530" y="3513541"/>
            <a:ext cx="1707483" cy="389489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 Call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6E70DA-3B1D-47A4-9AE8-F112921FD3D4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7851371" y="3183794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38C216-417F-41CE-B95B-FADB371B6B2E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851372" y="390303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 flipH="1">
            <a:off x="4047791" y="3899590"/>
            <a:ext cx="1900" cy="36683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8708A28-827C-47D6-A798-C16BC9C06220}"/>
              </a:ext>
            </a:extLst>
          </p:cNvPr>
          <p:cNvCxnSpPr>
            <a:cxnSpLocks/>
          </p:cNvCxnSpPr>
          <p:nvPr/>
        </p:nvCxnSpPr>
        <p:spPr>
          <a:xfrm>
            <a:off x="4047791" y="3167765"/>
            <a:ext cx="1901" cy="32974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1D23502-7565-4A51-B4FB-0E0E38C54379}"/>
              </a:ext>
            </a:extLst>
          </p:cNvPr>
          <p:cNvSpPr/>
          <p:nvPr/>
        </p:nvSpPr>
        <p:spPr>
          <a:xfrm>
            <a:off x="1774382" y="5153649"/>
            <a:ext cx="2226118" cy="726451"/>
          </a:xfrm>
          <a:prstGeom prst="rect">
            <a:avLst/>
          </a:prstGeom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20C2BB6-ADBA-4309-A102-7B95B3C11AE8}"/>
              </a:ext>
            </a:extLst>
          </p:cNvPr>
          <p:cNvSpPr/>
          <p:nvPr/>
        </p:nvSpPr>
        <p:spPr>
          <a:xfrm>
            <a:off x="2033699" y="5320997"/>
            <a:ext cx="1707483" cy="39175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1.8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167C3C-CE8F-42AF-A807-75E85258EDAD}"/>
              </a:ext>
            </a:extLst>
          </p:cNvPr>
          <p:cNvSpPr/>
          <p:nvPr/>
        </p:nvSpPr>
        <p:spPr>
          <a:xfrm>
            <a:off x="7901514" y="5153649"/>
            <a:ext cx="2226118" cy="726451"/>
          </a:xfrm>
          <a:prstGeom prst="rect">
            <a:avLst/>
          </a:prstGeom>
          <a:ln w="76200">
            <a:solidFill>
              <a:srgbClr val="FEE7C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8839C5-F46E-4A23-8C60-A0AD0B2DAD79}"/>
              </a:ext>
            </a:extLst>
          </p:cNvPr>
          <p:cNvSpPr/>
          <p:nvPr/>
        </p:nvSpPr>
        <p:spPr>
          <a:xfrm>
            <a:off x="8160831" y="5320997"/>
            <a:ext cx="1707483" cy="39175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B429-DD81-4E06-8592-03D58007FE0B}"/>
              </a:ext>
            </a:extLst>
          </p:cNvPr>
          <p:cNvSpPr txBox="1"/>
          <p:nvPr/>
        </p:nvSpPr>
        <p:spPr>
          <a:xfrm>
            <a:off x="2038600" y="4873737"/>
            <a:ext cx="1702582" cy="225126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/>
              <a:t>Segment for Java App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DF7278-621C-4676-BBCF-BA2EAB2C3601}"/>
              </a:ext>
            </a:extLst>
          </p:cNvPr>
          <p:cNvSpPr txBox="1"/>
          <p:nvPr/>
        </p:nvSpPr>
        <p:spPr>
          <a:xfrm>
            <a:off x="8165732" y="4873737"/>
            <a:ext cx="1702582" cy="225126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/>
              <a:t>Segment for Java App 2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1774382" y="4276296"/>
            <a:ext cx="8353250" cy="513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9CB042-46F8-4E77-9F70-9B1B8CB7BFB6}"/>
              </a:ext>
            </a:extLst>
          </p:cNvPr>
          <p:cNvCxnSpPr>
            <a:cxnSpLocks/>
          </p:cNvCxnSpPr>
          <p:nvPr/>
        </p:nvCxnSpPr>
        <p:spPr>
          <a:xfrm>
            <a:off x="5951005" y="4790256"/>
            <a:ext cx="0" cy="36040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3EBEE9E-DF52-4752-9CCD-92CF4DC16F71}"/>
              </a:ext>
            </a:extLst>
          </p:cNvPr>
          <p:cNvSpPr/>
          <p:nvPr/>
        </p:nvSpPr>
        <p:spPr>
          <a:xfrm>
            <a:off x="3903320" y="4331671"/>
            <a:ext cx="4095369" cy="37826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Which process is making the system call?</a:t>
            </a:r>
          </a:p>
        </p:txBody>
      </p:sp>
    </p:spTree>
    <p:extLst>
      <p:ext uri="{BB962C8B-B14F-4D97-AF65-F5344CB8AC3E}">
        <p14:creationId xmlns:p14="http://schemas.microsoft.com/office/powerpoint/2010/main" val="564043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28A842-246B-4585-8084-AA5F0EE6D3E1}"/>
              </a:ext>
            </a:extLst>
          </p:cNvPr>
          <p:cNvSpPr/>
          <p:nvPr/>
        </p:nvSpPr>
        <p:spPr>
          <a:xfrm>
            <a:off x="1263523" y="1452966"/>
            <a:ext cx="4692851" cy="5076215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1774382" y="1984173"/>
            <a:ext cx="3676250" cy="12027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EA01B-69E3-4922-A6CA-FF2B11C6278D}"/>
              </a:ext>
            </a:extLst>
          </p:cNvPr>
          <p:cNvSpPr/>
          <p:nvPr/>
        </p:nvSpPr>
        <p:spPr>
          <a:xfrm>
            <a:off x="2747547" y="2373503"/>
            <a:ext cx="1707483" cy="66922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Java App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40FDA-7854-4E0D-BE3C-B6874F0C31B3}"/>
              </a:ext>
            </a:extLst>
          </p:cNvPr>
          <p:cNvSpPr txBox="1"/>
          <p:nvPr/>
        </p:nvSpPr>
        <p:spPr>
          <a:xfrm>
            <a:off x="3075164" y="2042590"/>
            <a:ext cx="1092863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rgbClr val="FF3300"/>
                </a:solidFill>
              </a:rPr>
              <a:t>Needs Java 1.8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>
            <a:off x="3618743" y="3186916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1774382" y="3700876"/>
            <a:ext cx="835325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15E3AC-5983-42F2-A1E9-C2A15E29ECF8}"/>
              </a:ext>
            </a:extLst>
          </p:cNvPr>
          <p:cNvCxnSpPr>
            <a:cxnSpLocks/>
          </p:cNvCxnSpPr>
          <p:nvPr/>
        </p:nvCxnSpPr>
        <p:spPr>
          <a:xfrm>
            <a:off x="3603611" y="4596836"/>
            <a:ext cx="0" cy="56025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81D66-EE19-4F05-A7ED-F65AB00A0751}"/>
              </a:ext>
            </a:extLst>
          </p:cNvPr>
          <p:cNvSpPr/>
          <p:nvPr/>
        </p:nvSpPr>
        <p:spPr>
          <a:xfrm>
            <a:off x="1736282" y="5157579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Hard drive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B292B8-5C11-459B-AFB8-DFC182826993}"/>
              </a:ext>
            </a:extLst>
          </p:cNvPr>
          <p:cNvSpPr/>
          <p:nvPr/>
        </p:nvSpPr>
        <p:spPr>
          <a:xfrm>
            <a:off x="3692082" y="5160973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E256E63-6F66-4694-BDBA-84085D48530D}"/>
              </a:ext>
            </a:extLst>
          </p:cNvPr>
          <p:cNvSpPr/>
          <p:nvPr/>
        </p:nvSpPr>
        <p:spPr>
          <a:xfrm>
            <a:off x="1736282" y="5729148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B90E95-FEB3-415A-80B2-9AB11D914CC8}"/>
              </a:ext>
            </a:extLst>
          </p:cNvPr>
          <p:cNvSpPr/>
          <p:nvPr/>
        </p:nvSpPr>
        <p:spPr>
          <a:xfrm>
            <a:off x="3692082" y="5732542"/>
            <a:ext cx="1811571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282414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4EAB6FF-26E4-4963-9964-22AFEF2BDEFE}"/>
              </a:ext>
            </a:extLst>
          </p:cNvPr>
          <p:cNvSpPr/>
          <p:nvPr/>
        </p:nvSpPr>
        <p:spPr>
          <a:xfrm>
            <a:off x="5977467" y="1339626"/>
            <a:ext cx="5373158" cy="5320373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6346382" y="1830743"/>
            <a:ext cx="3676250" cy="135617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Running Process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8EEF8920-AFF6-419B-BC36-C044F1FCA760}"/>
              </a:ext>
            </a:extLst>
          </p:cNvPr>
          <p:cNvSpPr/>
          <p:nvPr/>
        </p:nvSpPr>
        <p:spPr>
          <a:xfrm>
            <a:off x="415737" y="2885756"/>
            <a:ext cx="5075147" cy="210444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4B5EC905-886F-45C9-8465-5E3D7AAD5B99}"/>
              </a:ext>
            </a:extLst>
          </p:cNvPr>
          <p:cNvSpPr/>
          <p:nvPr/>
        </p:nvSpPr>
        <p:spPr>
          <a:xfrm>
            <a:off x="3043337" y="39200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Startup Command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B9C7B34-6098-4965-A3B5-4B4C59975440}"/>
              </a:ext>
            </a:extLst>
          </p:cNvPr>
          <p:cNvSpPr/>
          <p:nvPr/>
        </p:nvSpPr>
        <p:spPr>
          <a:xfrm>
            <a:off x="635001" y="39200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EFA3AD-B22F-4DCE-A95E-590E1346FAF2}"/>
              </a:ext>
            </a:extLst>
          </p:cNvPr>
          <p:cNvSpPr/>
          <p:nvPr/>
        </p:nvSpPr>
        <p:spPr>
          <a:xfrm>
            <a:off x="770471" y="4371211"/>
            <a:ext cx="1879596" cy="3531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Java App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D2E46E-4085-4FEA-A8A7-31B6D7B86103}"/>
              </a:ext>
            </a:extLst>
          </p:cNvPr>
          <p:cNvSpPr/>
          <p:nvPr/>
        </p:nvSpPr>
        <p:spPr>
          <a:xfrm>
            <a:off x="3229782" y="4371211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java -jar App1.jar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18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Explained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6346382" y="3700876"/>
            <a:ext cx="572346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>
            <a:off x="8190743" y="3186916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81D66-EE19-4F05-A7ED-F65AB00A0751}"/>
              </a:ext>
            </a:extLst>
          </p:cNvPr>
          <p:cNvSpPr/>
          <p:nvPr/>
        </p:nvSpPr>
        <p:spPr>
          <a:xfrm>
            <a:off x="6288397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15E3AC-5983-42F2-A1E9-C2A15E29ECF8}"/>
              </a:ext>
            </a:extLst>
          </p:cNvPr>
          <p:cNvCxnSpPr>
            <a:cxnSpLocks/>
          </p:cNvCxnSpPr>
          <p:nvPr/>
        </p:nvCxnSpPr>
        <p:spPr>
          <a:xfrm>
            <a:off x="8175611" y="4596836"/>
            <a:ext cx="0" cy="34155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B292B8-5C11-459B-AFB8-DFC182826993}"/>
              </a:ext>
            </a:extLst>
          </p:cNvPr>
          <p:cNvSpPr/>
          <p:nvPr/>
        </p:nvSpPr>
        <p:spPr>
          <a:xfrm>
            <a:off x="7938559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E256E63-6F66-4694-BDBA-84085D48530D}"/>
              </a:ext>
            </a:extLst>
          </p:cNvPr>
          <p:cNvSpPr/>
          <p:nvPr/>
        </p:nvSpPr>
        <p:spPr>
          <a:xfrm>
            <a:off x="6288397" y="5561764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Hard drive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B90E95-FEB3-415A-80B2-9AB11D914CC8}"/>
              </a:ext>
            </a:extLst>
          </p:cNvPr>
          <p:cNvSpPr/>
          <p:nvPr/>
        </p:nvSpPr>
        <p:spPr>
          <a:xfrm>
            <a:off x="9588722" y="4980721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63F6483-D728-44E3-B703-32A63940A487}"/>
              </a:ext>
            </a:extLst>
          </p:cNvPr>
          <p:cNvSpPr/>
          <p:nvPr/>
        </p:nvSpPr>
        <p:spPr>
          <a:xfrm>
            <a:off x="635001" y="3041854"/>
            <a:ext cx="4660821" cy="769892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Image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E732E5A3-D68B-4BD3-A577-F0AC6F88B9C0}"/>
              </a:ext>
            </a:extLst>
          </p:cNvPr>
          <p:cNvSpPr/>
          <p:nvPr/>
        </p:nvSpPr>
        <p:spPr>
          <a:xfrm>
            <a:off x="3195737" y="40724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Startup Command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51075F-2142-4C92-B2AB-47DAD6AAEF06}"/>
              </a:ext>
            </a:extLst>
          </p:cNvPr>
          <p:cNvSpPr/>
          <p:nvPr/>
        </p:nvSpPr>
        <p:spPr>
          <a:xfrm>
            <a:off x="3382182" y="4523611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java -jar App1.jar</a:t>
            </a:r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A3265408-7706-4F20-9921-18DC60ECCA83}"/>
              </a:ext>
            </a:extLst>
          </p:cNvPr>
          <p:cNvSpPr/>
          <p:nvPr/>
        </p:nvSpPr>
        <p:spPr>
          <a:xfrm>
            <a:off x="787401" y="40724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60027B-A036-48EA-BE0A-4F4A6EEEB70F}"/>
              </a:ext>
            </a:extLst>
          </p:cNvPr>
          <p:cNvSpPr/>
          <p:nvPr/>
        </p:nvSpPr>
        <p:spPr>
          <a:xfrm>
            <a:off x="922871" y="4523611"/>
            <a:ext cx="1879596" cy="3531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Java App 1</a:t>
            </a:r>
          </a:p>
        </p:txBody>
      </p:sp>
    </p:spTree>
    <p:extLst>
      <p:ext uri="{BB962C8B-B14F-4D97-AF65-F5344CB8AC3E}">
        <p14:creationId xmlns:p14="http://schemas.microsoft.com/office/powerpoint/2010/main" val="270800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33333E-6 L -1.04167E-6 3.33333E-6 C 0.00208 3.33333E-6 0.0043 0.00023 0.00651 0.00092 C 0.01003 0.00208 0.01003 0.00324 0.01302 0.00463 C 0.01393 0.00486 0.01484 0.00532 0.01589 0.00555 C 0.01836 0.00671 0.01979 0.00671 0.0224 0.0081 C 0.02383 0.00879 0.02526 0.00972 0.02669 0.01018 C 0.02813 0.01088 0.02956 0.01111 0.03099 0.01157 C 0.03294 0.01227 0.0349 0.01319 0.03685 0.01389 C 0.03828 0.01458 0.03971 0.01458 0.04128 0.01504 C 0.0431 0.01574 0.04505 0.01666 0.04701 0.01736 C 0.04844 0.01805 0.05 0.01828 0.0513 0.01875 C 0.05352 0.01944 0.0556 0.02014 0.05781 0.02083 C 0.05977 0.02176 0.06172 0.02245 0.06367 0.02338 C 0.06706 0.02477 0.07096 0.02708 0.07448 0.02801 C 0.07643 0.0287 0.07839 0.02893 0.08034 0.02916 C 0.08958 0.03356 0.08138 0.02986 0.08971 0.03287 C 0.10117 0.03657 0.09167 0.03426 0.1013 0.03634 C 0.10352 0.0375 0.1056 0.03889 0.10781 0.03981 C 0.10938 0.04051 0.11081 0.04051 0.11211 0.04097 C 0.11302 0.0412 0.11367 0.04189 0.11432 0.04213 C 0.11628 0.04282 0.11823 0.04305 0.12018 0.04352 C 0.12513 0.0456 0.12643 0.04652 0.13177 0.04814 C 0.13346 0.04861 0.13516 0.04884 0.13685 0.04907 C 0.13906 0.05 0.14115 0.05092 0.14336 0.05162 C 0.14479 0.05208 0.14623 0.05231 0.14779 0.05277 C 0.14935 0.05347 0.15104 0.05463 0.15274 0.05509 C 0.15469 0.05578 0.15664 0.05578 0.15859 0.05625 C 0.17149 0.05949 0.16289 0.05787 0.1724 0.05972 C 0.18164 0.06203 0.175 0.05995 0.18542 0.06342 C 0.18659 0.06365 0.18789 0.06389 0.18906 0.06458 C 0.18971 0.06504 0.19037 0.06551 0.19128 0.06574 C 0.19232 0.0662 0.19349 0.06643 0.19479 0.06689 C 0.19623 0.06759 0.19766 0.06852 0.19909 0.06921 C 0.20104 0.07014 0.20313 0.07037 0.20495 0.07176 C 0.20625 0.07245 0.20729 0.07338 0.20859 0.07384 C 0.21094 0.075 0.21341 0.07546 0.21589 0.07639 C 0.2168 0.07685 0.21771 0.07708 0.21875 0.07754 C 0.21953 0.07801 0.22018 0.07824 0.22083 0.0787 C 0.22214 0.07916 0.22331 0.07939 0.22448 0.07986 C 0.22526 0.08032 0.22591 0.08078 0.22669 0.08102 C 0.22865 0.08194 0.23047 0.08287 0.23255 0.08333 L 0.23542 0.08449 C 0.23633 0.08541 0.23737 0.08634 0.23828 0.08703 C 0.23919 0.08773 0.24024 0.08773 0.24128 0.08796 C 0.24193 0.08865 0.24258 0.08981 0.24336 0.09051 C 0.24414 0.0912 0.24479 0.09143 0.24557 0.09166 C 0.2474 0.09259 0.24883 0.09305 0.25065 0.09398 C 0.25156 0.09467 0.25248 0.09583 0.25352 0.09652 C 0.25417 0.09699 0.25495 0.09722 0.2556 0.09768 C 0.2569 0.09838 0.25807 0.09907 0.25938 0.1 C 0.26133 0.10139 0.26198 0.10139 0.26432 0.10231 C 0.26563 0.10347 0.26667 0.10486 0.26797 0.10578 C 0.26901 0.10648 0.26992 0.10671 0.27083 0.10717 C 0.27917 0.10995 0.27031 0.10648 0.27734 0.10926 C 0.27839 0.11018 0.2793 0.11111 0.28034 0.1118 C 0.28125 0.1125 0.28229 0.1125 0.2832 0.11273 C 0.28399 0.11342 0.28464 0.11481 0.28542 0.11527 C 0.28737 0.11643 0.28932 0.1162 0.29128 0.11759 C 0.29219 0.11828 0.2931 0.11921 0.29414 0.1199 C 0.29531 0.12083 0.29649 0.12129 0.29779 0.12222 C 0.30378 0.12777 0.29727 0.12477 0.3043 0.12708 C 0.30521 0.12777 0.30625 0.12847 0.30716 0.12939 C 0.30846 0.13078 0.31185 0.13449 0.31367 0.13541 C 0.31875 0.13796 0.31576 0.13518 0.31953 0.1375 C 0.32357 0.14074 0.32136 0.14027 0.32669 0.14236 C 0.32761 0.14282 0.32865 0.14305 0.32956 0.14352 C 0.33034 0.14398 0.33112 0.14444 0.33177 0.14467 C 0.33359 0.1456 0.33763 0.14699 0.33763 0.14722 C 0.33828 0.14791 0.33893 0.14884 0.33971 0.14953 C 0.34089 0.15046 0.34375 0.15139 0.34479 0.15162 C 0.34557 0.15208 0.34623 0.15231 0.34701 0.15301 C 0.34779 0.1537 0.34831 0.15486 0.34909 0.15532 C 0.35052 0.15648 0.35208 0.15694 0.35352 0.15764 C 0.35352 0.15787 0.35781 0.16018 0.35781 0.16041 C 0.36302 0.16574 0.36055 0.16412 0.36511 0.16597 C 0.36862 0.16967 0.36641 0.16782 0.37175 0.17083 C 0.3724 0.17129 0.37318 0.17129 0.37383 0.17176 C 0.37995 0.1787 0.37214 0.1706 0.37826 0.17546 C 0.37943 0.17639 0.38047 0.17801 0.38177 0.17893 C 0.38307 0.18009 0.38477 0.18055 0.38607 0.18125 L 0.38828 0.1824 L 0.3905 0.18356 C 0.39362 0.18865 0.38998 0.18379 0.39623 0.18703 C 0.39714 0.1875 0.39766 0.18912 0.39844 0.18958 C 0.39987 0.19074 0.4013 0.19097 0.40274 0.19189 L 0.40716 0.19421 L 0.40938 0.1956 C 0.40977 0.19606 0.41016 0.19722 0.41081 0.19768 C 0.41081 0.19791 0.41615 0.20069 0.41732 0.20115 C 0.41797 0.20162 0.41888 0.20185 0.41953 0.20254 C 0.42018 0.20324 0.42083 0.20439 0.42175 0.20486 C 0.42305 0.20578 0.42448 0.20648 0.42604 0.20717 L 0.42826 0.20833 C 0.42865 0.20926 0.42904 0.21041 0.42956 0.21064 C 0.43307 0.21365 0.43516 0.21319 0.43906 0.21435 C 0.44375 0.21551 0.44024 0.21551 0.44349 0.21551 " pathEditMode="relative" rAng="0" ptsTypes="AAAAAAAAAAAAAAAAAAAAAAAAAAAAAAAAAAAAAAAAAAAAAAAAAAAAAAAAAAAAAAAAAAAAAAAAAAAAAAAAAAAAAAAAAAAAAAAAA">
                                      <p:cBhvr>
                                        <p:cTn id="1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74" y="1076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L -4.375E-6 3.33333E-6 C 0.00209 3.33333E-6 0.0043 0.00023 0.00651 0.00092 C 0.01003 0.00208 0.01003 0.00324 0.01303 0.00463 C 0.01394 0.00486 0.01485 0.00532 0.01589 0.00555 C 0.01836 0.00671 0.0198 0.00671 0.0224 0.0081 C 0.02383 0.00879 0.02526 0.00972 0.0267 0.01018 C 0.02813 0.01088 0.02956 0.01111 0.03099 0.01157 C 0.03295 0.01227 0.0349 0.01319 0.03685 0.01389 C 0.03829 0.01458 0.03972 0.01458 0.04128 0.01504 C 0.0431 0.01574 0.04506 0.01666 0.04701 0.01736 C 0.04844 0.01805 0.05 0.01828 0.05131 0.01875 C 0.05352 0.01944 0.0556 0.02014 0.05782 0.02083 C 0.05977 0.02176 0.06172 0.02245 0.06368 0.02338 C 0.06706 0.02477 0.07097 0.02708 0.07448 0.02801 C 0.07644 0.0287 0.07839 0.02893 0.08034 0.02916 C 0.08959 0.03356 0.08138 0.02986 0.08972 0.03287 C 0.10118 0.03657 0.09167 0.03426 0.10131 0.03634 C 0.10352 0.0375 0.1056 0.03889 0.10782 0.03981 C 0.10938 0.04051 0.11081 0.04051 0.11211 0.04097 C 0.11303 0.0412 0.11368 0.04189 0.11433 0.04213 C 0.11628 0.04282 0.11823 0.04305 0.12019 0.04352 C 0.12513 0.0456 0.12644 0.04652 0.13178 0.04814 C 0.13347 0.04861 0.13516 0.04884 0.13685 0.04907 C 0.13907 0.05 0.14115 0.05092 0.14336 0.05162 C 0.1448 0.05208 0.14623 0.05231 0.14779 0.05277 C 0.14935 0.05347 0.15105 0.05463 0.15274 0.05509 C 0.15469 0.05578 0.15665 0.05578 0.1586 0.05625 C 0.17149 0.05949 0.1629 0.05787 0.1724 0.05972 C 0.18165 0.06203 0.175 0.05995 0.18542 0.06342 C 0.18659 0.06365 0.1879 0.06389 0.18907 0.06458 C 0.18972 0.06504 0.19037 0.06551 0.19128 0.06574 C 0.19232 0.0662 0.19349 0.06643 0.1948 0.06689 C 0.19623 0.06759 0.19766 0.06852 0.19909 0.06921 C 0.20105 0.07014 0.20313 0.07037 0.20495 0.07176 C 0.20625 0.07245 0.2073 0.07338 0.2086 0.07384 C 0.21094 0.075 0.21342 0.07546 0.21589 0.07639 C 0.2168 0.07685 0.21771 0.07708 0.21875 0.07754 C 0.21954 0.07801 0.22019 0.07824 0.22084 0.0787 C 0.22214 0.07916 0.22331 0.07939 0.22448 0.07986 C 0.22526 0.08032 0.22592 0.08078 0.2267 0.08102 C 0.22865 0.08194 0.23047 0.08287 0.23256 0.08333 L 0.23542 0.08449 C 0.23633 0.08541 0.23737 0.08634 0.23829 0.08703 C 0.2392 0.08773 0.24024 0.08773 0.24128 0.08796 C 0.24193 0.08865 0.24258 0.08981 0.24336 0.09051 C 0.24415 0.0912 0.2448 0.09143 0.24558 0.09166 C 0.2474 0.09259 0.24883 0.09305 0.25066 0.09398 C 0.25157 0.09467 0.25248 0.09583 0.25352 0.09652 C 0.25417 0.09699 0.25495 0.09722 0.2556 0.09768 C 0.25691 0.09838 0.25808 0.09907 0.25938 0.1 C 0.26133 0.10139 0.26198 0.10139 0.26433 0.10231 C 0.26563 0.10347 0.26667 0.10486 0.26797 0.10578 C 0.26901 0.10648 0.26993 0.10671 0.27084 0.10717 C 0.27917 0.10995 0.27032 0.10648 0.27735 0.10926 C 0.27839 0.11018 0.2793 0.11111 0.28034 0.1118 C 0.28125 0.1125 0.2823 0.1125 0.28321 0.11273 C 0.28399 0.11342 0.28464 0.11481 0.28542 0.11527 C 0.28737 0.11643 0.28933 0.1162 0.29128 0.11759 C 0.29219 0.11828 0.2931 0.11921 0.29415 0.1199 C 0.29532 0.12083 0.29649 0.12129 0.29779 0.12222 C 0.30378 0.12777 0.29727 0.12477 0.3043 0.12708 C 0.30521 0.12777 0.30625 0.12847 0.30717 0.12939 C 0.30847 0.13078 0.31185 0.13449 0.31368 0.13541 C 0.31875 0.13796 0.31576 0.13518 0.31954 0.1375 C 0.32357 0.14074 0.32136 0.14027 0.3267 0.14236 C 0.32761 0.14282 0.32865 0.14305 0.32956 0.14352 C 0.33034 0.14398 0.33112 0.14444 0.33178 0.14467 C 0.3336 0.1456 0.33763 0.14699 0.33763 0.14722 C 0.33829 0.14791 0.33894 0.14884 0.33972 0.14953 C 0.34089 0.15046 0.34375 0.15139 0.3448 0.15162 C 0.34558 0.15208 0.34623 0.15231 0.34701 0.15301 C 0.34779 0.1537 0.34831 0.15486 0.34909 0.15532 C 0.35053 0.15648 0.35209 0.15694 0.35352 0.15764 C 0.35352 0.15787 0.35782 0.16018 0.35782 0.16041 C 0.36303 0.16574 0.36055 0.16412 0.36511 0.16597 C 0.36862 0.16967 0.36641 0.16782 0.37175 0.17083 C 0.3724 0.17129 0.37318 0.17129 0.37383 0.17176 C 0.37995 0.1787 0.37214 0.1706 0.37826 0.17546 C 0.37943 0.17639 0.38047 0.17801 0.38178 0.17893 C 0.38308 0.18009 0.38477 0.18055 0.38607 0.18125 L 0.38829 0.1824 L 0.3905 0.18356 C 0.39362 0.18865 0.38998 0.18379 0.39623 0.18703 C 0.39714 0.1875 0.39766 0.18912 0.39844 0.18958 C 0.39987 0.19074 0.40131 0.19097 0.40274 0.19189 L 0.40717 0.19421 L 0.40938 0.1956 C 0.40977 0.19606 0.41016 0.19722 0.41081 0.19768 C 0.41081 0.19791 0.41615 0.20069 0.41732 0.20115 C 0.41797 0.20162 0.41888 0.20185 0.41954 0.20254 C 0.42019 0.20324 0.42084 0.20439 0.42175 0.20486 C 0.42305 0.20578 0.42448 0.20648 0.42605 0.20717 L 0.42826 0.20833 C 0.42865 0.20926 0.42904 0.21041 0.42956 0.21064 C 0.43308 0.21365 0.43516 0.21319 0.43907 0.21435 C 0.44375 0.21551 0.44024 0.21551 0.44349 0.21551 " pathEditMode="relative" rAng="0" ptsTypes="AAAAAAAAAAAAAAAAAAAAAAAAAAAAAAAAAAAAAAAAAAAAAAAAAAAAAAAAAAAAAAAAAAAAAAAAAAAAAAAAAAAAAAAAAAAAAAAAA">
                                      <p:cBhvr>
                                        <p:cTn id="2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74" y="1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56 -0.00208 0.00313 -0.0044 0.00482 -0.00625 C 0.00547 -0.00694 0.00625 -0.00671 0.0069 -0.0074 C 0.00794 -0.00879 0.00859 -0.01111 0.00964 -0.0125 C 0.01185 -0.01527 0.01432 -0.01713 0.01667 -0.0199 C 0.01797 -0.02152 0.01927 -0.02338 0.02083 -0.02477 C 0.02227 -0.02639 0.02409 -0.02708 0.02565 -0.02847 C 0.02852 -0.03125 0.03138 -0.03379 0.03399 -0.03703 C 0.0349 -0.03842 0.03568 -0.04004 0.03672 -0.04074 C 0.03763 -0.04166 0.03854 -0.04166 0.03958 -0.04213 C 0.04167 -0.04606 0.04193 -0.04699 0.04505 -0.04953 C 0.04636 -0.05046 0.04792 -0.05115 0.04922 -0.05185 C 0.05104 -0.05324 0.053 -0.0544 0.05482 -0.05555 C 0.05638 -0.05694 0.05807 -0.0581 0.05964 -0.05926 C 0.06107 -0.06041 0.06237 -0.06203 0.0638 -0.06296 C 0.06537 -0.06412 0.06706 -0.06458 0.06875 -0.06551 C 0.07018 -0.06643 0.07136 -0.06828 0.07292 -0.06921 C 0.07487 -0.0706 0.07708 -0.07152 0.07917 -0.07291 C 0.08737 -0.07893 0.08177 -0.07662 0.08958 -0.08148 C 0.09323 -0.08402 0.09505 -0.08379 0.09857 -0.08657 C 0.10039 -0.08796 0.10221 -0.09004 0.10417 -0.09143 C 0.10573 -0.09259 0.10729 -0.09305 0.10899 -0.09398 C 0.11628 -0.09791 0.11029 -0.09514 0.11589 -0.09768 C 0.1168 -0.09838 0.11771 -0.09953 0.11875 -0.1 C 0.1207 -0.10162 0.12292 -0.10208 0.125 -0.1037 C 0.13034 -0.10856 0.12761 -0.10717 0.13333 -0.10879 C 0.1349 -0.10995 0.13646 -0.11157 0.13815 -0.1125 C 0.13919 -0.11319 0.1405 -0.11296 0.14167 -0.11365 C 0.14258 -0.11435 0.14349 -0.11551 0.1444 -0.1162 C 0.14557 -0.11713 0.14675 -0.11782 0.14792 -0.11852 C 0.14922 -0.11967 0.15052 -0.12129 0.15208 -0.12222 C 0.15313 -0.12315 0.1543 -0.12315 0.15547 -0.12361 C 0.1569 -0.12477 0.1582 -0.12615 0.15964 -0.12731 C 0.1612 -0.12824 0.16537 -0.1294 0.16667 -0.12963 C 0.17331 -0.13565 0.17018 -0.13333 0.17565 -0.13703 C 0.178 -0.14143 0.17591 -0.13819 0.17917 -0.14074 C 0.18047 -0.1419 0.1819 -0.14352 0.18333 -0.14444 C 0.18503 -0.14583 0.18698 -0.14676 0.1888 -0.14815 C 0.1957 -0.15347 0.19024 -0.15092 0.19649 -0.15324 C 0.19779 -0.15555 0.19818 -0.15648 0.2 -0.1581 C 0.20065 -0.15879 0.2013 -0.15879 0.20208 -0.15926 C 0.20443 -0.16134 0.20664 -0.16342 0.20899 -0.16551 L 0.20899 -0.16551 C 0.21784 -0.175 0.20664 -0.16365 0.21667 -0.17176 C 0.21784 -0.17268 0.21888 -0.1743 0.22005 -0.17546 C 0.22188 -0.17708 0.22383 -0.17847 0.22565 -0.18032 C 0.228 -0.18287 0.22995 -0.18634 0.23255 -0.18773 L 0.23672 -0.19027 C 0.23802 -0.19259 0.23841 -0.19352 0.24024 -0.19514 C 0.24089 -0.19583 0.24167 -0.19583 0.24232 -0.19629 C 0.24323 -0.19722 0.24414 -0.19791 0.24505 -0.19884 C 0.24583 -0.19953 0.24636 -0.20069 0.24714 -0.20139 C 0.24779 -0.20185 0.24857 -0.20185 0.24922 -0.20254 C 0.25065 -0.20393 0.25182 -0.20648 0.25339 -0.2074 C 0.25482 -0.20833 0.25638 -0.20856 0.25755 -0.20995 C 0.26237 -0.21574 0.26016 -0.21389 0.2638 -0.2162 C 0.26524 -0.21782 0.26641 -0.22014 0.26797 -0.22106 C 0.26875 -0.22152 0.2694 -0.22176 0.27005 -0.22222 C 0.27149 -0.22384 0.27305 -0.22523 0.27422 -0.22731 C 0.27474 -0.22801 0.27513 -0.22916 0.27565 -0.22963 C 0.2763 -0.23032 0.27695 -0.23055 0.27774 -0.23102 C 0.27839 -0.23171 0.27904 -0.23287 0.27982 -0.23333 C 0.28047 -0.23402 0.28125 -0.23402 0.2819 -0.23472 C 0.28242 -0.23518 0.28268 -0.23657 0.28333 -0.23703 C 0.28464 -0.23842 0.2862 -0.23819 0.2875 -0.23958 C 0.28815 -0.24051 0.2888 -0.2412 0.28958 -0.24213 C 0.28998 -0.24282 0.29037 -0.24398 0.29089 -0.24444 C 0.29154 -0.24514 0.29232 -0.24537 0.29297 -0.24583 C 0.29427 -0.24815 0.29466 -0.24907 0.29649 -0.25069 C 0.29714 -0.25139 0.29779 -0.25162 0.29857 -0.25185 C 0.30195 -0.25787 0.29766 -0.25069 0.30208 -0.25694 C 0.3069 -0.26389 0.29909 -0.25416 0.30547 -0.2618 C 0.30703 -0.2699 0.30495 -0.26203 0.30833 -0.26666 C 0.31107 -0.27083 0.30846 -0.27037 0.31042 -0.27037 " pathEditMode="relative" ptsTypes="AAAAAAAAAAAAAAAAAAAAAAAAAAAAAAAAAAAAAAAAAAAAAAAAAAAAAAAAAAAAAAAAAAAAAAAAAAA">
                                      <p:cBhvr>
                                        <p:cTn id="3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56 -0.00208 0.00313 -0.0044 0.00482 -0.00625 C 0.00547 -0.00694 0.00625 -0.00671 0.0069 -0.0074 C 0.00794 -0.00879 0.00859 -0.01111 0.00964 -0.0125 C 0.01185 -0.01527 0.01432 -0.01713 0.01667 -0.0199 C 0.01797 -0.02152 0.01927 -0.02338 0.02083 -0.02477 C 0.02227 -0.02639 0.02409 -0.02708 0.02565 -0.02847 C 0.02852 -0.03125 0.03138 -0.03379 0.03399 -0.03703 C 0.0349 -0.03842 0.03568 -0.04004 0.03672 -0.04074 C 0.03763 -0.04166 0.03854 -0.04166 0.03958 -0.04213 C 0.04167 -0.04606 0.04193 -0.04699 0.04505 -0.04953 C 0.04636 -0.05046 0.04792 -0.05115 0.04922 -0.05185 C 0.05104 -0.05324 0.053 -0.0544 0.05482 -0.05555 C 0.05638 -0.05694 0.05807 -0.0581 0.05964 -0.05926 C 0.06107 -0.06041 0.06237 -0.06203 0.0638 -0.06296 C 0.06537 -0.06412 0.06706 -0.06458 0.06875 -0.06551 C 0.07018 -0.06643 0.07136 -0.06828 0.07292 -0.06921 C 0.07487 -0.0706 0.07708 -0.07152 0.07917 -0.07291 C 0.08737 -0.07893 0.08177 -0.07662 0.08958 -0.08148 C 0.09323 -0.08402 0.09505 -0.08379 0.09857 -0.08657 C 0.10039 -0.08796 0.10221 -0.09004 0.10417 -0.09143 C 0.10573 -0.09259 0.10729 -0.09305 0.10899 -0.09398 C 0.11628 -0.09791 0.11029 -0.09514 0.11589 -0.09768 C 0.1168 -0.09838 0.11771 -0.09953 0.11875 -0.1 C 0.1207 -0.10162 0.12292 -0.10208 0.125 -0.1037 C 0.13034 -0.10856 0.12761 -0.10717 0.13333 -0.10879 C 0.1349 -0.10995 0.13646 -0.11157 0.13815 -0.1125 C 0.13919 -0.11319 0.1405 -0.11296 0.14167 -0.11365 C 0.14258 -0.11435 0.14349 -0.11551 0.1444 -0.1162 C 0.14557 -0.11713 0.14675 -0.11782 0.14792 -0.11852 C 0.14922 -0.11967 0.15052 -0.12129 0.15208 -0.12222 C 0.15313 -0.12315 0.1543 -0.12315 0.15547 -0.12361 C 0.1569 -0.12477 0.1582 -0.12615 0.15964 -0.12731 C 0.1612 -0.12824 0.16537 -0.1294 0.16667 -0.12963 C 0.17331 -0.13565 0.17018 -0.13333 0.17565 -0.13703 C 0.178 -0.14143 0.17591 -0.13819 0.17917 -0.14074 C 0.18047 -0.1419 0.1819 -0.14352 0.18333 -0.14444 C 0.18503 -0.14583 0.18698 -0.14676 0.1888 -0.14815 C 0.1957 -0.15347 0.19024 -0.15092 0.19649 -0.15324 C 0.19779 -0.15555 0.19818 -0.15648 0.2 -0.1581 C 0.20065 -0.15879 0.2013 -0.15879 0.20208 -0.15926 C 0.20443 -0.16134 0.20664 -0.16342 0.20899 -0.16551 L 0.20899 -0.16551 C 0.21784 -0.175 0.20664 -0.16365 0.21667 -0.17176 C 0.21784 -0.17268 0.21888 -0.1743 0.22005 -0.17546 C 0.22188 -0.17708 0.22383 -0.17847 0.22565 -0.18032 C 0.228 -0.18287 0.22995 -0.18634 0.23255 -0.18773 L 0.23672 -0.19027 C 0.23802 -0.19259 0.23841 -0.19352 0.24024 -0.19514 C 0.24089 -0.19583 0.24167 -0.19583 0.24232 -0.19629 C 0.24323 -0.19722 0.24414 -0.19791 0.24505 -0.19884 C 0.24583 -0.19953 0.24636 -0.20069 0.24714 -0.20139 C 0.24779 -0.20185 0.24857 -0.20185 0.24922 -0.20254 C 0.25065 -0.20393 0.25182 -0.20648 0.25339 -0.2074 C 0.25482 -0.20833 0.25638 -0.20856 0.25755 -0.20995 C 0.26237 -0.21574 0.26016 -0.21389 0.2638 -0.2162 C 0.26524 -0.21782 0.26641 -0.22014 0.26797 -0.22106 C 0.26875 -0.22152 0.2694 -0.22176 0.27005 -0.22222 C 0.27149 -0.22384 0.27305 -0.22523 0.27422 -0.22731 C 0.27474 -0.22801 0.27513 -0.22916 0.27565 -0.22963 C 0.2763 -0.23032 0.27695 -0.23055 0.27774 -0.23102 C 0.27839 -0.23171 0.27904 -0.23287 0.27982 -0.23333 C 0.28047 -0.23402 0.28125 -0.23402 0.2819 -0.23472 C 0.28242 -0.23518 0.28268 -0.23657 0.28333 -0.23703 C 0.28464 -0.23842 0.2862 -0.23819 0.2875 -0.23958 C 0.28815 -0.24051 0.2888 -0.2412 0.28958 -0.24213 C 0.28998 -0.24282 0.29037 -0.24398 0.29089 -0.24444 C 0.29154 -0.24514 0.29232 -0.24537 0.29297 -0.24583 C 0.29427 -0.24815 0.29466 -0.24907 0.29649 -0.25069 C 0.29714 -0.25139 0.29779 -0.25162 0.29857 -0.25185 C 0.30195 -0.25787 0.29766 -0.25069 0.30208 -0.25694 C 0.3069 -0.26389 0.29909 -0.25416 0.30547 -0.2618 C 0.30703 -0.2699 0.30495 -0.26203 0.30833 -0.26666 C 0.31107 -0.27083 0.30846 -0.27037 0.31042 -0.27037 " pathEditMode="relative" ptsTypes="AAAAAAAAAAAAAAAAAAAAAAAAAAAAAAAAAAAAAAAAAAAAAAAAAAAAAAAAAAAAAAAAAAAAAAAAAAA">
                                      <p:cBhvr>
                                        <p:cTn id="3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5" grpId="0" animBg="1"/>
      <p:bldP spid="35" grpId="1" animBg="1"/>
      <p:bldP spid="36" grpId="0" animBg="1"/>
      <p:bldP spid="36" grpId="1" animBg="1"/>
      <p:bldP spid="30" grpId="0" animBg="1"/>
      <p:bldP spid="30" grpId="1" animBg="1"/>
      <p:bldP spid="34" grpId="0" animBg="1"/>
      <p:bldP spid="3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19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Default Command Override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DD9CA-D94F-4883-B471-93E05DCC7350}"/>
              </a:ext>
            </a:extLst>
          </p:cNvPr>
          <p:cNvSpPr/>
          <p:nvPr/>
        </p:nvSpPr>
        <p:spPr>
          <a:xfrm>
            <a:off x="773641" y="2370489"/>
            <a:ext cx="3552825" cy="355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PS C:\Users\molnare&gt; docker run hello-world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53C17-698B-484D-8C97-815C1146A3A0}"/>
              </a:ext>
            </a:extLst>
          </p:cNvPr>
          <p:cNvSpPr/>
          <p:nvPr/>
        </p:nvSpPr>
        <p:spPr>
          <a:xfrm>
            <a:off x="1953088" y="3396189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9399F-3FD0-4FA3-AB97-3CBBD1EF51FF}"/>
              </a:ext>
            </a:extLst>
          </p:cNvPr>
          <p:cNvSpPr/>
          <p:nvPr/>
        </p:nvSpPr>
        <p:spPr>
          <a:xfrm>
            <a:off x="3950563" y="3396189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DFB50-26E0-4179-B94E-05AA86F37254}"/>
              </a:ext>
            </a:extLst>
          </p:cNvPr>
          <p:cNvSpPr/>
          <p:nvPr/>
        </p:nvSpPr>
        <p:spPr>
          <a:xfrm>
            <a:off x="5948038" y="3396189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&lt;image name&gt;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6517D7-31B6-49B9-81CC-8A1D3937E171}"/>
              </a:ext>
            </a:extLst>
          </p:cNvPr>
          <p:cNvSpPr/>
          <p:nvPr/>
        </p:nvSpPr>
        <p:spPr>
          <a:xfrm>
            <a:off x="7945513" y="3396189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command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2C2FA-1C7D-438B-A859-7895003A7963}"/>
              </a:ext>
            </a:extLst>
          </p:cNvPr>
          <p:cNvSpPr txBox="1"/>
          <p:nvPr/>
        </p:nvSpPr>
        <p:spPr>
          <a:xfrm>
            <a:off x="2107363" y="4290035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3B2EE-FB84-4DD6-820F-09ACCC56FCDC}"/>
              </a:ext>
            </a:extLst>
          </p:cNvPr>
          <p:cNvSpPr txBox="1"/>
          <p:nvPr/>
        </p:nvSpPr>
        <p:spPr>
          <a:xfrm>
            <a:off x="4125354" y="2849818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Create and run a container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575B0-0B40-4BC6-8B43-143D70EB8CE2}"/>
              </a:ext>
            </a:extLst>
          </p:cNvPr>
          <p:cNvSpPr txBox="1"/>
          <p:nvPr/>
        </p:nvSpPr>
        <p:spPr>
          <a:xfrm>
            <a:off x="6096000" y="4290035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Image to use for the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B53662-86DD-4A72-A29B-3CDA32677D0A}"/>
              </a:ext>
            </a:extLst>
          </p:cNvPr>
          <p:cNvSpPr txBox="1"/>
          <p:nvPr/>
        </p:nvSpPr>
        <p:spPr>
          <a:xfrm>
            <a:off x="8120304" y="2848687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Override default command</a:t>
            </a:r>
          </a:p>
        </p:txBody>
      </p:sp>
    </p:spTree>
    <p:extLst>
      <p:ext uri="{BB962C8B-B14F-4D97-AF65-F5344CB8AC3E}">
        <p14:creationId xmlns:p14="http://schemas.microsoft.com/office/powerpoint/2010/main" val="2278502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7D06D-50B6-4960-BB60-3A6984F6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F8CEF-0ECF-4E91-8AD4-E04F377F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FE3F6F-B39D-4C99-8950-31995A8AD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Default Command Override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70646C-DD60-403E-8B04-024A62829A6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53AA7-64A4-4471-9372-12B3CE4366A5}"/>
              </a:ext>
            </a:extLst>
          </p:cNvPr>
          <p:cNvSpPr/>
          <p:nvPr/>
        </p:nvSpPr>
        <p:spPr>
          <a:xfrm>
            <a:off x="394204" y="1713542"/>
            <a:ext cx="11494008" cy="777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 echo hi there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hi there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B91E8C-7296-444B-A5A4-463EB302F9EE}"/>
              </a:ext>
            </a:extLst>
          </p:cNvPr>
          <p:cNvSpPr/>
          <p:nvPr/>
        </p:nvSpPr>
        <p:spPr>
          <a:xfrm>
            <a:off x="394204" y="2619573"/>
            <a:ext cx="11494008" cy="777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 echo bye there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bye there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DDAC9C-167C-4863-B7B6-742E243A1126}"/>
              </a:ext>
            </a:extLst>
          </p:cNvPr>
          <p:cNvSpPr/>
          <p:nvPr/>
        </p:nvSpPr>
        <p:spPr>
          <a:xfrm>
            <a:off x="394204" y="3565246"/>
            <a:ext cx="11494008" cy="2768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 ls</a:t>
            </a:r>
            <a:b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</a:b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bin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dev</a:t>
            </a:r>
          </a:p>
          <a:p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etc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home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root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sys</a:t>
            </a:r>
          </a:p>
          <a:p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tmp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usr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var</a:t>
            </a:r>
          </a:p>
        </p:txBody>
      </p:sp>
    </p:spTree>
    <p:extLst>
      <p:ext uri="{BB962C8B-B14F-4D97-AF65-F5344CB8AC3E}">
        <p14:creationId xmlns:p14="http://schemas.microsoft.com/office/powerpoint/2010/main" val="1572738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AE2FE502-5BF5-42F3-06E6-1FD34FC4F8FF}"/>
              </a:ext>
            </a:extLst>
          </p:cNvPr>
          <p:cNvSpPr txBox="1"/>
          <p:nvPr/>
        </p:nvSpPr>
        <p:spPr>
          <a:xfrm>
            <a:off x="406654" y="5232983"/>
            <a:ext cx="4076116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…unless we overwrite it’s default command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4C5A97-483E-47A2-B8E3-9C3EBBB42FB1}"/>
              </a:ext>
            </a:extLst>
          </p:cNvPr>
          <p:cNvSpPr/>
          <p:nvPr/>
        </p:nvSpPr>
        <p:spPr>
          <a:xfrm>
            <a:off x="5977467" y="1339626"/>
            <a:ext cx="5373158" cy="5320373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B27B0579-4238-4E44-9A9E-134B676F827C}" type="slidenum">
              <a:rPr lang="de-DE" smtClean="0"/>
              <a:t>21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Default Command Override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6346382" y="1830743"/>
            <a:ext cx="3676250" cy="135617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Running Process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>
            <a:off x="8190743" y="3186916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6346382" y="3700876"/>
            <a:ext cx="572346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15E3AC-5983-42F2-A1E9-C2A15E29ECF8}"/>
              </a:ext>
            </a:extLst>
          </p:cNvPr>
          <p:cNvCxnSpPr>
            <a:cxnSpLocks/>
          </p:cNvCxnSpPr>
          <p:nvPr/>
        </p:nvCxnSpPr>
        <p:spPr>
          <a:xfrm>
            <a:off x="8175611" y="4596836"/>
            <a:ext cx="0" cy="34155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81D66-EE19-4F05-A7ED-F65AB00A0751}"/>
              </a:ext>
            </a:extLst>
          </p:cNvPr>
          <p:cNvSpPr/>
          <p:nvPr/>
        </p:nvSpPr>
        <p:spPr>
          <a:xfrm>
            <a:off x="6288397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B292B8-5C11-459B-AFB8-DFC182826993}"/>
              </a:ext>
            </a:extLst>
          </p:cNvPr>
          <p:cNvSpPr/>
          <p:nvPr/>
        </p:nvSpPr>
        <p:spPr>
          <a:xfrm>
            <a:off x="7938559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B90E95-FEB3-415A-80B2-9AB11D914CC8}"/>
              </a:ext>
            </a:extLst>
          </p:cNvPr>
          <p:cNvSpPr/>
          <p:nvPr/>
        </p:nvSpPr>
        <p:spPr>
          <a:xfrm>
            <a:off x="9588722" y="4980721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8EEF8920-AFF6-419B-BC36-C044F1FCA760}"/>
              </a:ext>
            </a:extLst>
          </p:cNvPr>
          <p:cNvSpPr/>
          <p:nvPr/>
        </p:nvSpPr>
        <p:spPr>
          <a:xfrm>
            <a:off x="415737" y="2885756"/>
            <a:ext cx="5075147" cy="210444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B9C7B34-6098-4965-A3B5-4B4C59975440}"/>
              </a:ext>
            </a:extLst>
          </p:cNvPr>
          <p:cNvSpPr/>
          <p:nvPr/>
        </p:nvSpPr>
        <p:spPr>
          <a:xfrm>
            <a:off x="635001" y="39200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4B5EC905-886F-45C9-8465-5E3D7AAD5B99}"/>
              </a:ext>
            </a:extLst>
          </p:cNvPr>
          <p:cNvSpPr/>
          <p:nvPr/>
        </p:nvSpPr>
        <p:spPr>
          <a:xfrm>
            <a:off x="3043337" y="39200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Startup Command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EFA3AD-B22F-4DCE-A95E-590E1346FAF2}"/>
              </a:ext>
            </a:extLst>
          </p:cNvPr>
          <p:cNvSpPr/>
          <p:nvPr/>
        </p:nvSpPr>
        <p:spPr>
          <a:xfrm>
            <a:off x="747265" y="42856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D2E46E-4085-4FEA-A8A7-31B6D7B86103}"/>
              </a:ext>
            </a:extLst>
          </p:cNvPr>
          <p:cNvSpPr/>
          <p:nvPr/>
        </p:nvSpPr>
        <p:spPr>
          <a:xfrm>
            <a:off x="3229782" y="4371211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sh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51E313-EC30-42CE-B70B-7E5DC53395BD}"/>
              </a:ext>
            </a:extLst>
          </p:cNvPr>
          <p:cNvSpPr/>
          <p:nvPr/>
        </p:nvSpPr>
        <p:spPr>
          <a:xfrm>
            <a:off x="7210637" y="2183809"/>
            <a:ext cx="1997475" cy="861134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sh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B60991-9EAD-4C91-BB44-CB70DE003CA1}"/>
              </a:ext>
            </a:extLst>
          </p:cNvPr>
          <p:cNvSpPr/>
          <p:nvPr/>
        </p:nvSpPr>
        <p:spPr>
          <a:xfrm>
            <a:off x="747264" y="45601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C2E668-D612-4E9B-B84B-4E40CFE70AC6}"/>
              </a:ext>
            </a:extLst>
          </p:cNvPr>
          <p:cNvSpPr/>
          <p:nvPr/>
        </p:nvSpPr>
        <p:spPr>
          <a:xfrm>
            <a:off x="1438204" y="42856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18D3AAD-BBB1-43D1-BBD5-170DB6EB39CB}"/>
              </a:ext>
            </a:extLst>
          </p:cNvPr>
          <p:cNvSpPr/>
          <p:nvPr/>
        </p:nvSpPr>
        <p:spPr>
          <a:xfrm>
            <a:off x="1438203" y="45601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A63094-8DC6-4626-869E-7E94AFFE8376}"/>
              </a:ext>
            </a:extLst>
          </p:cNvPr>
          <p:cNvSpPr/>
          <p:nvPr/>
        </p:nvSpPr>
        <p:spPr>
          <a:xfrm>
            <a:off x="2131023" y="42856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099613-112A-4124-A8C0-59B0D695D4BC}"/>
              </a:ext>
            </a:extLst>
          </p:cNvPr>
          <p:cNvSpPr/>
          <p:nvPr/>
        </p:nvSpPr>
        <p:spPr>
          <a:xfrm>
            <a:off x="2131022" y="45601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A3344C-5EE3-7799-4E55-A10F60BA211E}"/>
              </a:ext>
            </a:extLst>
          </p:cNvPr>
          <p:cNvGrpSpPr/>
          <p:nvPr/>
        </p:nvGrpSpPr>
        <p:grpSpPr>
          <a:xfrm>
            <a:off x="6096000" y="5563500"/>
            <a:ext cx="2252486" cy="914699"/>
            <a:chOff x="2898424" y="5403602"/>
            <a:chExt cx="2252486" cy="914699"/>
          </a:xfrm>
        </p:grpSpPr>
        <p:sp>
          <p:nvSpPr>
            <p:cNvPr id="43" name="Flowchart: Process 42">
              <a:extLst>
                <a:ext uri="{FF2B5EF4-FFF2-40B4-BE49-F238E27FC236}">
                  <a16:creationId xmlns:a16="http://schemas.microsoft.com/office/drawing/2014/main" id="{7A4B02D0-5F01-4FBF-9196-60F20FC583D4}"/>
                </a:ext>
              </a:extLst>
            </p:cNvPr>
            <p:cNvSpPr/>
            <p:nvPr/>
          </p:nvSpPr>
          <p:spPr>
            <a:xfrm>
              <a:off x="2898424" y="5403602"/>
              <a:ext cx="2252486" cy="914699"/>
            </a:xfrm>
            <a:prstGeom prst="flowChartProcess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Filesystem Snapshot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EC5B71F-FEE1-4AC3-8242-1CCD6E0BB7B2}"/>
                </a:ext>
              </a:extLst>
            </p:cNvPr>
            <p:cNvSpPr/>
            <p:nvPr/>
          </p:nvSpPr>
          <p:spPr>
            <a:xfrm>
              <a:off x="3010688" y="5769157"/>
              <a:ext cx="644050" cy="225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400">
                  <a:solidFill>
                    <a:schemeClr val="tx1"/>
                  </a:solidFill>
                </a:rPr>
                <a:t>bin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CB5652-BD08-4C52-80E3-2A934CDF58F4}"/>
                </a:ext>
              </a:extLst>
            </p:cNvPr>
            <p:cNvSpPr/>
            <p:nvPr/>
          </p:nvSpPr>
          <p:spPr>
            <a:xfrm>
              <a:off x="3010687" y="6043728"/>
              <a:ext cx="644050" cy="225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400">
                  <a:solidFill>
                    <a:schemeClr val="tx1"/>
                  </a:solidFill>
                </a:rPr>
                <a:t>home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507C200-5FAA-45B8-B6E6-0E4588B1ECD1}"/>
                </a:ext>
              </a:extLst>
            </p:cNvPr>
            <p:cNvSpPr/>
            <p:nvPr/>
          </p:nvSpPr>
          <p:spPr>
            <a:xfrm>
              <a:off x="3701627" y="5769157"/>
              <a:ext cx="644050" cy="225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400">
                  <a:solidFill>
                    <a:schemeClr val="tx1"/>
                  </a:solidFill>
                </a:rPr>
                <a:t>dev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2306A3A-0058-4D9C-B0A4-3276281673C4}"/>
                </a:ext>
              </a:extLst>
            </p:cNvPr>
            <p:cNvSpPr/>
            <p:nvPr/>
          </p:nvSpPr>
          <p:spPr>
            <a:xfrm>
              <a:off x="3701626" y="6043728"/>
              <a:ext cx="644050" cy="225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400">
                  <a:solidFill>
                    <a:schemeClr val="tx1"/>
                  </a:solidFill>
                </a:rPr>
                <a:t>proc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BE4E5A5-1784-4834-AB8E-60ABAEA935A1}"/>
                </a:ext>
              </a:extLst>
            </p:cNvPr>
            <p:cNvSpPr/>
            <p:nvPr/>
          </p:nvSpPr>
          <p:spPr>
            <a:xfrm>
              <a:off x="4394446" y="5769157"/>
              <a:ext cx="644050" cy="225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400" err="1">
                  <a:solidFill>
                    <a:schemeClr val="tx1"/>
                  </a:solidFill>
                </a:rPr>
                <a:t>etc</a:t>
              </a: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D696BE0-E825-49D0-A274-468711C55CB1}"/>
                </a:ext>
              </a:extLst>
            </p:cNvPr>
            <p:cNvSpPr/>
            <p:nvPr/>
          </p:nvSpPr>
          <p:spPr>
            <a:xfrm>
              <a:off x="4394445" y="6043728"/>
              <a:ext cx="644050" cy="225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400">
                  <a:solidFill>
                    <a:schemeClr val="tx1"/>
                  </a:solidFill>
                </a:rPr>
                <a:t>root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F00495F-2B8B-41A5-8BF9-421918252326}"/>
              </a:ext>
            </a:extLst>
          </p:cNvPr>
          <p:cNvSpPr txBox="1"/>
          <p:nvPr/>
        </p:nvSpPr>
        <p:spPr>
          <a:xfrm>
            <a:off x="8393971" y="5782122"/>
            <a:ext cx="1174750" cy="69910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 dirty="0"/>
              <a:t>Hard drive segment of the process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7021591-44E3-4D5C-BDC6-F2940F86BCBF}"/>
              </a:ext>
            </a:extLst>
          </p:cNvPr>
          <p:cNvSpPr/>
          <p:nvPr/>
        </p:nvSpPr>
        <p:spPr>
          <a:xfrm>
            <a:off x="635001" y="3041854"/>
            <a:ext cx="4660821" cy="769892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Busybox</a:t>
            </a:r>
            <a:r>
              <a:rPr lang="en-US" dirty="0">
                <a:solidFill>
                  <a:schemeClr val="tx1"/>
                </a:solidFill>
              </a:rPr>
              <a:t> Image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526DB36E-279A-932C-DCF2-98000C7202B3}"/>
              </a:ext>
            </a:extLst>
          </p:cNvPr>
          <p:cNvSpPr/>
          <p:nvPr/>
        </p:nvSpPr>
        <p:spPr>
          <a:xfrm>
            <a:off x="7107159" y="2155852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Startup Command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A1C575-EF1B-7B3A-B3DC-FD51C43C1A4B}"/>
              </a:ext>
            </a:extLst>
          </p:cNvPr>
          <p:cNvSpPr/>
          <p:nvPr/>
        </p:nvSpPr>
        <p:spPr>
          <a:xfrm>
            <a:off x="7293604" y="2606996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sh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4A172D8-9DEA-1A49-831F-FE151C803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77" y="5525400"/>
            <a:ext cx="3324689" cy="28579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1C70E762-1DB8-B04A-EAD9-A542ADCCB43D}"/>
              </a:ext>
            </a:extLst>
          </p:cNvPr>
          <p:cNvGrpSpPr/>
          <p:nvPr/>
        </p:nvGrpSpPr>
        <p:grpSpPr>
          <a:xfrm>
            <a:off x="1438203" y="5194160"/>
            <a:ext cx="2252486" cy="914699"/>
            <a:chOff x="1438203" y="5194160"/>
            <a:chExt cx="2252486" cy="914699"/>
          </a:xfrm>
        </p:grpSpPr>
        <p:sp>
          <p:nvSpPr>
            <p:cNvPr id="35" name="Flowchart: Process 34">
              <a:extLst>
                <a:ext uri="{FF2B5EF4-FFF2-40B4-BE49-F238E27FC236}">
                  <a16:creationId xmlns:a16="http://schemas.microsoft.com/office/drawing/2014/main" id="{95831223-26FB-F54A-543D-CBF6EBF62D0E}"/>
                </a:ext>
              </a:extLst>
            </p:cNvPr>
            <p:cNvSpPr/>
            <p:nvPr/>
          </p:nvSpPr>
          <p:spPr>
            <a:xfrm>
              <a:off x="1438203" y="5194160"/>
              <a:ext cx="2252486" cy="914699"/>
            </a:xfrm>
            <a:prstGeom prst="flowChartProcess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Startup Command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C106588-6F49-9AE8-1B66-033959EA82B7}"/>
                </a:ext>
              </a:extLst>
            </p:cNvPr>
            <p:cNvSpPr/>
            <p:nvPr/>
          </p:nvSpPr>
          <p:spPr>
            <a:xfrm>
              <a:off x="1624648" y="5645304"/>
              <a:ext cx="1879596" cy="35319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echo hi there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1B9C91B-BA3F-C521-F7CB-F5703BA3680A}"/>
              </a:ext>
            </a:extLst>
          </p:cNvPr>
          <p:cNvSpPr txBox="1"/>
          <p:nvPr/>
        </p:nvSpPr>
        <p:spPr>
          <a:xfrm>
            <a:off x="1556600" y="2211760"/>
            <a:ext cx="2851871" cy="5941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docker run </a:t>
            </a:r>
            <a:r>
              <a:rPr lang="en-US" dirty="0" err="1"/>
              <a:t>busybox</a:t>
            </a:r>
            <a:r>
              <a:rPr lang="en-US" dirty="0"/>
              <a:t> will result </a:t>
            </a:r>
          </a:p>
          <a:p>
            <a:pPr algn="l"/>
            <a:r>
              <a:rPr lang="en-US" dirty="0"/>
              <a:t>in the container to the right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26C9C3E-3BE9-E7C7-9663-672B5BB48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466" y="2249522"/>
            <a:ext cx="186716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7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-4.07407E-6 L 0.46471 -0.4439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73" y="-22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Container Lifecycle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176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557EDEA0-7C41-4F5D-8AEC-AA69D310AF7A}"/>
              </a:ext>
            </a:extLst>
          </p:cNvPr>
          <p:cNvGrpSpPr/>
          <p:nvPr/>
        </p:nvGrpSpPr>
        <p:grpSpPr>
          <a:xfrm>
            <a:off x="0" y="3005275"/>
            <a:ext cx="2197100" cy="1647825"/>
            <a:chOff x="502534" y="3624261"/>
            <a:chExt cx="2197100" cy="1647825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46FA2A1-DD75-D3F0-B10D-3AC6F2C89769}"/>
                </a:ext>
              </a:extLst>
            </p:cNvPr>
            <p:cNvSpPr/>
            <p:nvPr/>
          </p:nvSpPr>
          <p:spPr>
            <a:xfrm>
              <a:off x="1000485" y="3714748"/>
              <a:ext cx="1095015" cy="146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034" name="Picture 10" descr="PC Computer Repair Help: Learn How to Fix It Yourself.">
              <a:extLst>
                <a:ext uri="{FF2B5EF4-FFF2-40B4-BE49-F238E27FC236}">
                  <a16:creationId xmlns:a16="http://schemas.microsoft.com/office/drawing/2014/main" id="{1D8D722B-8830-B3FB-DEE7-C90694A92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4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534" y="3624261"/>
              <a:ext cx="2197100" cy="164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ocker Hub - Features, Reviews ...">
            <a:extLst>
              <a:ext uri="{FF2B5EF4-FFF2-40B4-BE49-F238E27FC236}">
                <a16:creationId xmlns:a16="http://schemas.microsoft.com/office/drawing/2014/main" id="{B1623F75-7016-7478-6EAF-AF7F43CC2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43" y="1722972"/>
            <a:ext cx="1625600" cy="846776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F29979-9217-7FD1-9929-EDA347C424F5}"/>
              </a:ext>
            </a:extLst>
          </p:cNvPr>
          <p:cNvCxnSpPr>
            <a:cxnSpLocks/>
            <a:stCxn id="1026" idx="2"/>
            <a:endCxn id="57" idx="0"/>
          </p:cNvCxnSpPr>
          <p:nvPr/>
        </p:nvCxnSpPr>
        <p:spPr>
          <a:xfrm flipH="1">
            <a:off x="1045459" y="2569748"/>
            <a:ext cx="13784" cy="526014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7E5BB9-5B77-2DF1-9368-3C701A28BF5F}"/>
              </a:ext>
            </a:extLst>
          </p:cNvPr>
          <p:cNvSpPr txBox="1"/>
          <p:nvPr/>
        </p:nvSpPr>
        <p:spPr>
          <a:xfrm>
            <a:off x="1144905" y="2671176"/>
            <a:ext cx="1058047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pull nginx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AD9FBE-0AFF-5644-7BC3-D55B03CF0EE7}"/>
              </a:ext>
            </a:extLst>
          </p:cNvPr>
          <p:cNvSpPr/>
          <p:nvPr/>
        </p:nvSpPr>
        <p:spPr>
          <a:xfrm>
            <a:off x="3875308" y="3606199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Created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69A99F-23F9-9975-D931-555A53F22A4B}"/>
              </a:ext>
            </a:extLst>
          </p:cNvPr>
          <p:cNvSpPr/>
          <p:nvPr/>
        </p:nvSpPr>
        <p:spPr>
          <a:xfrm>
            <a:off x="7175572" y="3613558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Started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B51903-4882-5A96-A5E8-BDE2BE0F15C3}"/>
              </a:ext>
            </a:extLst>
          </p:cNvPr>
          <p:cNvSpPr/>
          <p:nvPr/>
        </p:nvSpPr>
        <p:spPr>
          <a:xfrm>
            <a:off x="7175572" y="1895184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Exited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E86DBB-5E6C-5818-98F4-A1C7B9D4420D}"/>
              </a:ext>
            </a:extLst>
          </p:cNvPr>
          <p:cNvSpPr/>
          <p:nvPr/>
        </p:nvSpPr>
        <p:spPr>
          <a:xfrm>
            <a:off x="7169662" y="5390088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Paused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6C9A69-80AD-FCFE-30B8-575C97A1CC1A}"/>
              </a:ext>
            </a:extLst>
          </p:cNvPr>
          <p:cNvSpPr/>
          <p:nvPr/>
        </p:nvSpPr>
        <p:spPr>
          <a:xfrm>
            <a:off x="10439451" y="3641558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Dead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087F74-1AD4-8C21-8361-3A0DB1E46EBA}"/>
              </a:ext>
            </a:extLst>
          </p:cNvPr>
          <p:cNvCxnSpPr>
            <a:cxnSpLocks/>
            <a:stCxn id="57" idx="3"/>
            <a:endCxn id="21" idx="1"/>
          </p:cNvCxnSpPr>
          <p:nvPr/>
        </p:nvCxnSpPr>
        <p:spPr>
          <a:xfrm flipV="1">
            <a:off x="1592966" y="3829187"/>
            <a:ext cx="2282342" cy="1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C942714-D300-0437-1AB1-088E90D53BB0}"/>
              </a:ext>
            </a:extLst>
          </p:cNvPr>
          <p:cNvSpPr txBox="1"/>
          <p:nvPr/>
        </p:nvSpPr>
        <p:spPr>
          <a:xfrm>
            <a:off x="1684299" y="3531585"/>
            <a:ext cx="2099677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200" dirty="0"/>
              <a:t>docker create --name demo nginx</a:t>
            </a:r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8FF5F9E9-6BAC-9252-0ACF-F6EDF7A05798}"/>
              </a:ext>
            </a:extLst>
          </p:cNvPr>
          <p:cNvSpPr/>
          <p:nvPr/>
        </p:nvSpPr>
        <p:spPr>
          <a:xfrm rot="10800000" flipH="1">
            <a:off x="1592967" y="3094942"/>
            <a:ext cx="5494149" cy="1682827"/>
          </a:xfrm>
          <a:prstGeom prst="arc">
            <a:avLst>
              <a:gd name="adj1" fmla="val 10810221"/>
              <a:gd name="adj2" fmla="val 2156104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AA3781-652A-7AA0-F8F3-B886279AE4CB}"/>
              </a:ext>
            </a:extLst>
          </p:cNvPr>
          <p:cNvSpPr txBox="1"/>
          <p:nvPr/>
        </p:nvSpPr>
        <p:spPr>
          <a:xfrm>
            <a:off x="2504558" y="4369611"/>
            <a:ext cx="2117631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run -d --name  demo nginx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A2E8DCF-1CB0-3B5D-9263-4F2D323AE2D3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5373728" y="3829187"/>
            <a:ext cx="1801844" cy="7359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D17B77E-6486-BB18-0ED2-2F80455642F3}"/>
              </a:ext>
            </a:extLst>
          </p:cNvPr>
          <p:cNvSpPr txBox="1"/>
          <p:nvPr/>
        </p:nvSpPr>
        <p:spPr>
          <a:xfrm>
            <a:off x="5642064" y="3577084"/>
            <a:ext cx="1177695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start demo</a:t>
            </a:r>
          </a:p>
        </p:txBody>
      </p:sp>
      <p:sp>
        <p:nvSpPr>
          <p:cNvPr id="1037" name="Arc 1036">
            <a:extLst>
              <a:ext uri="{FF2B5EF4-FFF2-40B4-BE49-F238E27FC236}">
                <a16:creationId xmlns:a16="http://schemas.microsoft.com/office/drawing/2014/main" id="{AB74683C-4721-2FEB-4E46-13CD1701678D}"/>
              </a:ext>
            </a:extLst>
          </p:cNvPr>
          <p:cNvSpPr/>
          <p:nvPr/>
        </p:nvSpPr>
        <p:spPr>
          <a:xfrm rot="16200000">
            <a:off x="7335399" y="2514062"/>
            <a:ext cx="1147275" cy="908488"/>
          </a:xfrm>
          <a:prstGeom prst="arc">
            <a:avLst>
              <a:gd name="adj1" fmla="val 10810221"/>
              <a:gd name="adj2" fmla="val 2156104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Arc 1040">
            <a:extLst>
              <a:ext uri="{FF2B5EF4-FFF2-40B4-BE49-F238E27FC236}">
                <a16:creationId xmlns:a16="http://schemas.microsoft.com/office/drawing/2014/main" id="{BCFBAC8E-C798-2B63-60D8-483BE63BB604}"/>
              </a:ext>
            </a:extLst>
          </p:cNvPr>
          <p:cNvSpPr/>
          <p:nvPr/>
        </p:nvSpPr>
        <p:spPr>
          <a:xfrm rot="16200000" flipH="1" flipV="1">
            <a:off x="7421062" y="2514062"/>
            <a:ext cx="1147275" cy="908489"/>
          </a:xfrm>
          <a:prstGeom prst="arc">
            <a:avLst>
              <a:gd name="adj1" fmla="val 10810221"/>
              <a:gd name="adj2" fmla="val 2156104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D9DA3583-FD0F-BDD5-5E52-D3F9738D29FE}"/>
              </a:ext>
            </a:extLst>
          </p:cNvPr>
          <p:cNvSpPr txBox="1"/>
          <p:nvPr/>
        </p:nvSpPr>
        <p:spPr>
          <a:xfrm>
            <a:off x="6151155" y="2412484"/>
            <a:ext cx="1162049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stop demo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C0D2C9F7-7EF8-12F2-9713-8CB9E45BC07E}"/>
              </a:ext>
            </a:extLst>
          </p:cNvPr>
          <p:cNvSpPr txBox="1"/>
          <p:nvPr/>
        </p:nvSpPr>
        <p:spPr>
          <a:xfrm>
            <a:off x="8448944" y="2367540"/>
            <a:ext cx="1177695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start demo</a:t>
            </a:r>
          </a:p>
        </p:txBody>
      </p:sp>
      <p:sp>
        <p:nvSpPr>
          <p:cNvPr id="1045" name="Arc 1044">
            <a:extLst>
              <a:ext uri="{FF2B5EF4-FFF2-40B4-BE49-F238E27FC236}">
                <a16:creationId xmlns:a16="http://schemas.microsoft.com/office/drawing/2014/main" id="{6D719971-5AAD-B147-989D-55676A97791B}"/>
              </a:ext>
            </a:extLst>
          </p:cNvPr>
          <p:cNvSpPr/>
          <p:nvPr/>
        </p:nvSpPr>
        <p:spPr>
          <a:xfrm rot="16200000">
            <a:off x="7335400" y="4255947"/>
            <a:ext cx="1147275" cy="908488"/>
          </a:xfrm>
          <a:prstGeom prst="arc">
            <a:avLst>
              <a:gd name="adj1" fmla="val 10810221"/>
              <a:gd name="adj2" fmla="val 2156104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Arc 1045">
            <a:extLst>
              <a:ext uri="{FF2B5EF4-FFF2-40B4-BE49-F238E27FC236}">
                <a16:creationId xmlns:a16="http://schemas.microsoft.com/office/drawing/2014/main" id="{869F5F1F-D827-0845-7396-2122A2B27626}"/>
              </a:ext>
            </a:extLst>
          </p:cNvPr>
          <p:cNvSpPr/>
          <p:nvPr/>
        </p:nvSpPr>
        <p:spPr>
          <a:xfrm rot="16200000" flipH="1" flipV="1">
            <a:off x="7421063" y="4255947"/>
            <a:ext cx="1147275" cy="908489"/>
          </a:xfrm>
          <a:prstGeom prst="arc">
            <a:avLst>
              <a:gd name="adj1" fmla="val 10810221"/>
              <a:gd name="adj2" fmla="val 2156104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CB26E5CA-58E2-2CA1-3A0B-96E80E2BD736}"/>
              </a:ext>
            </a:extLst>
          </p:cNvPr>
          <p:cNvSpPr txBox="1"/>
          <p:nvPr/>
        </p:nvSpPr>
        <p:spPr>
          <a:xfrm>
            <a:off x="5588922" y="5088974"/>
            <a:ext cx="1423338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</a:t>
            </a:r>
            <a:r>
              <a:rPr lang="en-US" sz="1200" dirty="0" err="1"/>
              <a:t>unpause</a:t>
            </a:r>
            <a:r>
              <a:rPr lang="en-US" sz="1200" dirty="0"/>
              <a:t> demo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D71DE537-88F5-143E-A7C9-2E2F12D73DF1}"/>
              </a:ext>
            </a:extLst>
          </p:cNvPr>
          <p:cNvSpPr txBox="1"/>
          <p:nvPr/>
        </p:nvSpPr>
        <p:spPr>
          <a:xfrm>
            <a:off x="8440773" y="5088974"/>
            <a:ext cx="1263038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pause demo</a:t>
            </a:r>
          </a:p>
        </p:txBody>
      </p: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731253B1-38BF-B8EE-6A6F-18C17DC7DDC4}"/>
              </a:ext>
            </a:extLst>
          </p:cNvPr>
          <p:cNvCxnSpPr>
            <a:cxnSpLocks/>
            <a:stCxn id="1041" idx="0"/>
          </p:cNvCxnSpPr>
          <p:nvPr/>
        </p:nvCxnSpPr>
        <p:spPr>
          <a:xfrm>
            <a:off x="7996405" y="2394673"/>
            <a:ext cx="2473521" cy="1490085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TextBox 1054">
            <a:extLst>
              <a:ext uri="{FF2B5EF4-FFF2-40B4-BE49-F238E27FC236}">
                <a16:creationId xmlns:a16="http://schemas.microsoft.com/office/drawing/2014/main" id="{A014264E-3E59-5B97-DF93-85DC9BB27F47}"/>
              </a:ext>
            </a:extLst>
          </p:cNvPr>
          <p:cNvSpPr txBox="1"/>
          <p:nvPr/>
        </p:nvSpPr>
        <p:spPr>
          <a:xfrm>
            <a:off x="9563462" y="3094942"/>
            <a:ext cx="1067472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rm demo</a:t>
            </a:r>
          </a:p>
        </p:txBody>
      </p:sp>
      <p:sp>
        <p:nvSpPr>
          <p:cNvPr id="1056" name="Arc 1055">
            <a:extLst>
              <a:ext uri="{FF2B5EF4-FFF2-40B4-BE49-F238E27FC236}">
                <a16:creationId xmlns:a16="http://schemas.microsoft.com/office/drawing/2014/main" id="{A6ACD4A0-38FC-CE03-C912-568093EE8647}"/>
              </a:ext>
            </a:extLst>
          </p:cNvPr>
          <p:cNvSpPr/>
          <p:nvPr/>
        </p:nvSpPr>
        <p:spPr>
          <a:xfrm rot="10800000" flipH="1">
            <a:off x="4586934" y="1716020"/>
            <a:ext cx="6586407" cy="4743025"/>
          </a:xfrm>
          <a:prstGeom prst="arc">
            <a:avLst>
              <a:gd name="adj1" fmla="val 10810221"/>
              <a:gd name="adj2" fmla="val 2156104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C498315B-2054-2B15-39E0-8CBC96BFAEDA}"/>
              </a:ext>
            </a:extLst>
          </p:cNvPr>
          <p:cNvSpPr txBox="1"/>
          <p:nvPr/>
        </p:nvSpPr>
        <p:spPr>
          <a:xfrm>
            <a:off x="7301989" y="6169543"/>
            <a:ext cx="1067472" cy="19300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sz="1200" dirty="0"/>
              <a:t>docker rm demo</a:t>
            </a: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AB15AB8C-478B-637C-87CC-AEE847BDFBBA}"/>
              </a:ext>
            </a:extLst>
          </p:cNvPr>
          <p:cNvSpPr/>
          <p:nvPr/>
        </p:nvSpPr>
        <p:spPr>
          <a:xfrm rot="16200000">
            <a:off x="6249648" y="3024410"/>
            <a:ext cx="2909561" cy="1698047"/>
          </a:xfrm>
          <a:prstGeom prst="arc">
            <a:avLst>
              <a:gd name="adj1" fmla="val 10810221"/>
              <a:gd name="adj2" fmla="val 21561042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51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53C17-698B-484D-8C97-815C1146A3A0}"/>
              </a:ext>
            </a:extLst>
          </p:cNvPr>
          <p:cNvSpPr/>
          <p:nvPr/>
        </p:nvSpPr>
        <p:spPr>
          <a:xfrm>
            <a:off x="380219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9399F-3FD0-4FA3-AB97-3CBBD1EF51FF}"/>
              </a:ext>
            </a:extLst>
          </p:cNvPr>
          <p:cNvSpPr/>
          <p:nvPr/>
        </p:nvSpPr>
        <p:spPr>
          <a:xfrm>
            <a:off x="579966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ps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2C2FA-1C7D-438B-A859-7895003A7963}"/>
              </a:ext>
            </a:extLst>
          </p:cNvPr>
          <p:cNvSpPr txBox="1"/>
          <p:nvPr/>
        </p:nvSpPr>
        <p:spPr>
          <a:xfrm>
            <a:off x="3956467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3B2EE-FB84-4DD6-820F-09ACCC56FCDC}"/>
              </a:ext>
            </a:extLst>
          </p:cNvPr>
          <p:cNvSpPr txBox="1"/>
          <p:nvPr/>
        </p:nvSpPr>
        <p:spPr>
          <a:xfrm>
            <a:off x="5974458" y="2848765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List all </a:t>
            </a:r>
            <a:r>
              <a:rPr lang="en-US" sz="1400" b="1" dirty="0"/>
              <a:t>running</a:t>
            </a:r>
            <a:r>
              <a:rPr lang="en-US" sz="1400" dirty="0"/>
              <a:t> containers</a:t>
            </a:r>
          </a:p>
        </p:txBody>
      </p:sp>
    </p:spTree>
    <p:extLst>
      <p:ext uri="{BB962C8B-B14F-4D97-AF65-F5344CB8AC3E}">
        <p14:creationId xmlns:p14="http://schemas.microsoft.com/office/powerpoint/2010/main" val="3206145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53C17-698B-484D-8C97-815C1146A3A0}"/>
              </a:ext>
            </a:extLst>
          </p:cNvPr>
          <p:cNvSpPr/>
          <p:nvPr/>
        </p:nvSpPr>
        <p:spPr>
          <a:xfrm>
            <a:off x="380219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9399F-3FD0-4FA3-AB97-3CBBD1EF51FF}"/>
              </a:ext>
            </a:extLst>
          </p:cNvPr>
          <p:cNvSpPr/>
          <p:nvPr/>
        </p:nvSpPr>
        <p:spPr>
          <a:xfrm>
            <a:off x="579966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ps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2C2FA-1C7D-438B-A859-7895003A7963}"/>
              </a:ext>
            </a:extLst>
          </p:cNvPr>
          <p:cNvSpPr txBox="1"/>
          <p:nvPr/>
        </p:nvSpPr>
        <p:spPr>
          <a:xfrm>
            <a:off x="3956467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 dirty="0"/>
              <a:t>Docker client reference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3B2EE-FB84-4DD6-820F-09ACCC56FCDC}"/>
              </a:ext>
            </a:extLst>
          </p:cNvPr>
          <p:cNvSpPr txBox="1"/>
          <p:nvPr/>
        </p:nvSpPr>
        <p:spPr>
          <a:xfrm>
            <a:off x="5974458" y="2848765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List all containers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711FD-5541-0969-504A-B63F1BE499A6}"/>
              </a:ext>
            </a:extLst>
          </p:cNvPr>
          <p:cNvSpPr/>
          <p:nvPr/>
        </p:nvSpPr>
        <p:spPr>
          <a:xfrm>
            <a:off x="779714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-a | --all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AA430-D068-B23C-C7B3-0A48D62C72C8}"/>
              </a:ext>
            </a:extLst>
          </p:cNvPr>
          <p:cNvSpPr txBox="1"/>
          <p:nvPr/>
        </p:nvSpPr>
        <p:spPr>
          <a:xfrm>
            <a:off x="8520548" y="4334334"/>
            <a:ext cx="550665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 dirty="0"/>
              <a:t>options</a:t>
            </a:r>
          </a:p>
        </p:txBody>
      </p:sp>
    </p:spTree>
    <p:extLst>
      <p:ext uri="{BB962C8B-B14F-4D97-AF65-F5344CB8AC3E}">
        <p14:creationId xmlns:p14="http://schemas.microsoft.com/office/powerpoint/2010/main" val="1970294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124197-9959-4981-91AC-D3836732760A}"/>
              </a:ext>
            </a:extLst>
          </p:cNvPr>
          <p:cNvSpPr/>
          <p:nvPr/>
        </p:nvSpPr>
        <p:spPr>
          <a:xfrm>
            <a:off x="394203" y="1713542"/>
            <a:ext cx="11462749" cy="7805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ps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CONTAINER ID	IMAGE	COMMAND			CREATED		STATUS		PORTS	NAMES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AA3F38-D163-4F49-A4FC-E3ED8922CE66}"/>
              </a:ext>
            </a:extLst>
          </p:cNvPr>
          <p:cNvSpPr/>
          <p:nvPr/>
        </p:nvSpPr>
        <p:spPr>
          <a:xfrm>
            <a:off x="394204" y="2648457"/>
            <a:ext cx="11462748" cy="1796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ping www.google.com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PING www.google.com (172.217.20.4): 56 data bytes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64 bytes from 172.217.20.4: seq=0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ttl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=37 time=29.656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64 bytes from 172.217.20.4: seq=1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ttl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=37 time=29.638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64 bytes from 172.217.20.4: seq=2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ttl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=37 time=29.419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64 bytes from 172.217.20.4: seq=3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ttl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=37 time=29.733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^C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03108B-2C49-4A4B-870B-C33EE7757AFD}"/>
              </a:ext>
            </a:extLst>
          </p:cNvPr>
          <p:cNvSpPr/>
          <p:nvPr/>
        </p:nvSpPr>
        <p:spPr>
          <a:xfrm>
            <a:off x="394203" y="4674981"/>
            <a:ext cx="11495301" cy="1193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ps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CONTAINER ID	IMAGE	COMMAND			CREATED		STATUS		PORTS	NAMES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36ded3e3ca81	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	"ping www.google.com"	32 seconds ago	Up 31 seconds		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great_banzai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237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DD9CA-D94F-4883-B471-93E05DCC7350}"/>
              </a:ext>
            </a:extLst>
          </p:cNvPr>
          <p:cNvSpPr/>
          <p:nvPr/>
        </p:nvSpPr>
        <p:spPr>
          <a:xfrm>
            <a:off x="773641" y="2370489"/>
            <a:ext cx="4481940" cy="355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hello-world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53C17-698B-484D-8C97-815C1146A3A0}"/>
              </a:ext>
            </a:extLst>
          </p:cNvPr>
          <p:cNvSpPr/>
          <p:nvPr/>
        </p:nvSpPr>
        <p:spPr>
          <a:xfrm>
            <a:off x="2922240" y="3396189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9399F-3FD0-4FA3-AB97-3CBBD1EF51FF}"/>
              </a:ext>
            </a:extLst>
          </p:cNvPr>
          <p:cNvSpPr/>
          <p:nvPr/>
        </p:nvSpPr>
        <p:spPr>
          <a:xfrm>
            <a:off x="4919715" y="3396189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DFB50-26E0-4179-B94E-05AA86F37254}"/>
              </a:ext>
            </a:extLst>
          </p:cNvPr>
          <p:cNvSpPr/>
          <p:nvPr/>
        </p:nvSpPr>
        <p:spPr>
          <a:xfrm>
            <a:off x="6917190" y="3396189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&lt;image name&gt;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2C2FA-1C7D-438B-A859-7895003A7963}"/>
              </a:ext>
            </a:extLst>
          </p:cNvPr>
          <p:cNvSpPr txBox="1"/>
          <p:nvPr/>
        </p:nvSpPr>
        <p:spPr>
          <a:xfrm>
            <a:off x="3076515" y="4290035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3B2EE-FB84-4DD6-820F-09ACCC56FCDC}"/>
              </a:ext>
            </a:extLst>
          </p:cNvPr>
          <p:cNvSpPr txBox="1"/>
          <p:nvPr/>
        </p:nvSpPr>
        <p:spPr>
          <a:xfrm>
            <a:off x="5094506" y="2849818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Create and run a container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575B0-0B40-4BC6-8B43-143D70EB8CE2}"/>
              </a:ext>
            </a:extLst>
          </p:cNvPr>
          <p:cNvSpPr txBox="1"/>
          <p:nvPr/>
        </p:nvSpPr>
        <p:spPr>
          <a:xfrm>
            <a:off x="7065152" y="4290035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Image to use for the container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A02D16-DB96-45D0-AFD7-B9260B9BEFA8}"/>
              </a:ext>
            </a:extLst>
          </p:cNvPr>
          <p:cNvSpPr/>
          <p:nvPr/>
        </p:nvSpPr>
        <p:spPr>
          <a:xfrm>
            <a:off x="3155936" y="5072914"/>
            <a:ext cx="1530082" cy="482955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 run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616BB5-6DFB-4742-8F08-BC0120F1D534}"/>
              </a:ext>
            </a:extLst>
          </p:cNvPr>
          <p:cNvSpPr/>
          <p:nvPr/>
        </p:nvSpPr>
        <p:spPr>
          <a:xfrm>
            <a:off x="5154928" y="5088964"/>
            <a:ext cx="1527048" cy="482955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 create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CF976-4E82-4D17-B6B8-91C8B7E46039}"/>
              </a:ext>
            </a:extLst>
          </p:cNvPr>
          <p:cNvSpPr txBox="1"/>
          <p:nvPr/>
        </p:nvSpPr>
        <p:spPr>
          <a:xfrm>
            <a:off x="4859392" y="5169672"/>
            <a:ext cx="115416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b="1"/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B3189-1862-4470-88B6-0AC72EA86C13}"/>
              </a:ext>
            </a:extLst>
          </p:cNvPr>
          <p:cNvSpPr txBox="1"/>
          <p:nvPr/>
        </p:nvSpPr>
        <p:spPr>
          <a:xfrm>
            <a:off x="6858722" y="5161051"/>
            <a:ext cx="115416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b="1"/>
              <a:t>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A3EE56-596F-4842-A5BE-36E5A17FBD73}"/>
              </a:ext>
            </a:extLst>
          </p:cNvPr>
          <p:cNvSpPr/>
          <p:nvPr/>
        </p:nvSpPr>
        <p:spPr>
          <a:xfrm>
            <a:off x="7150885" y="5100835"/>
            <a:ext cx="1527048" cy="482955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 start</a:t>
            </a:r>
          </a:p>
        </p:txBody>
      </p:sp>
    </p:spTree>
    <p:extLst>
      <p:ext uri="{BB962C8B-B14F-4D97-AF65-F5344CB8AC3E}">
        <p14:creationId xmlns:p14="http://schemas.microsoft.com/office/powerpoint/2010/main" val="789436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FF986383-7279-4BBB-B400-723D628E9EFD}"/>
              </a:ext>
            </a:extLst>
          </p:cNvPr>
          <p:cNvSpPr/>
          <p:nvPr/>
        </p:nvSpPr>
        <p:spPr>
          <a:xfrm>
            <a:off x="5977467" y="1339626"/>
            <a:ext cx="5373158" cy="5320373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B27B0579-4238-4E44-9A9E-134B676F827C}" type="slidenum">
              <a:rPr lang="de-DE" smtClean="0"/>
              <a:t>28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6346382" y="1830743"/>
            <a:ext cx="3676250" cy="135617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Running Process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6346382" y="3700876"/>
            <a:ext cx="572346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81D66-EE19-4F05-A7ED-F65AB00A0751}"/>
              </a:ext>
            </a:extLst>
          </p:cNvPr>
          <p:cNvSpPr/>
          <p:nvPr/>
        </p:nvSpPr>
        <p:spPr>
          <a:xfrm>
            <a:off x="6288397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B292B8-5C11-459B-AFB8-DFC182826993}"/>
              </a:ext>
            </a:extLst>
          </p:cNvPr>
          <p:cNvSpPr/>
          <p:nvPr/>
        </p:nvSpPr>
        <p:spPr>
          <a:xfrm>
            <a:off x="7938559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E256E63-6F66-4694-BDBA-84085D48530D}"/>
              </a:ext>
            </a:extLst>
          </p:cNvPr>
          <p:cNvSpPr/>
          <p:nvPr/>
        </p:nvSpPr>
        <p:spPr>
          <a:xfrm>
            <a:off x="6288397" y="5561764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Hard drive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B90E95-FEB3-415A-80B2-9AB11D914CC8}"/>
              </a:ext>
            </a:extLst>
          </p:cNvPr>
          <p:cNvSpPr/>
          <p:nvPr/>
        </p:nvSpPr>
        <p:spPr>
          <a:xfrm>
            <a:off x="9588722" y="4980721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8EEF8920-AFF6-419B-BC36-C044F1FCA760}"/>
              </a:ext>
            </a:extLst>
          </p:cNvPr>
          <p:cNvSpPr/>
          <p:nvPr/>
        </p:nvSpPr>
        <p:spPr>
          <a:xfrm>
            <a:off x="415737" y="2885756"/>
            <a:ext cx="5075147" cy="210444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6B9EC-81C3-4F3B-A3FF-7E7C251152A6}"/>
              </a:ext>
            </a:extLst>
          </p:cNvPr>
          <p:cNvSpPr/>
          <p:nvPr/>
        </p:nvSpPr>
        <p:spPr>
          <a:xfrm>
            <a:off x="601133" y="3042724"/>
            <a:ext cx="4749647" cy="6990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err="1">
                <a:solidFill>
                  <a:schemeClr val="tx1"/>
                </a:solidFill>
              </a:rPr>
              <a:t>Busybox</a:t>
            </a:r>
            <a:r>
              <a:rPr lang="en-US">
                <a:solidFill>
                  <a:schemeClr val="tx1"/>
                </a:solidFill>
              </a:rPr>
              <a:t> Image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B9C7B34-6098-4965-A3B5-4B4C59975440}"/>
              </a:ext>
            </a:extLst>
          </p:cNvPr>
          <p:cNvSpPr/>
          <p:nvPr/>
        </p:nvSpPr>
        <p:spPr>
          <a:xfrm>
            <a:off x="635001" y="39200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4B5EC905-886F-45C9-8465-5E3D7AAD5B99}"/>
              </a:ext>
            </a:extLst>
          </p:cNvPr>
          <p:cNvSpPr/>
          <p:nvPr/>
        </p:nvSpPr>
        <p:spPr>
          <a:xfrm>
            <a:off x="3043337" y="39200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Startup Command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EFA3AD-B22F-4DCE-A95E-590E1346FAF2}"/>
              </a:ext>
            </a:extLst>
          </p:cNvPr>
          <p:cNvSpPr/>
          <p:nvPr/>
        </p:nvSpPr>
        <p:spPr>
          <a:xfrm>
            <a:off x="747265" y="42856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D2E46E-4085-4FEA-A8A7-31B6D7B86103}"/>
              </a:ext>
            </a:extLst>
          </p:cNvPr>
          <p:cNvSpPr/>
          <p:nvPr/>
        </p:nvSpPr>
        <p:spPr>
          <a:xfrm>
            <a:off x="3229782" y="4371211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/>
                </a:solidFill>
              </a:rPr>
              <a:t>ping www.google.com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B60991-9EAD-4C91-BB44-CB70DE003CA1}"/>
              </a:ext>
            </a:extLst>
          </p:cNvPr>
          <p:cNvSpPr/>
          <p:nvPr/>
        </p:nvSpPr>
        <p:spPr>
          <a:xfrm>
            <a:off x="747264" y="45601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C2E668-D612-4E9B-B84B-4E40CFE70AC6}"/>
              </a:ext>
            </a:extLst>
          </p:cNvPr>
          <p:cNvSpPr/>
          <p:nvPr/>
        </p:nvSpPr>
        <p:spPr>
          <a:xfrm>
            <a:off x="1438204" y="42856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18D3AAD-BBB1-43D1-BBD5-170DB6EB39CB}"/>
              </a:ext>
            </a:extLst>
          </p:cNvPr>
          <p:cNvSpPr/>
          <p:nvPr/>
        </p:nvSpPr>
        <p:spPr>
          <a:xfrm>
            <a:off x="1438203" y="45601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A63094-8DC6-4626-869E-7E94AFFE8376}"/>
              </a:ext>
            </a:extLst>
          </p:cNvPr>
          <p:cNvSpPr/>
          <p:nvPr/>
        </p:nvSpPr>
        <p:spPr>
          <a:xfrm>
            <a:off x="2131023" y="42856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099613-112A-4124-A8C0-59B0D695D4BC}"/>
              </a:ext>
            </a:extLst>
          </p:cNvPr>
          <p:cNvSpPr/>
          <p:nvPr/>
        </p:nvSpPr>
        <p:spPr>
          <a:xfrm>
            <a:off x="2131022" y="45601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43" name="Flowchart: Process 42">
            <a:extLst>
              <a:ext uri="{FF2B5EF4-FFF2-40B4-BE49-F238E27FC236}">
                <a16:creationId xmlns:a16="http://schemas.microsoft.com/office/drawing/2014/main" id="{7A4B02D0-5F01-4FBF-9196-60F20FC583D4}"/>
              </a:ext>
            </a:extLst>
          </p:cNvPr>
          <p:cNvSpPr/>
          <p:nvPr/>
        </p:nvSpPr>
        <p:spPr>
          <a:xfrm>
            <a:off x="787401" y="40724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C5B71F-FEE1-4AC3-8242-1CCD6E0BB7B2}"/>
              </a:ext>
            </a:extLst>
          </p:cNvPr>
          <p:cNvSpPr/>
          <p:nvPr/>
        </p:nvSpPr>
        <p:spPr>
          <a:xfrm>
            <a:off x="899665" y="44380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CB5652-BD08-4C52-80E3-2A934CDF58F4}"/>
              </a:ext>
            </a:extLst>
          </p:cNvPr>
          <p:cNvSpPr/>
          <p:nvPr/>
        </p:nvSpPr>
        <p:spPr>
          <a:xfrm>
            <a:off x="899664" y="47125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07C200-5FAA-45B8-B6E6-0E4588B1ECD1}"/>
              </a:ext>
            </a:extLst>
          </p:cNvPr>
          <p:cNvSpPr/>
          <p:nvPr/>
        </p:nvSpPr>
        <p:spPr>
          <a:xfrm>
            <a:off x="1590604" y="44380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306A3A-0058-4D9C-B0A4-3276281673C4}"/>
              </a:ext>
            </a:extLst>
          </p:cNvPr>
          <p:cNvSpPr/>
          <p:nvPr/>
        </p:nvSpPr>
        <p:spPr>
          <a:xfrm>
            <a:off x="1590603" y="47125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BE4E5A5-1784-4834-AB8E-60ABAEA935A1}"/>
              </a:ext>
            </a:extLst>
          </p:cNvPr>
          <p:cNvSpPr/>
          <p:nvPr/>
        </p:nvSpPr>
        <p:spPr>
          <a:xfrm>
            <a:off x="2283423" y="4438022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696BE0-E825-49D0-A274-468711C55CB1}"/>
              </a:ext>
            </a:extLst>
          </p:cNvPr>
          <p:cNvSpPr/>
          <p:nvPr/>
        </p:nvSpPr>
        <p:spPr>
          <a:xfrm>
            <a:off x="2283422" y="4712593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0495F-2B8B-41A5-8BF9-421918252326}"/>
              </a:ext>
            </a:extLst>
          </p:cNvPr>
          <p:cNvSpPr txBox="1"/>
          <p:nvPr/>
        </p:nvSpPr>
        <p:spPr>
          <a:xfrm>
            <a:off x="8393971" y="5782122"/>
            <a:ext cx="1174750" cy="69910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/>
              <a:t>Hard drive segment of the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E7D81-19EC-4838-BF12-27096437ABDF}"/>
              </a:ext>
            </a:extLst>
          </p:cNvPr>
          <p:cNvSpPr txBox="1"/>
          <p:nvPr/>
        </p:nvSpPr>
        <p:spPr>
          <a:xfrm>
            <a:off x="2028966" y="2039090"/>
            <a:ext cx="1893980" cy="289438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Creating a container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D1D402-4424-435C-AE28-37A75FEF7BB4}"/>
              </a:ext>
            </a:extLst>
          </p:cNvPr>
          <p:cNvSpPr txBox="1"/>
          <p:nvPr/>
        </p:nvSpPr>
        <p:spPr>
          <a:xfrm>
            <a:off x="2055864" y="2039090"/>
            <a:ext cx="1840184" cy="289438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Starting a container</a:t>
            </a: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DE5C76A2-0FB1-4B86-8EED-B715AE28FB1A}"/>
              </a:ext>
            </a:extLst>
          </p:cNvPr>
          <p:cNvSpPr/>
          <p:nvPr/>
        </p:nvSpPr>
        <p:spPr>
          <a:xfrm>
            <a:off x="3195737" y="407246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Startup Command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90D174-7855-4B6B-8619-0445491FFF8F}"/>
              </a:ext>
            </a:extLst>
          </p:cNvPr>
          <p:cNvSpPr/>
          <p:nvPr/>
        </p:nvSpPr>
        <p:spPr>
          <a:xfrm>
            <a:off x="3382182" y="4523611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/>
                </a:solidFill>
              </a:rPr>
              <a:t>ping www.google.com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F530D07-B910-4CE5-BDB5-6B655D3384A9}"/>
              </a:ext>
            </a:extLst>
          </p:cNvPr>
          <p:cNvCxnSpPr>
            <a:cxnSpLocks/>
          </p:cNvCxnSpPr>
          <p:nvPr/>
        </p:nvCxnSpPr>
        <p:spPr>
          <a:xfrm>
            <a:off x="8190743" y="3186916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DD22102-1A91-4A8E-AB60-D03930C77B75}"/>
              </a:ext>
            </a:extLst>
          </p:cNvPr>
          <p:cNvCxnSpPr>
            <a:cxnSpLocks/>
          </p:cNvCxnSpPr>
          <p:nvPr/>
        </p:nvCxnSpPr>
        <p:spPr>
          <a:xfrm>
            <a:off x="8175611" y="4596836"/>
            <a:ext cx="0" cy="34155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6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39 0.00185 0.00664 0.00347 0.0099 0.00648 C 0.01146 0.00787 0.01289 0.00949 0.01459 0.01111 C 0.01498 0.01134 0.01563 0.01158 0.01615 0.01204 C 0.01836 0.01343 0.02057 0.01505 0.02292 0.01667 C 0.03034 0.0213 0.02279 0.00625 0.04011 0.02685 C 0.04232 0.0294 0.04102 0.02847 0.04427 0.02963 L 0.06042 0.04167 C 0.06107 0.04213 0.06172 0.04213 0.0625 0.04259 C 0.07031 0.04792 0.07813 0.05347 0.08594 0.05926 C 0.08711 0.05995 0.08828 0.06111 0.08959 0.06204 L 0.11146 0.075 C 0.11302 0.07593 0.11445 0.07708 0.11615 0.07778 C 0.12695 0.08148 0.1181 0.07824 0.14271 0.09259 C 0.153 0.09838 0.1707 0.10995 0.17656 0.11111 L 0.18125 0.11204 C 0.19375 0.12037 0.20573 0.12847 0.21927 0.13333 C 0.23425 0.13866 0.23776 0.13958 0.2599 0.15278 C 0.27487 0.16158 0.2711 0.15949 0.29948 0.17222 C 0.30104 0.17292 0.30261 0.17269 0.30417 0.17315 C 0.31732 0.18195 0.30378 0.17315 0.3349 0.18796 C 0.33646 0.18866 0.33802 0.19005 0.33959 0.19074 C 0.34076 0.1912 0.34206 0.19097 0.34323 0.19167 C 0.35104 0.19514 0.35886 0.19908 0.36667 0.20278 C 0.37253 0.20903 0.36537 0.20208 0.37344 0.20648 C 0.38099 0.21042 0.38841 0.21482 0.39584 0.21945 C 0.39753 0.22037 0.39922 0.22199 0.40104 0.22315 L 0.41615 0.23241 C 0.4168 0.23264 0.41758 0.23287 0.41823 0.23333 C 0.41888 0.2338 0.41953 0.23449 0.42031 0.23519 C 0.45313 0.2581 0.41537 0.23195 0.44271 0.24815 C 0.44323 0.24838 0.44375 0.24884 0.44427 0.24908 C 0.44544 0.24931 0.44675 0.24954 0.44792 0.25 C 0.44844 0.25023 0.44909 0.25162 0.44948 0.25093 C 0.45052 0.24908 0.4474 0.2463 0.4474 0.2463 C 0.44701 0.24537 0.44688 0.24421 0.44636 0.24352 C 0.44597 0.24283 0.44531 0.24306 0.44479 0.24259 C 0.44427 0.2419 0.44375 0.2412 0.44323 0.24074 L 0.43854 0.23796 C 0.43802 0.2375 0.43737 0.23773 0.43698 0.23704 L 0.43594 0.23519 " pathEditMode="relative" ptsTypes="AAAAAAAAAAAAAAAAAAAAAAAAAAAAAAAAAAAAAAAAAA">
                                      <p:cBhvr>
                                        <p:cTn id="3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39 0.00185 0.00664 0.00347 0.0099 0.00648 C 0.01146 0.00787 0.01289 0.00949 0.01459 0.01111 C 0.01498 0.01134 0.01563 0.01158 0.01615 0.01204 C 0.01836 0.01343 0.02057 0.01505 0.02292 0.01667 C 0.03034 0.0213 0.02279 0.00625 0.04011 0.02685 C 0.04232 0.0294 0.04102 0.02847 0.04427 0.02963 L 0.06042 0.04167 C 0.06107 0.04213 0.06172 0.04213 0.0625 0.04259 C 0.07031 0.04792 0.07813 0.05347 0.08594 0.05926 C 0.08711 0.05995 0.08828 0.06111 0.08959 0.06204 L 0.11146 0.075 C 0.11302 0.07593 0.11445 0.07708 0.11615 0.07778 C 0.12695 0.08148 0.1181 0.07824 0.14271 0.09259 C 0.153 0.09838 0.1707 0.10995 0.17656 0.11111 L 0.18125 0.11204 C 0.19375 0.12037 0.20573 0.12847 0.21927 0.13333 C 0.23425 0.13866 0.23776 0.13958 0.2599 0.15278 C 0.27487 0.16158 0.2711 0.15949 0.29948 0.17222 C 0.30104 0.17292 0.30261 0.17269 0.30417 0.17315 C 0.31732 0.18195 0.30378 0.17315 0.3349 0.18796 C 0.33646 0.18866 0.33802 0.19005 0.33959 0.19074 C 0.34076 0.1912 0.34206 0.19097 0.34323 0.19167 C 0.35104 0.19514 0.35886 0.19908 0.36667 0.20278 C 0.37253 0.20903 0.36537 0.20208 0.37344 0.20648 C 0.38099 0.21042 0.38841 0.21482 0.39584 0.21945 C 0.39753 0.22037 0.39922 0.22199 0.40104 0.22315 L 0.41615 0.23241 C 0.4168 0.23264 0.41758 0.23287 0.41823 0.23333 C 0.41888 0.2338 0.41953 0.23449 0.42031 0.23519 C 0.45313 0.2581 0.41537 0.23195 0.44271 0.24815 C 0.44323 0.24838 0.44375 0.24884 0.44427 0.24908 C 0.44544 0.24931 0.44675 0.24954 0.44792 0.25 C 0.44844 0.25023 0.44909 0.25162 0.44948 0.25093 C 0.45052 0.24908 0.4474 0.2463 0.4474 0.2463 C 0.44701 0.24537 0.44688 0.24421 0.44636 0.24352 C 0.44597 0.24283 0.44531 0.24306 0.44479 0.24259 C 0.44427 0.2419 0.44375 0.2412 0.44323 0.24074 L 0.43854 0.23796 C 0.43802 0.2375 0.43737 0.23773 0.43698 0.23704 L 0.43594 0.23519 " pathEditMode="relative" ptsTypes="AAAAAAAAAAAAAAAAAAAAAAAAAAAAAAAAAAAAAAAAAA">
                                      <p:cBhvr>
                                        <p:cTn id="3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39 0.00185 0.00664 0.00347 0.0099 0.00648 C 0.01146 0.00787 0.01289 0.00949 0.01459 0.01111 C 0.01498 0.01134 0.01563 0.01158 0.01615 0.01204 C 0.01836 0.01343 0.02057 0.01505 0.02292 0.01667 C 0.03034 0.0213 0.02279 0.00625 0.04011 0.02685 C 0.04232 0.0294 0.04102 0.02847 0.04427 0.02963 L 0.06042 0.04167 C 0.06107 0.04213 0.06172 0.04213 0.0625 0.04259 C 0.07031 0.04792 0.07813 0.05347 0.08594 0.05926 C 0.08711 0.05995 0.08828 0.06111 0.08959 0.06204 L 0.11146 0.075 C 0.11302 0.07593 0.11445 0.07708 0.11615 0.07778 C 0.12695 0.08148 0.1181 0.07824 0.14271 0.09259 C 0.153 0.09838 0.1707 0.10995 0.17656 0.11111 L 0.18125 0.11204 C 0.19375 0.12037 0.20573 0.12847 0.21927 0.13333 C 0.23425 0.13866 0.23776 0.13958 0.2599 0.15278 C 0.27487 0.16158 0.2711 0.15949 0.29948 0.17222 C 0.30104 0.17292 0.30261 0.17269 0.30417 0.17315 C 0.31732 0.18195 0.30378 0.17315 0.3349 0.18796 C 0.33646 0.18866 0.33802 0.19005 0.33959 0.19074 C 0.34076 0.1912 0.34206 0.19097 0.34323 0.19167 C 0.35104 0.19514 0.35886 0.19908 0.36667 0.20278 C 0.37253 0.20903 0.36537 0.20208 0.37344 0.20648 C 0.38099 0.21042 0.38841 0.21482 0.39584 0.21945 C 0.39753 0.22037 0.39922 0.22199 0.40104 0.22315 L 0.41615 0.23241 C 0.4168 0.23264 0.41758 0.23287 0.41823 0.23333 C 0.41888 0.2338 0.41953 0.23449 0.42031 0.23519 C 0.45313 0.2581 0.41537 0.23195 0.44271 0.24815 C 0.44323 0.24838 0.44375 0.24884 0.44427 0.24908 C 0.44544 0.24931 0.44675 0.24954 0.44792 0.25 C 0.44844 0.25023 0.44909 0.25162 0.44948 0.25093 C 0.45052 0.24908 0.4474 0.2463 0.4474 0.2463 C 0.44701 0.24537 0.44688 0.24421 0.44636 0.24352 C 0.44597 0.24283 0.44531 0.24306 0.44479 0.24259 C 0.44427 0.2419 0.44375 0.2412 0.44323 0.24074 L 0.43854 0.23796 C 0.43802 0.2375 0.43737 0.23773 0.43698 0.23704 L 0.43594 0.23519 " pathEditMode="relative" ptsTypes="AAAAAAAAAAAAAAAAAAAAAAAAAAAAAAAAAAAAAAAAAA">
                                      <p:cBhvr>
                                        <p:cTn id="3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39 0.00185 0.00664 0.00347 0.0099 0.00648 C 0.01146 0.00787 0.01289 0.00949 0.01459 0.01111 C 0.01498 0.01134 0.01563 0.01158 0.01615 0.01204 C 0.01836 0.01343 0.02057 0.01505 0.02292 0.01667 C 0.03034 0.0213 0.02279 0.00625 0.04011 0.02685 C 0.04232 0.0294 0.04102 0.02847 0.04427 0.02963 L 0.06042 0.04167 C 0.06107 0.04213 0.06172 0.04213 0.0625 0.04259 C 0.07031 0.04792 0.07813 0.05347 0.08594 0.05926 C 0.08711 0.05995 0.08828 0.06111 0.08959 0.06204 L 0.11146 0.075 C 0.11302 0.07593 0.11445 0.07708 0.11615 0.07778 C 0.12695 0.08148 0.1181 0.07824 0.14271 0.09259 C 0.153 0.09838 0.1707 0.10995 0.17656 0.11111 L 0.18125 0.11204 C 0.19375 0.12037 0.20573 0.12847 0.21927 0.13333 C 0.23425 0.13866 0.23776 0.13958 0.2599 0.15278 C 0.27487 0.16158 0.2711 0.15949 0.29948 0.17222 C 0.30104 0.17292 0.30261 0.17269 0.30417 0.17315 C 0.31732 0.18195 0.30378 0.17315 0.3349 0.18796 C 0.33646 0.18866 0.33802 0.19005 0.33959 0.19074 C 0.34076 0.1912 0.34206 0.19097 0.34323 0.19167 C 0.35104 0.19514 0.35886 0.19908 0.36667 0.20278 C 0.37253 0.20903 0.36537 0.20208 0.37344 0.20648 C 0.38099 0.21042 0.38841 0.21482 0.39584 0.21945 C 0.39753 0.22037 0.39922 0.22199 0.40104 0.22315 L 0.41615 0.23241 C 0.4168 0.23264 0.41758 0.23287 0.41823 0.23333 C 0.41888 0.2338 0.41953 0.23449 0.42031 0.23519 C 0.45313 0.2581 0.41537 0.23195 0.44271 0.24815 C 0.44323 0.24838 0.44375 0.24884 0.44427 0.24908 C 0.44544 0.24931 0.44675 0.24954 0.44792 0.25 C 0.44844 0.25023 0.44909 0.25162 0.44948 0.25093 C 0.45052 0.24908 0.4474 0.2463 0.4474 0.2463 C 0.44701 0.24537 0.44688 0.24421 0.44636 0.24352 C 0.44597 0.24283 0.44531 0.24306 0.44479 0.24259 C 0.44427 0.2419 0.44375 0.2412 0.44323 0.24074 L 0.43854 0.23796 C 0.43802 0.2375 0.43737 0.23773 0.43698 0.23704 L 0.43594 0.23519 " pathEditMode="relative" ptsTypes="AAAAAAAAAAAAAAAAAAAAAAAAAAAAAAAAAAAAAAAAAA">
                                      <p:cBhvr>
                                        <p:cTn id="4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39 0.00185 0.00664 0.00347 0.0099 0.00648 C 0.01146 0.00787 0.01289 0.00949 0.01459 0.01111 C 0.01498 0.01134 0.01563 0.01158 0.01615 0.01204 C 0.01836 0.01343 0.02057 0.01505 0.02292 0.01667 C 0.03034 0.0213 0.02279 0.00625 0.04011 0.02685 C 0.04232 0.0294 0.04102 0.02847 0.04427 0.02963 L 0.06042 0.04167 C 0.06107 0.04213 0.06172 0.04213 0.0625 0.04259 C 0.07031 0.04792 0.07813 0.05347 0.08594 0.05926 C 0.08711 0.05995 0.08828 0.06111 0.08959 0.06204 L 0.11146 0.075 C 0.11302 0.07593 0.11445 0.07708 0.11615 0.07778 C 0.12695 0.08148 0.1181 0.07824 0.14271 0.09259 C 0.153 0.09838 0.1707 0.10995 0.17656 0.11111 L 0.18125 0.11204 C 0.19375 0.12037 0.20573 0.12847 0.21927 0.13333 C 0.23425 0.13866 0.23776 0.13958 0.2599 0.15278 C 0.27487 0.16158 0.2711 0.15949 0.29948 0.17222 C 0.30104 0.17292 0.30261 0.17269 0.30417 0.17315 C 0.31732 0.18195 0.30378 0.17315 0.3349 0.18796 C 0.33646 0.18866 0.33802 0.19005 0.33959 0.19074 C 0.34076 0.1912 0.34206 0.19097 0.34323 0.19167 C 0.35104 0.19514 0.35886 0.19908 0.36667 0.20278 C 0.37253 0.20903 0.36537 0.20208 0.37344 0.20648 C 0.38099 0.21042 0.38841 0.21482 0.39584 0.21945 C 0.39753 0.22037 0.39922 0.22199 0.40104 0.22315 L 0.41615 0.23241 C 0.4168 0.23264 0.41758 0.23287 0.41823 0.23333 C 0.41888 0.2338 0.41953 0.23449 0.42031 0.23519 C 0.45313 0.2581 0.41537 0.23195 0.44271 0.24815 C 0.44323 0.24838 0.44375 0.24884 0.44427 0.24908 C 0.44544 0.24931 0.44675 0.24954 0.44792 0.25 C 0.44844 0.25023 0.44909 0.25162 0.44948 0.25093 C 0.45052 0.24908 0.4474 0.2463 0.4474 0.2463 C 0.44701 0.24537 0.44688 0.24421 0.44636 0.24352 C 0.44597 0.24283 0.44531 0.24306 0.44479 0.24259 C 0.44427 0.2419 0.44375 0.2412 0.44323 0.24074 L 0.43854 0.23796 C 0.43802 0.2375 0.43737 0.23773 0.43698 0.23704 L 0.43594 0.23519 " pathEditMode="relative" ptsTypes="AAAAAAAAAAAAAAAAAAAAAAAAAAAAAAAAAAAAAAAAAA">
                                      <p:cBhvr>
                                        <p:cTn id="4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39 0.00185 0.00664 0.00347 0.0099 0.00648 C 0.01146 0.00787 0.01289 0.00949 0.01459 0.01111 C 0.01498 0.01134 0.01563 0.01158 0.01615 0.01204 C 0.01836 0.01343 0.02057 0.01505 0.02292 0.01667 C 0.03034 0.0213 0.02279 0.00625 0.04011 0.02685 C 0.04232 0.0294 0.04102 0.02847 0.04427 0.02963 L 0.06042 0.04167 C 0.06107 0.04213 0.06172 0.04213 0.0625 0.04259 C 0.07031 0.04792 0.07813 0.05347 0.08594 0.05926 C 0.08711 0.05995 0.08828 0.06111 0.08959 0.06204 L 0.11146 0.075 C 0.11302 0.07593 0.11445 0.07708 0.11615 0.07778 C 0.12695 0.08148 0.1181 0.07824 0.14271 0.09259 C 0.153 0.09838 0.1707 0.10995 0.17656 0.11111 L 0.18125 0.11204 C 0.19375 0.12037 0.20573 0.12847 0.21927 0.13333 C 0.23425 0.13866 0.23776 0.13958 0.2599 0.15278 C 0.27487 0.16158 0.2711 0.15949 0.29948 0.17222 C 0.30104 0.17292 0.30261 0.17269 0.30417 0.17315 C 0.31732 0.18195 0.30378 0.17315 0.3349 0.18796 C 0.33646 0.18866 0.33802 0.19005 0.33959 0.19074 C 0.34076 0.1912 0.34206 0.19097 0.34323 0.19167 C 0.35104 0.19514 0.35886 0.19908 0.36667 0.20278 C 0.37253 0.20903 0.36537 0.20208 0.37344 0.20648 C 0.38099 0.21042 0.38841 0.21482 0.39584 0.21945 C 0.39753 0.22037 0.39922 0.22199 0.40104 0.22315 L 0.41615 0.23241 C 0.4168 0.23264 0.41758 0.23287 0.41823 0.23333 C 0.41888 0.2338 0.41953 0.23449 0.42031 0.23519 C 0.45313 0.2581 0.41537 0.23195 0.44271 0.24815 C 0.44323 0.24838 0.44375 0.24884 0.44427 0.24908 C 0.44544 0.24931 0.44675 0.24954 0.44792 0.25 C 0.44844 0.25023 0.44909 0.25162 0.44948 0.25093 C 0.45052 0.24908 0.4474 0.2463 0.4474 0.2463 C 0.44701 0.24537 0.44688 0.24421 0.44636 0.24352 C 0.44597 0.24283 0.44531 0.24306 0.44479 0.24259 C 0.44427 0.2419 0.44375 0.2412 0.44323 0.24074 L 0.43854 0.23796 C 0.43802 0.2375 0.43737 0.23773 0.43698 0.23704 L 0.43594 0.23519 " pathEditMode="relative" ptsTypes="AAAAAAAAAAAAAAAAAAAAAAAAAAAAAAAAAAAAAAAAAA">
                                      <p:cBhvr>
                                        <p:cTn id="4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39 0.00185 0.00664 0.00347 0.0099 0.00648 C 0.01146 0.00787 0.01289 0.00949 0.01459 0.01111 C 0.01498 0.01134 0.01563 0.01158 0.01615 0.01204 C 0.01836 0.01343 0.02057 0.01505 0.02292 0.01667 C 0.03034 0.0213 0.02279 0.00625 0.04011 0.02685 C 0.04232 0.0294 0.04102 0.02847 0.04427 0.02963 L 0.06042 0.04167 C 0.06107 0.04213 0.06172 0.04213 0.0625 0.04259 C 0.07031 0.04792 0.07813 0.05347 0.08594 0.05926 C 0.08711 0.05995 0.08828 0.06111 0.08959 0.06204 L 0.11146 0.075 C 0.11302 0.07593 0.11445 0.07708 0.11615 0.07778 C 0.12695 0.08148 0.1181 0.07824 0.14271 0.09259 C 0.153 0.09838 0.1707 0.10995 0.17656 0.11111 L 0.18125 0.11204 C 0.19375 0.12037 0.20573 0.12847 0.21927 0.13333 C 0.23425 0.13866 0.23776 0.13958 0.2599 0.15278 C 0.27487 0.16158 0.2711 0.15949 0.29948 0.17222 C 0.30104 0.17292 0.30261 0.17269 0.30417 0.17315 C 0.31732 0.18195 0.30378 0.17315 0.3349 0.18796 C 0.33646 0.18866 0.33802 0.19005 0.33959 0.19074 C 0.34076 0.1912 0.34206 0.19097 0.34323 0.19167 C 0.35104 0.19514 0.35886 0.19908 0.36667 0.20278 C 0.37253 0.20903 0.36537 0.20208 0.37344 0.20648 C 0.38099 0.21042 0.38841 0.21482 0.39584 0.21945 C 0.39753 0.22037 0.39922 0.22199 0.40104 0.22315 L 0.41615 0.23241 C 0.4168 0.23264 0.41758 0.23287 0.41823 0.23333 C 0.41888 0.2338 0.41953 0.23449 0.42031 0.23519 C 0.45313 0.2581 0.41537 0.23195 0.44271 0.24815 C 0.44323 0.24838 0.44375 0.24884 0.44427 0.24908 C 0.44544 0.24931 0.44675 0.24954 0.44792 0.25 C 0.44844 0.25023 0.44909 0.25162 0.44948 0.25093 C 0.45052 0.24908 0.4474 0.2463 0.4474 0.2463 C 0.44701 0.24537 0.44688 0.24421 0.44636 0.24352 C 0.44597 0.24283 0.44531 0.24306 0.44479 0.24259 C 0.44427 0.2419 0.44375 0.2412 0.44323 0.24074 L 0.43854 0.23796 C 0.43802 0.2375 0.43737 0.23773 0.43698 0.23704 L 0.43594 0.23519 " pathEditMode="relative" ptsTypes="AAAAAAAAAAAAAAAAAAAAAAAAAAAAAAAAAAAAAAAAAA">
                                      <p:cBhvr>
                                        <p:cTn id="4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247 -0.00301 0.00521 -0.00533 0.00755 -0.0088 C 0.00872 -0.01042 0.00976 -0.0125 0.01107 -0.01366 C 0.0125 -0.01505 0.01432 -0.01505 0.01588 -0.01621 C 0.02825 -0.02454 0.01146 -0.01551 0.025 -0.02223 C 0.02617 -0.02454 0.02669 -0.0257 0.02838 -0.02732 C 0.02956 -0.02825 0.03073 -0.02871 0.0319 -0.02963 C 0.03385 -0.03149 0.03541 -0.03426 0.0375 -0.03588 C 0.0388 -0.03704 0.04023 -0.03727 0.04166 -0.03843 C 0.04284 -0.03936 0.04388 -0.04098 0.04505 -0.04213 C 0.04622 -0.04306 0.04739 -0.04352 0.04857 -0.04445 C 0.04961 -0.04561 0.05026 -0.04746 0.0513 -0.04815 C 0.05234 -0.04908 0.05364 -0.04908 0.05482 -0.04954 C 0.05755 -0.0507 0.06041 -0.05186 0.06315 -0.05325 C 0.0638 -0.05348 0.06445 -0.05417 0.06523 -0.0544 C 0.07148 -0.05625 0.08398 -0.05926 0.08398 -0.05926 C 0.08789 -0.06135 0.09206 -0.06227 0.09583 -0.06551 C 0.09765 -0.06713 0.09935 -0.06922 0.1013 -0.07038 C 0.10429 -0.07246 0.10742 -0.07431 0.11041 -0.07663 C 0.1125 -0.07825 0.11445 -0.0801 0.11666 -0.08149 C 0.11953 -0.0838 0.11862 -0.08195 0.12213 -0.08519 C 0.13633 -0.09862 0.12591 -0.08866 0.13398 -0.09885 C 0.13502 -0.10024 0.13633 -0.10116 0.1375 -0.10255 C 0.1388 -0.10417 0.14023 -0.10602 0.14166 -0.10741 C 0.14323 -0.10926 0.14492 -0.11065 0.14648 -0.1125 C 0.14765 -0.11389 0.1487 -0.11575 0.15 -0.11737 C 0.15716 -0.12639 0.15 -0.11667 0.15625 -0.12362 C 0.15716 -0.12454 0.15794 -0.12616 0.15898 -0.12732 C 0.16081 -0.12917 0.16289 -0.12987 0.16458 -0.13218 C 0.16627 -0.1345 0.16875 -0.1382 0.17083 -0.13959 C 0.17344 -0.14144 0.17643 -0.14213 0.17916 -0.14445 C 0.1875 -0.15186 0.17708 -0.14237 0.18398 -0.14931 C 0.18489 -0.15024 0.18581 -0.15093 0.18672 -0.15186 C 0.18776 -0.15301 0.18867 -0.15417 0.18958 -0.15556 C 0.18997 -0.15625 0.19036 -0.15764 0.19088 -0.15811 C 0.19192 -0.1588 0.19323 -0.1588 0.1944 -0.15926 C 0.19713 -0.16413 0.19427 -0.15973 0.19791 -0.16297 C 0.20325 -0.16783 0.19674 -0.16366 0.20208 -0.16667 C 0.20273 -0.1676 0.20338 -0.16852 0.20416 -0.16922 C 0.20586 -0.17084 0.20807 -0.17176 0.20963 -0.17408 C 0.21081 -0.1757 0.21185 -0.17755 0.21315 -0.17894 C 0.21614 -0.18264 0.21601 -0.18079 0.2194 -0.18403 C 0.22539 -0.18982 0.22148 -0.18774 0.22708 -0.1926 L 0.23255 -0.19746 C 0.23346 -0.19838 0.23437 -0.19931 0.23541 -0.2 C 0.23607 -0.20047 0.23672 -0.2007 0.2375 -0.20116 C 0.24245 -0.20579 0.23698 -0.20163 0.24088 -0.20625 C 0.24179 -0.20718 0.24284 -0.20764 0.24375 -0.20857 C 0.24492 -0.20973 0.24596 -0.21112 0.24713 -0.21227 C 0.24804 -0.2132 0.24896 -0.21413 0.25 -0.21482 C 0.2513 -0.21575 0.25286 -0.21575 0.25416 -0.21737 L 0.25833 -0.22223 C 0.25898 -0.22315 0.2595 -0.22431 0.26041 -0.22477 L 0.2625 -0.22593 C 0.26484 -0.23033 0.26315 -0.22801 0.26797 -0.23079 L 0.26797 -0.23079 C 0.26875 -0.23172 0.2694 -0.23241 0.27005 -0.23334 C 0.27057 -0.23403 0.27096 -0.23519 0.27148 -0.23588 C 0.27213 -0.23635 0.27278 -0.23658 0.27357 -0.23704 C 0.27526 -0.23913 0.27643 -0.24051 0.27838 -0.2419 C 0.27929 -0.2426 0.28034 -0.2426 0.28125 -0.24329 C 0.28554 -0.24607 0.28255 -0.24514 0.28672 -0.24931 C 0.28737 -0.25 0.28815 -0.25 0.2888 -0.2507 C 0.28971 -0.25139 0.29062 -0.25232 0.29166 -0.25301 C 0.29232 -0.2544 0.29284 -0.25579 0.29375 -0.25672 C 0.29427 -0.25741 0.29505 -0.25741 0.29583 -0.25811 C 0.29648 -0.25857 0.29713 -0.25973 0.29791 -0.26042 C 0.29857 -0.26112 0.29922 -0.26112 0.3 -0.26181 C 0.30534 -0.26644 0.29883 -0.26227 0.30416 -0.26551 C 0.30937 -0.27477 0.30325 -0.26505 0.30833 -0.27038 C 0.31302 -0.27547 0.30586 -0.27061 0.31172 -0.27408 C 0.31406 -0.27663 0.31302 -0.27639 0.31458 -0.27639 " pathEditMode="relative" ptsTypes="AAAAAAAAAAAAAAAAAAAAAAAAAAAAAAAAAAAAAAAAAAAAAAAAAAAAAAAAAAAAAAAAAAAAAAAAA">
                                      <p:cBhvr>
                                        <p:cTn id="7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247 -0.00301 0.00521 -0.00533 0.00755 -0.0088 C 0.00872 -0.01042 0.00976 -0.0125 0.01107 -0.01366 C 0.0125 -0.01505 0.01432 -0.01505 0.01588 -0.01621 C 0.02825 -0.02454 0.01146 -0.01551 0.025 -0.02223 C 0.02617 -0.02454 0.02669 -0.0257 0.02838 -0.02732 C 0.02956 -0.02825 0.03073 -0.02871 0.0319 -0.02963 C 0.03385 -0.03149 0.03541 -0.03426 0.0375 -0.03588 C 0.0388 -0.03704 0.04023 -0.03727 0.04166 -0.03843 C 0.04284 -0.03936 0.04388 -0.04098 0.04505 -0.04213 C 0.04622 -0.04306 0.04739 -0.04352 0.04857 -0.04445 C 0.04961 -0.04561 0.05026 -0.04746 0.0513 -0.04815 C 0.05234 -0.04908 0.05364 -0.04908 0.05482 -0.04954 C 0.05755 -0.0507 0.06041 -0.05186 0.06315 -0.05325 C 0.0638 -0.05348 0.06445 -0.05417 0.06523 -0.0544 C 0.07148 -0.05625 0.08398 -0.05926 0.08398 -0.05926 C 0.08789 -0.06135 0.09206 -0.06227 0.09583 -0.06551 C 0.09765 -0.06713 0.09935 -0.06922 0.1013 -0.07038 C 0.10429 -0.07246 0.10742 -0.07431 0.11041 -0.07663 C 0.1125 -0.07825 0.11445 -0.0801 0.11666 -0.08149 C 0.11953 -0.0838 0.11862 -0.08195 0.12213 -0.08519 C 0.13633 -0.09862 0.12591 -0.08866 0.13398 -0.09885 C 0.13502 -0.10024 0.13633 -0.10116 0.1375 -0.10255 C 0.1388 -0.10417 0.14023 -0.10602 0.14166 -0.10741 C 0.14323 -0.10926 0.14492 -0.11065 0.14648 -0.1125 C 0.14765 -0.11389 0.1487 -0.11575 0.15 -0.11737 C 0.15716 -0.12639 0.15 -0.11667 0.15625 -0.12362 C 0.15716 -0.12454 0.15794 -0.12616 0.15898 -0.12732 C 0.16081 -0.12917 0.16289 -0.12987 0.16458 -0.13218 C 0.16627 -0.1345 0.16875 -0.1382 0.17083 -0.13959 C 0.17344 -0.14144 0.17643 -0.14213 0.17916 -0.14445 C 0.1875 -0.15186 0.17708 -0.14237 0.18398 -0.14931 C 0.18489 -0.15024 0.18581 -0.15093 0.18672 -0.15186 C 0.18776 -0.15301 0.18867 -0.15417 0.18958 -0.15556 C 0.18997 -0.15625 0.19036 -0.15764 0.19088 -0.15811 C 0.19192 -0.1588 0.19323 -0.1588 0.1944 -0.15926 C 0.19713 -0.16413 0.19427 -0.15973 0.19791 -0.16297 C 0.20325 -0.16783 0.19674 -0.16366 0.20208 -0.16667 C 0.20273 -0.1676 0.20338 -0.16852 0.20416 -0.16922 C 0.20586 -0.17084 0.20807 -0.17176 0.20963 -0.17408 C 0.21081 -0.1757 0.21185 -0.17755 0.21315 -0.17894 C 0.21614 -0.18264 0.21601 -0.18079 0.2194 -0.18403 C 0.22539 -0.18982 0.22148 -0.18774 0.22708 -0.1926 L 0.23255 -0.19746 C 0.23346 -0.19838 0.23437 -0.19931 0.23541 -0.2 C 0.23607 -0.20047 0.23672 -0.2007 0.2375 -0.20116 C 0.24245 -0.20579 0.23698 -0.20163 0.24088 -0.20625 C 0.24179 -0.20718 0.24284 -0.20764 0.24375 -0.20857 C 0.24492 -0.20973 0.24596 -0.21112 0.24713 -0.21227 C 0.24804 -0.2132 0.24896 -0.21413 0.25 -0.21482 C 0.2513 -0.21575 0.25286 -0.21575 0.25416 -0.21737 L 0.25833 -0.22223 C 0.25898 -0.22315 0.2595 -0.22431 0.26041 -0.22477 L 0.2625 -0.22593 C 0.26484 -0.23033 0.26315 -0.22801 0.26797 -0.23079 L 0.26797 -0.23079 C 0.26875 -0.23172 0.2694 -0.23241 0.27005 -0.23334 C 0.27057 -0.23403 0.27096 -0.23519 0.27148 -0.23588 C 0.27213 -0.23635 0.27278 -0.23658 0.27357 -0.23704 C 0.27526 -0.23913 0.27643 -0.24051 0.27838 -0.2419 C 0.27929 -0.2426 0.28034 -0.2426 0.28125 -0.24329 C 0.28554 -0.24607 0.28255 -0.24514 0.28672 -0.24931 C 0.28737 -0.25 0.28815 -0.25 0.2888 -0.2507 C 0.28971 -0.25139 0.29062 -0.25232 0.29166 -0.25301 C 0.29232 -0.2544 0.29284 -0.25579 0.29375 -0.25672 C 0.29427 -0.25741 0.29505 -0.25741 0.29583 -0.25811 C 0.29648 -0.25857 0.29713 -0.25973 0.29791 -0.26042 C 0.29857 -0.26112 0.29922 -0.26112 0.3 -0.26181 C 0.30534 -0.26644 0.29883 -0.26227 0.30416 -0.26551 C 0.30937 -0.27477 0.30325 -0.26505 0.30833 -0.27038 C 0.31302 -0.27547 0.30586 -0.27061 0.31172 -0.27408 C 0.31406 -0.27663 0.31302 -0.27639 0.31458 -0.27639 " pathEditMode="relative" ptsTypes="AAAAAAAAAAAAAAAAAAAAAAAAAAAAAAAAAAAAAAAAAAAAAAAAAAAAAAAAAAAAAAAAAAAAAAAAA">
                                      <p:cBhvr>
                                        <p:cTn id="7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3" grpId="0" animBg="1"/>
      <p:bldP spid="43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9" grpId="0"/>
      <p:bldP spid="10" grpId="0"/>
      <p:bldP spid="10" grpId="1"/>
      <p:bldP spid="51" grpId="0"/>
      <p:bldP spid="53" grpId="0" animBg="1"/>
      <p:bldP spid="53" grpId="1" animBg="1"/>
      <p:bldP spid="54" grpId="0" animBg="1"/>
      <p:bldP spid="5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0625" y="6463869"/>
            <a:ext cx="506328" cy="196131"/>
          </a:xfrm>
        </p:spPr>
        <p:txBody>
          <a:bodyPr/>
          <a:lstStyle/>
          <a:p>
            <a:fld id="{B27B0579-4238-4E44-9A9E-134B676F827C}" type="slidenum">
              <a:rPr lang="de-DE" smtClean="0"/>
              <a:t>29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53C17-698B-484D-8C97-815C1146A3A0}"/>
              </a:ext>
            </a:extLst>
          </p:cNvPr>
          <p:cNvSpPr/>
          <p:nvPr/>
        </p:nvSpPr>
        <p:spPr>
          <a:xfrm>
            <a:off x="2329574" y="271603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9399F-3FD0-4FA3-AB97-3CBBD1EF51FF}"/>
              </a:ext>
            </a:extLst>
          </p:cNvPr>
          <p:cNvSpPr/>
          <p:nvPr/>
        </p:nvSpPr>
        <p:spPr>
          <a:xfrm>
            <a:off x="4327049" y="271603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create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DFB50-26E0-4179-B94E-05AA86F37254}"/>
              </a:ext>
            </a:extLst>
          </p:cNvPr>
          <p:cNvSpPr/>
          <p:nvPr/>
        </p:nvSpPr>
        <p:spPr>
          <a:xfrm>
            <a:off x="6324524" y="271603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&lt;image name&gt;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6517D7-31B6-49B9-81CC-8A1D3937E171}"/>
              </a:ext>
            </a:extLst>
          </p:cNvPr>
          <p:cNvSpPr/>
          <p:nvPr/>
        </p:nvSpPr>
        <p:spPr>
          <a:xfrm>
            <a:off x="8321999" y="271603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command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2C2FA-1C7D-438B-A859-7895003A7963}"/>
              </a:ext>
            </a:extLst>
          </p:cNvPr>
          <p:cNvSpPr txBox="1"/>
          <p:nvPr/>
        </p:nvSpPr>
        <p:spPr>
          <a:xfrm>
            <a:off x="2483849" y="3609883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3B2EE-FB84-4DD6-820F-09ACCC56FCDC}"/>
              </a:ext>
            </a:extLst>
          </p:cNvPr>
          <p:cNvSpPr txBox="1"/>
          <p:nvPr/>
        </p:nvSpPr>
        <p:spPr>
          <a:xfrm>
            <a:off x="4498682" y="2241060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Create and run a container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575B0-0B40-4BC6-8B43-143D70EB8CE2}"/>
              </a:ext>
            </a:extLst>
          </p:cNvPr>
          <p:cNvSpPr txBox="1"/>
          <p:nvPr/>
        </p:nvSpPr>
        <p:spPr>
          <a:xfrm>
            <a:off x="6472486" y="3609883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Image to use for the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B53662-86DD-4A72-A29B-3CDA32677D0A}"/>
              </a:ext>
            </a:extLst>
          </p:cNvPr>
          <p:cNvSpPr txBox="1"/>
          <p:nvPr/>
        </p:nvSpPr>
        <p:spPr>
          <a:xfrm>
            <a:off x="8496790" y="2168535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Override default command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9AE882-B078-487F-8561-0D68A5530926}"/>
              </a:ext>
            </a:extLst>
          </p:cNvPr>
          <p:cNvSpPr/>
          <p:nvPr/>
        </p:nvSpPr>
        <p:spPr>
          <a:xfrm>
            <a:off x="2329573" y="4274685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37C57C-1900-4563-A39E-BB25F796796F}"/>
              </a:ext>
            </a:extLst>
          </p:cNvPr>
          <p:cNvSpPr/>
          <p:nvPr/>
        </p:nvSpPr>
        <p:spPr>
          <a:xfrm>
            <a:off x="4327048" y="4274685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D8F346-32A2-49D9-834F-44112C06B543}"/>
              </a:ext>
            </a:extLst>
          </p:cNvPr>
          <p:cNvSpPr/>
          <p:nvPr/>
        </p:nvSpPr>
        <p:spPr>
          <a:xfrm>
            <a:off x="6324523" y="4274685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&lt;container id(s)&gt;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B90B22-2E7D-402F-9441-777ABE3824F7}"/>
              </a:ext>
            </a:extLst>
          </p:cNvPr>
          <p:cNvSpPr txBox="1"/>
          <p:nvPr/>
        </p:nvSpPr>
        <p:spPr>
          <a:xfrm>
            <a:off x="2483848" y="5168531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F26976-317D-4FAC-932F-794F97D44147}"/>
              </a:ext>
            </a:extLst>
          </p:cNvPr>
          <p:cNvSpPr txBox="1"/>
          <p:nvPr/>
        </p:nvSpPr>
        <p:spPr>
          <a:xfrm>
            <a:off x="4498682" y="3809233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Try to start the container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73733C-5C24-4CD2-8E8C-55E6CA6E6DE4}"/>
              </a:ext>
            </a:extLst>
          </p:cNvPr>
          <p:cNvSpPr txBox="1"/>
          <p:nvPr/>
        </p:nvSpPr>
        <p:spPr>
          <a:xfrm>
            <a:off x="6472485" y="5168531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Container id (see docker </a:t>
            </a:r>
            <a:r>
              <a:rPr lang="en-US" sz="1400" err="1"/>
              <a:t>ps</a:t>
            </a:r>
            <a:r>
              <a:rPr lang="en-US" sz="140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5911E1-0BA3-40A2-AD5D-0D82B1830019}"/>
              </a:ext>
            </a:extLst>
          </p:cNvPr>
          <p:cNvSpPr txBox="1"/>
          <p:nvPr/>
        </p:nvSpPr>
        <p:spPr>
          <a:xfrm>
            <a:off x="749415" y="3046823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Create a container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1FFE5D-179E-485A-B23F-67DC248B370C}"/>
              </a:ext>
            </a:extLst>
          </p:cNvPr>
          <p:cNvSpPr txBox="1"/>
          <p:nvPr/>
        </p:nvSpPr>
        <p:spPr>
          <a:xfrm>
            <a:off x="681682" y="4555712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Start a container</a:t>
            </a:r>
          </a:p>
        </p:txBody>
      </p:sp>
    </p:spTree>
    <p:extLst>
      <p:ext uri="{BB962C8B-B14F-4D97-AF65-F5344CB8AC3E}">
        <p14:creationId xmlns:p14="http://schemas.microsoft.com/office/powerpoint/2010/main" val="1540541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0625" y="6463869"/>
            <a:ext cx="506328" cy="196131"/>
          </a:xfrm>
        </p:spPr>
        <p:txBody>
          <a:bodyPr/>
          <a:lstStyle/>
          <a:p>
            <a:fld id="{B27B0579-4238-4E44-9A9E-134B676F827C}" type="slidenum">
              <a:rPr lang="de-DE" smtClean="0"/>
              <a:t>30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E2655A-FCF7-2F48-E230-DF3B2E1068C9}"/>
              </a:ext>
            </a:extLst>
          </p:cNvPr>
          <p:cNvSpPr/>
          <p:nvPr/>
        </p:nvSpPr>
        <p:spPr>
          <a:xfrm>
            <a:off x="2821575" y="2722112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F83970-4F4B-583D-20F3-A3C33279EB4F}"/>
              </a:ext>
            </a:extLst>
          </p:cNvPr>
          <p:cNvSpPr/>
          <p:nvPr/>
        </p:nvSpPr>
        <p:spPr>
          <a:xfrm>
            <a:off x="4815975" y="2722112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E6B475-903C-EC2F-83D8-934A310AC398}"/>
              </a:ext>
            </a:extLst>
          </p:cNvPr>
          <p:cNvSpPr/>
          <p:nvPr/>
        </p:nvSpPr>
        <p:spPr>
          <a:xfrm>
            <a:off x="6813975" y="2722112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&lt;container id(s) 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65891-32E3-4852-B550-01EA94CA2F20}"/>
              </a:ext>
            </a:extLst>
          </p:cNvPr>
          <p:cNvSpPr txBox="1"/>
          <p:nvPr/>
        </p:nvSpPr>
        <p:spPr>
          <a:xfrm>
            <a:off x="2969067" y="3615958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 dirty="0"/>
              <a:t>Docker client 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59A6D-77CC-ED35-BB52-D6F2664FFFBF}"/>
              </a:ext>
            </a:extLst>
          </p:cNvPr>
          <p:cNvSpPr txBox="1"/>
          <p:nvPr/>
        </p:nvSpPr>
        <p:spPr>
          <a:xfrm>
            <a:off x="4998496" y="2247135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Try to pause the container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C1A32-4AB2-0497-57BE-0C5BB598628D}"/>
              </a:ext>
            </a:extLst>
          </p:cNvPr>
          <p:cNvSpPr txBox="1"/>
          <p:nvPr/>
        </p:nvSpPr>
        <p:spPr>
          <a:xfrm>
            <a:off x="6957704" y="3615958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Container id (see docker </a:t>
            </a:r>
            <a:r>
              <a:rPr lang="en-US" sz="1400" dirty="0" err="1"/>
              <a:t>ps</a:t>
            </a:r>
            <a:r>
              <a:rPr lang="en-US" sz="1400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94E389-E287-DB1D-318D-A77FE70E502B}"/>
              </a:ext>
            </a:extLst>
          </p:cNvPr>
          <p:cNvSpPr txBox="1"/>
          <p:nvPr/>
        </p:nvSpPr>
        <p:spPr>
          <a:xfrm>
            <a:off x="1157376" y="3012664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Pause a container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640C17-FDB3-A00E-3C48-50AD62A4D2FB}"/>
              </a:ext>
            </a:extLst>
          </p:cNvPr>
          <p:cNvSpPr/>
          <p:nvPr/>
        </p:nvSpPr>
        <p:spPr>
          <a:xfrm>
            <a:off x="2821575" y="4272285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837C9E-E51F-2287-879C-26208C58BDA9}"/>
              </a:ext>
            </a:extLst>
          </p:cNvPr>
          <p:cNvSpPr/>
          <p:nvPr/>
        </p:nvSpPr>
        <p:spPr>
          <a:xfrm>
            <a:off x="4815975" y="4272285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stop / kill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E8ECCE-1E48-BBD9-EA58-BDAAE7C0F33E}"/>
              </a:ext>
            </a:extLst>
          </p:cNvPr>
          <p:cNvSpPr/>
          <p:nvPr/>
        </p:nvSpPr>
        <p:spPr>
          <a:xfrm>
            <a:off x="6813975" y="4272285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&lt;container id(s) 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976045-6DF0-8C53-0A1E-276BD5B8A351}"/>
              </a:ext>
            </a:extLst>
          </p:cNvPr>
          <p:cNvSpPr txBox="1"/>
          <p:nvPr/>
        </p:nvSpPr>
        <p:spPr>
          <a:xfrm>
            <a:off x="2969067" y="5166131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9F8F84-50AF-3A6B-149D-7B821E7EFB54}"/>
              </a:ext>
            </a:extLst>
          </p:cNvPr>
          <p:cNvSpPr txBox="1"/>
          <p:nvPr/>
        </p:nvSpPr>
        <p:spPr>
          <a:xfrm>
            <a:off x="4988971" y="3797308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Try to stop the container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198ED0-4EAB-17E4-C92D-4F25BF3E893F}"/>
              </a:ext>
            </a:extLst>
          </p:cNvPr>
          <p:cNvSpPr txBox="1"/>
          <p:nvPr/>
        </p:nvSpPr>
        <p:spPr>
          <a:xfrm>
            <a:off x="6957704" y="5166131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Container id (see docker </a:t>
            </a:r>
            <a:r>
              <a:rPr lang="en-US" sz="1400" dirty="0" err="1"/>
              <a:t>ps</a:t>
            </a:r>
            <a:r>
              <a:rPr lang="en-US" sz="14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5A6C11-28FC-E1CF-A74A-5A6A791CBEB3}"/>
              </a:ext>
            </a:extLst>
          </p:cNvPr>
          <p:cNvSpPr txBox="1"/>
          <p:nvPr/>
        </p:nvSpPr>
        <p:spPr>
          <a:xfrm>
            <a:off x="1157376" y="4562837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Stop a container</a:t>
            </a:r>
          </a:p>
        </p:txBody>
      </p:sp>
    </p:spTree>
    <p:extLst>
      <p:ext uri="{BB962C8B-B14F-4D97-AF65-F5344CB8AC3E}">
        <p14:creationId xmlns:p14="http://schemas.microsoft.com/office/powerpoint/2010/main" val="3831345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07B44C67-FB11-47A1-99EB-B7F5E796C7B8}"/>
              </a:ext>
            </a:extLst>
          </p:cNvPr>
          <p:cNvSpPr/>
          <p:nvPr/>
        </p:nvSpPr>
        <p:spPr>
          <a:xfrm>
            <a:off x="5977467" y="1339626"/>
            <a:ext cx="5373158" cy="5320373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B27B0579-4238-4E44-9A9E-134B676F827C}" type="slidenum">
              <a:rPr lang="de-DE" smtClean="0"/>
              <a:t>31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6346382" y="1830743"/>
            <a:ext cx="3676250" cy="135617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Running Process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6346382" y="3700876"/>
            <a:ext cx="572346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81D66-EE19-4F05-A7ED-F65AB00A0751}"/>
              </a:ext>
            </a:extLst>
          </p:cNvPr>
          <p:cNvSpPr/>
          <p:nvPr/>
        </p:nvSpPr>
        <p:spPr>
          <a:xfrm>
            <a:off x="6288397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B292B8-5C11-459B-AFB8-DFC182826993}"/>
              </a:ext>
            </a:extLst>
          </p:cNvPr>
          <p:cNvSpPr/>
          <p:nvPr/>
        </p:nvSpPr>
        <p:spPr>
          <a:xfrm>
            <a:off x="7938559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B90E95-FEB3-415A-80B2-9AB11D914CC8}"/>
              </a:ext>
            </a:extLst>
          </p:cNvPr>
          <p:cNvSpPr/>
          <p:nvPr/>
        </p:nvSpPr>
        <p:spPr>
          <a:xfrm>
            <a:off x="9588722" y="4980721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51E313-EC30-42CE-B70B-7E5DC53395BD}"/>
              </a:ext>
            </a:extLst>
          </p:cNvPr>
          <p:cNvSpPr/>
          <p:nvPr/>
        </p:nvSpPr>
        <p:spPr>
          <a:xfrm>
            <a:off x="6981770" y="2183809"/>
            <a:ext cx="2455210" cy="861134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ping www.google.com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0495F-2B8B-41A5-8BF9-421918252326}"/>
              </a:ext>
            </a:extLst>
          </p:cNvPr>
          <p:cNvSpPr txBox="1"/>
          <p:nvPr/>
        </p:nvSpPr>
        <p:spPr>
          <a:xfrm>
            <a:off x="8393971" y="5782122"/>
            <a:ext cx="1174750" cy="69910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/>
              <a:t>Hard drive segment of the process</a:t>
            </a:r>
          </a:p>
        </p:txBody>
      </p:sp>
      <p:sp>
        <p:nvSpPr>
          <p:cNvPr id="52" name="Flowchart: Process 51">
            <a:extLst>
              <a:ext uri="{FF2B5EF4-FFF2-40B4-BE49-F238E27FC236}">
                <a16:creationId xmlns:a16="http://schemas.microsoft.com/office/drawing/2014/main" id="{252E6921-E4E7-4A95-B7D2-0C26301FE894}"/>
              </a:ext>
            </a:extLst>
          </p:cNvPr>
          <p:cNvSpPr/>
          <p:nvPr/>
        </p:nvSpPr>
        <p:spPr>
          <a:xfrm>
            <a:off x="6096000" y="5623223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B1DED9-98C3-42BE-9D51-F2129097DAED}"/>
              </a:ext>
            </a:extLst>
          </p:cNvPr>
          <p:cNvSpPr/>
          <p:nvPr/>
        </p:nvSpPr>
        <p:spPr>
          <a:xfrm>
            <a:off x="6208264" y="598877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05AF8F-0DB0-4D2D-BA82-D9E27DAB584E}"/>
              </a:ext>
            </a:extLst>
          </p:cNvPr>
          <p:cNvSpPr/>
          <p:nvPr/>
        </p:nvSpPr>
        <p:spPr>
          <a:xfrm>
            <a:off x="6208263" y="626334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5F1795-5078-4083-BE1B-D39EB41794D8}"/>
              </a:ext>
            </a:extLst>
          </p:cNvPr>
          <p:cNvSpPr/>
          <p:nvPr/>
        </p:nvSpPr>
        <p:spPr>
          <a:xfrm>
            <a:off x="6899203" y="598877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2C75FE-1B8F-432B-A0ED-0A65F4168A6F}"/>
              </a:ext>
            </a:extLst>
          </p:cNvPr>
          <p:cNvSpPr/>
          <p:nvPr/>
        </p:nvSpPr>
        <p:spPr>
          <a:xfrm>
            <a:off x="6899202" y="626334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775A49-D762-4C13-A9FA-D347AFDA8771}"/>
              </a:ext>
            </a:extLst>
          </p:cNvPr>
          <p:cNvSpPr/>
          <p:nvPr/>
        </p:nvSpPr>
        <p:spPr>
          <a:xfrm>
            <a:off x="7592022" y="598877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5D022EC-9ADD-4717-BF45-310002F4DEFB}"/>
              </a:ext>
            </a:extLst>
          </p:cNvPr>
          <p:cNvSpPr/>
          <p:nvPr/>
        </p:nvSpPr>
        <p:spPr>
          <a:xfrm>
            <a:off x="7592021" y="626334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658A93-46FE-4933-80DB-2A4D275C9A2B}"/>
              </a:ext>
            </a:extLst>
          </p:cNvPr>
          <p:cNvSpPr/>
          <p:nvPr/>
        </p:nvSpPr>
        <p:spPr>
          <a:xfrm>
            <a:off x="750277" y="2183809"/>
            <a:ext cx="1772763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0C8CD97-4999-4C66-98D6-62518E055013}"/>
              </a:ext>
            </a:extLst>
          </p:cNvPr>
          <p:cNvSpPr/>
          <p:nvPr/>
        </p:nvSpPr>
        <p:spPr>
          <a:xfrm>
            <a:off x="3485487" y="2183809"/>
            <a:ext cx="1772763" cy="861134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b="1" i="1">
                <a:solidFill>
                  <a:schemeClr val="tx1"/>
                </a:solidFill>
              </a:rPr>
              <a:t>SIGTERM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60F8B6-0B49-472A-AFF9-B9D40A201C67}"/>
              </a:ext>
            </a:extLst>
          </p:cNvPr>
          <p:cNvCxnSpPr>
            <a:stCxn id="59" idx="3"/>
            <a:endCxn id="60" idx="1"/>
          </p:cNvCxnSpPr>
          <p:nvPr/>
        </p:nvCxnSpPr>
        <p:spPr>
          <a:xfrm>
            <a:off x="2523040" y="2614376"/>
            <a:ext cx="962447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CEB9A5-D26F-4082-96C9-7A650B7538FB}"/>
              </a:ext>
            </a:extLst>
          </p:cNvPr>
          <p:cNvCxnSpPr>
            <a:stCxn id="60" idx="3"/>
            <a:endCxn id="25" idx="1"/>
          </p:cNvCxnSpPr>
          <p:nvPr/>
        </p:nvCxnSpPr>
        <p:spPr>
          <a:xfrm>
            <a:off x="5258250" y="2614376"/>
            <a:ext cx="1723520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0A05212-84DA-4FF6-A94F-00822166FD22}"/>
              </a:ext>
            </a:extLst>
          </p:cNvPr>
          <p:cNvSpPr txBox="1"/>
          <p:nvPr/>
        </p:nvSpPr>
        <p:spPr>
          <a:xfrm>
            <a:off x="749884" y="5026890"/>
            <a:ext cx="4367414" cy="1203535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u="sng"/>
              <a:t>Note</a:t>
            </a:r>
            <a:br>
              <a:rPr lang="en-US"/>
            </a:br>
            <a:r>
              <a:rPr lang="en-US"/>
              <a:t>If the container doesn’t stop under 10 seconds</a:t>
            </a:r>
            <a:br>
              <a:rPr lang="en-US"/>
            </a:br>
            <a:r>
              <a:rPr lang="en-US"/>
              <a:t>then docker will automatically fall back </a:t>
            </a:r>
            <a:br>
              <a:rPr lang="en-US"/>
            </a:br>
            <a:r>
              <a:rPr lang="en-US"/>
              <a:t>to issuing the kill command.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C73CBB3-0561-4BD3-9826-44794885F56F}"/>
              </a:ext>
            </a:extLst>
          </p:cNvPr>
          <p:cNvCxnSpPr>
            <a:cxnSpLocks/>
          </p:cNvCxnSpPr>
          <p:nvPr/>
        </p:nvCxnSpPr>
        <p:spPr>
          <a:xfrm>
            <a:off x="8190743" y="3186916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D40D928-41C9-4DA4-87A7-C654EFC9BE39}"/>
              </a:ext>
            </a:extLst>
          </p:cNvPr>
          <p:cNvCxnSpPr>
            <a:cxnSpLocks/>
          </p:cNvCxnSpPr>
          <p:nvPr/>
        </p:nvCxnSpPr>
        <p:spPr>
          <a:xfrm>
            <a:off x="8175611" y="4596836"/>
            <a:ext cx="0" cy="34155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5788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951E3E9-F999-420E-8590-FB8BB6DEF5F1}"/>
              </a:ext>
            </a:extLst>
          </p:cNvPr>
          <p:cNvSpPr/>
          <p:nvPr/>
        </p:nvSpPr>
        <p:spPr>
          <a:xfrm>
            <a:off x="5977467" y="1339626"/>
            <a:ext cx="5373158" cy="5320373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B27B0579-4238-4E44-9A9E-134B676F827C}" type="slidenum">
              <a:rPr lang="de-DE" smtClean="0"/>
              <a:t>32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6346382" y="1830743"/>
            <a:ext cx="3676250" cy="135617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Running Process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E9207-D2ED-4C34-AE1C-932F19EE7475}"/>
              </a:ext>
            </a:extLst>
          </p:cNvPr>
          <p:cNvCxnSpPr>
            <a:cxnSpLocks/>
          </p:cNvCxnSpPr>
          <p:nvPr/>
        </p:nvCxnSpPr>
        <p:spPr>
          <a:xfrm>
            <a:off x="8190743" y="3186916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6346382" y="3700876"/>
            <a:ext cx="572346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15E3AC-5983-42F2-A1E9-C2A15E29ECF8}"/>
              </a:ext>
            </a:extLst>
          </p:cNvPr>
          <p:cNvCxnSpPr>
            <a:cxnSpLocks/>
          </p:cNvCxnSpPr>
          <p:nvPr/>
        </p:nvCxnSpPr>
        <p:spPr>
          <a:xfrm>
            <a:off x="8175611" y="4596836"/>
            <a:ext cx="0" cy="34155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81D66-EE19-4F05-A7ED-F65AB00A0751}"/>
              </a:ext>
            </a:extLst>
          </p:cNvPr>
          <p:cNvSpPr/>
          <p:nvPr/>
        </p:nvSpPr>
        <p:spPr>
          <a:xfrm>
            <a:off x="6288397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B292B8-5C11-459B-AFB8-DFC182826993}"/>
              </a:ext>
            </a:extLst>
          </p:cNvPr>
          <p:cNvSpPr/>
          <p:nvPr/>
        </p:nvSpPr>
        <p:spPr>
          <a:xfrm>
            <a:off x="7938559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B90E95-FEB3-415A-80B2-9AB11D914CC8}"/>
              </a:ext>
            </a:extLst>
          </p:cNvPr>
          <p:cNvSpPr/>
          <p:nvPr/>
        </p:nvSpPr>
        <p:spPr>
          <a:xfrm>
            <a:off x="9588722" y="4980721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51E313-EC30-42CE-B70B-7E5DC53395BD}"/>
              </a:ext>
            </a:extLst>
          </p:cNvPr>
          <p:cNvSpPr/>
          <p:nvPr/>
        </p:nvSpPr>
        <p:spPr>
          <a:xfrm>
            <a:off x="6981770" y="2183809"/>
            <a:ext cx="2455210" cy="861134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ping www.google.com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0495F-2B8B-41A5-8BF9-421918252326}"/>
              </a:ext>
            </a:extLst>
          </p:cNvPr>
          <p:cNvSpPr txBox="1"/>
          <p:nvPr/>
        </p:nvSpPr>
        <p:spPr>
          <a:xfrm>
            <a:off x="8393971" y="5782122"/>
            <a:ext cx="1174750" cy="69910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/>
              <a:t>Hard drive segment of the process</a:t>
            </a:r>
          </a:p>
        </p:txBody>
      </p:sp>
      <p:sp>
        <p:nvSpPr>
          <p:cNvPr id="52" name="Flowchart: Process 51">
            <a:extLst>
              <a:ext uri="{FF2B5EF4-FFF2-40B4-BE49-F238E27FC236}">
                <a16:creationId xmlns:a16="http://schemas.microsoft.com/office/drawing/2014/main" id="{252E6921-E4E7-4A95-B7D2-0C26301FE894}"/>
              </a:ext>
            </a:extLst>
          </p:cNvPr>
          <p:cNvSpPr/>
          <p:nvPr/>
        </p:nvSpPr>
        <p:spPr>
          <a:xfrm>
            <a:off x="6096000" y="5623223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B1DED9-98C3-42BE-9D51-F2129097DAED}"/>
              </a:ext>
            </a:extLst>
          </p:cNvPr>
          <p:cNvSpPr/>
          <p:nvPr/>
        </p:nvSpPr>
        <p:spPr>
          <a:xfrm>
            <a:off x="6208264" y="598877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05AF8F-0DB0-4D2D-BA82-D9E27DAB584E}"/>
              </a:ext>
            </a:extLst>
          </p:cNvPr>
          <p:cNvSpPr/>
          <p:nvPr/>
        </p:nvSpPr>
        <p:spPr>
          <a:xfrm>
            <a:off x="6208263" y="626334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5F1795-5078-4083-BE1B-D39EB41794D8}"/>
              </a:ext>
            </a:extLst>
          </p:cNvPr>
          <p:cNvSpPr/>
          <p:nvPr/>
        </p:nvSpPr>
        <p:spPr>
          <a:xfrm>
            <a:off x="6899203" y="598877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2C75FE-1B8F-432B-A0ED-0A65F4168A6F}"/>
              </a:ext>
            </a:extLst>
          </p:cNvPr>
          <p:cNvSpPr/>
          <p:nvPr/>
        </p:nvSpPr>
        <p:spPr>
          <a:xfrm>
            <a:off x="6899202" y="626334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775A49-D762-4C13-A9FA-D347AFDA8771}"/>
              </a:ext>
            </a:extLst>
          </p:cNvPr>
          <p:cNvSpPr/>
          <p:nvPr/>
        </p:nvSpPr>
        <p:spPr>
          <a:xfrm>
            <a:off x="7592022" y="598877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5D022EC-9ADD-4717-BF45-310002F4DEFB}"/>
              </a:ext>
            </a:extLst>
          </p:cNvPr>
          <p:cNvSpPr/>
          <p:nvPr/>
        </p:nvSpPr>
        <p:spPr>
          <a:xfrm>
            <a:off x="7592021" y="626334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658A93-46FE-4933-80DB-2A4D275C9A2B}"/>
              </a:ext>
            </a:extLst>
          </p:cNvPr>
          <p:cNvSpPr/>
          <p:nvPr/>
        </p:nvSpPr>
        <p:spPr>
          <a:xfrm>
            <a:off x="750277" y="2183809"/>
            <a:ext cx="1772763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kill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0C8CD97-4999-4C66-98D6-62518E055013}"/>
              </a:ext>
            </a:extLst>
          </p:cNvPr>
          <p:cNvSpPr/>
          <p:nvPr/>
        </p:nvSpPr>
        <p:spPr>
          <a:xfrm>
            <a:off x="3485487" y="2183809"/>
            <a:ext cx="1772763" cy="861134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b="1" i="1">
                <a:solidFill>
                  <a:schemeClr val="tx1"/>
                </a:solidFill>
              </a:rPr>
              <a:t>SIGKILL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60F8B6-0B49-472A-AFF9-B9D40A201C67}"/>
              </a:ext>
            </a:extLst>
          </p:cNvPr>
          <p:cNvCxnSpPr>
            <a:stCxn id="59" idx="3"/>
            <a:endCxn id="60" idx="1"/>
          </p:cNvCxnSpPr>
          <p:nvPr/>
        </p:nvCxnSpPr>
        <p:spPr>
          <a:xfrm>
            <a:off x="2523040" y="2614376"/>
            <a:ext cx="962447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CEB9A5-D26F-4082-96C9-7A650B7538FB}"/>
              </a:ext>
            </a:extLst>
          </p:cNvPr>
          <p:cNvCxnSpPr>
            <a:stCxn id="60" idx="3"/>
            <a:endCxn id="25" idx="1"/>
          </p:cNvCxnSpPr>
          <p:nvPr/>
        </p:nvCxnSpPr>
        <p:spPr>
          <a:xfrm>
            <a:off x="5258250" y="2614376"/>
            <a:ext cx="1723520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905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33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 Lifecycle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124197-9959-4981-91AC-D3836732760A}"/>
              </a:ext>
            </a:extLst>
          </p:cNvPr>
          <p:cNvSpPr/>
          <p:nvPr/>
        </p:nvSpPr>
        <p:spPr>
          <a:xfrm>
            <a:off x="394203" y="1713541"/>
            <a:ext cx="11462749" cy="1152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create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 echo hi there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e8af3f2bf5806291bdcb4e0f87db0bad0d867a340043269080cb526fac4b7aa5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create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 ls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1f032e50121c4be24506cbef65551051ca22696a05da299a81069f70afabae27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05A5B9-4114-42BC-84FD-D3A82674E4FD}"/>
              </a:ext>
            </a:extLst>
          </p:cNvPr>
          <p:cNvSpPr/>
          <p:nvPr/>
        </p:nvSpPr>
        <p:spPr>
          <a:xfrm>
            <a:off x="394203" y="3022600"/>
            <a:ext cx="11462749" cy="15663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start e8af3f2bf5806291bdcb4e0f87db0bad0d867a340043269080cb526fac4b7aa5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e8af3f2bf5806291bdcb4e0f87db0bad0d867a340043269080cb526fac4b7aa5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start -a e8af3f2bf5806291bdcb4e0f87db0bad0d867a340043269080cb526fac4b7aa5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hi there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start -a e8af3f2bf5806291bdcb4e0f87db0bad0d867a340043269080cb526fac4b7aa5 ls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you cannot start and attach multiple containers at once</a:t>
            </a:r>
          </a:p>
        </p:txBody>
      </p:sp>
    </p:spTree>
    <p:extLst>
      <p:ext uri="{BB962C8B-B14F-4D97-AF65-F5344CB8AC3E}">
        <p14:creationId xmlns:p14="http://schemas.microsoft.com/office/powerpoint/2010/main" val="2485400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00AB4-7619-4E5F-8B1E-08FA88F2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24E93-E14B-49BA-BADE-B683D1D5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34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B9A63-17CE-47CF-9D76-B09998F5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Lifecycle - Housekeeping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B28540-3B4B-49E7-973F-16C8ED4743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5CBAF-4BF5-4D59-8F66-DEA7003C77CA}"/>
              </a:ext>
            </a:extLst>
          </p:cNvPr>
          <p:cNvSpPr/>
          <p:nvPr/>
        </p:nvSpPr>
        <p:spPr>
          <a:xfrm>
            <a:off x="352788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0F2DD-C35C-4FDB-AE4C-A435C6554B8A}"/>
              </a:ext>
            </a:extLst>
          </p:cNvPr>
          <p:cNvSpPr/>
          <p:nvPr/>
        </p:nvSpPr>
        <p:spPr>
          <a:xfrm>
            <a:off x="552536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FAA1F-18B6-4A5C-B4B8-298592DC7E02}"/>
              </a:ext>
            </a:extLst>
          </p:cNvPr>
          <p:cNvSpPr/>
          <p:nvPr/>
        </p:nvSpPr>
        <p:spPr>
          <a:xfrm>
            <a:off x="752283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prune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3B8F8-0943-4F6D-B358-10F02C2C5904}"/>
              </a:ext>
            </a:extLst>
          </p:cNvPr>
          <p:cNvSpPr txBox="1"/>
          <p:nvPr/>
        </p:nvSpPr>
        <p:spPr>
          <a:xfrm>
            <a:off x="1879995" y="3120670"/>
            <a:ext cx="1647892" cy="1410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Remove unused resources, like stopped containers, unused networks</a:t>
            </a:r>
            <a:br>
              <a:rPr lang="en-US" sz="1400" dirty="0"/>
            </a:br>
            <a:r>
              <a:rPr lang="en-US" sz="1400" dirty="0"/>
              <a:t>dangling images</a:t>
            </a:r>
            <a:br>
              <a:rPr lang="en-US" sz="1400" dirty="0"/>
            </a:br>
            <a:r>
              <a:rPr lang="en-US" sz="1400" dirty="0"/>
              <a:t>dangling build cache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0869C-E1D3-4738-B1D6-C819360254AF}"/>
              </a:ext>
            </a:extLst>
          </p:cNvPr>
          <p:cNvSpPr txBox="1"/>
          <p:nvPr/>
        </p:nvSpPr>
        <p:spPr>
          <a:xfrm>
            <a:off x="3682162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984E3-3057-4A2E-88FA-55A02ACE9184}"/>
              </a:ext>
            </a:extLst>
          </p:cNvPr>
          <p:cNvSpPr txBox="1"/>
          <p:nvPr/>
        </p:nvSpPr>
        <p:spPr>
          <a:xfrm>
            <a:off x="5696996" y="2882059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Talk to the docker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E5C93-DC78-4A62-AC83-92695943BB29}"/>
              </a:ext>
            </a:extLst>
          </p:cNvPr>
          <p:cNvSpPr txBox="1"/>
          <p:nvPr/>
        </p:nvSpPr>
        <p:spPr>
          <a:xfrm>
            <a:off x="7670799" y="4288982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Command to execute on docker system</a:t>
            </a:r>
          </a:p>
        </p:txBody>
      </p:sp>
    </p:spTree>
    <p:extLst>
      <p:ext uri="{BB962C8B-B14F-4D97-AF65-F5344CB8AC3E}">
        <p14:creationId xmlns:p14="http://schemas.microsoft.com/office/powerpoint/2010/main" val="1485226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00AB4-7619-4E5F-8B1E-08FA88F2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24E93-E14B-49BA-BADE-B683D1D5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35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B9A63-17CE-47CF-9D76-B09998F5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Lifecycle - Housekeeping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B28540-3B4B-49E7-973F-16C8ED4743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5CBAF-4BF5-4D59-8F66-DEA7003C77CA}"/>
              </a:ext>
            </a:extLst>
          </p:cNvPr>
          <p:cNvSpPr/>
          <p:nvPr/>
        </p:nvSpPr>
        <p:spPr>
          <a:xfrm>
            <a:off x="352788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0F2DD-C35C-4FDB-AE4C-A435C6554B8A}"/>
              </a:ext>
            </a:extLst>
          </p:cNvPr>
          <p:cNvSpPr/>
          <p:nvPr/>
        </p:nvSpPr>
        <p:spPr>
          <a:xfrm>
            <a:off x="552536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FAA1F-18B6-4A5C-B4B8-298592DC7E02}"/>
              </a:ext>
            </a:extLst>
          </p:cNvPr>
          <p:cNvSpPr/>
          <p:nvPr/>
        </p:nvSpPr>
        <p:spPr>
          <a:xfrm>
            <a:off x="752283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prune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3B8F8-0943-4F6D-B358-10F02C2C5904}"/>
              </a:ext>
            </a:extLst>
          </p:cNvPr>
          <p:cNvSpPr txBox="1"/>
          <p:nvPr/>
        </p:nvSpPr>
        <p:spPr>
          <a:xfrm>
            <a:off x="1847742" y="3285073"/>
            <a:ext cx="1647892" cy="1173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Does almost the same thing as before, but also</a:t>
            </a:r>
            <a:r>
              <a:rPr lang="en-US" sz="1400" b="1" dirty="0"/>
              <a:t> removes unused images and all build cache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0869C-E1D3-4738-B1D6-C819360254AF}"/>
              </a:ext>
            </a:extLst>
          </p:cNvPr>
          <p:cNvSpPr txBox="1"/>
          <p:nvPr/>
        </p:nvSpPr>
        <p:spPr>
          <a:xfrm>
            <a:off x="3682162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984E3-3057-4A2E-88FA-55A02ACE9184}"/>
              </a:ext>
            </a:extLst>
          </p:cNvPr>
          <p:cNvSpPr txBox="1"/>
          <p:nvPr/>
        </p:nvSpPr>
        <p:spPr>
          <a:xfrm>
            <a:off x="5696996" y="2882059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Talk to the docker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E5C93-DC78-4A62-AC83-92695943BB29}"/>
              </a:ext>
            </a:extLst>
          </p:cNvPr>
          <p:cNvSpPr txBox="1"/>
          <p:nvPr/>
        </p:nvSpPr>
        <p:spPr>
          <a:xfrm>
            <a:off x="7670799" y="4288982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Command to execute on docker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ACBE79-8D11-38B5-A253-097D6202AABE}"/>
              </a:ext>
            </a:extLst>
          </p:cNvPr>
          <p:cNvSpPr/>
          <p:nvPr/>
        </p:nvSpPr>
        <p:spPr>
          <a:xfrm>
            <a:off x="952031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--all | -a</a:t>
            </a:r>
          </a:p>
        </p:txBody>
      </p:sp>
    </p:spTree>
    <p:extLst>
      <p:ext uri="{BB962C8B-B14F-4D97-AF65-F5344CB8AC3E}">
        <p14:creationId xmlns:p14="http://schemas.microsoft.com/office/powerpoint/2010/main" val="1819469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00AB4-7619-4E5F-8B1E-08FA88F2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24E93-E14B-49BA-BADE-B683D1D5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36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B9A63-17CE-47CF-9D76-B09998F5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Lifecycle - Housekeeping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B28540-3B4B-49E7-973F-16C8ED4743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5CBAF-4BF5-4D59-8F66-DEA7003C77CA}"/>
              </a:ext>
            </a:extLst>
          </p:cNvPr>
          <p:cNvSpPr/>
          <p:nvPr/>
        </p:nvSpPr>
        <p:spPr>
          <a:xfrm>
            <a:off x="352788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0F2DD-C35C-4FDB-AE4C-A435C6554B8A}"/>
              </a:ext>
            </a:extLst>
          </p:cNvPr>
          <p:cNvSpPr/>
          <p:nvPr/>
        </p:nvSpPr>
        <p:spPr>
          <a:xfrm>
            <a:off x="552536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volume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FAA1F-18B6-4A5C-B4B8-298592DC7E02}"/>
              </a:ext>
            </a:extLst>
          </p:cNvPr>
          <p:cNvSpPr/>
          <p:nvPr/>
        </p:nvSpPr>
        <p:spPr>
          <a:xfrm>
            <a:off x="752283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prune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3B8F8-0943-4F6D-B358-10F02C2C5904}"/>
              </a:ext>
            </a:extLst>
          </p:cNvPr>
          <p:cNvSpPr txBox="1"/>
          <p:nvPr/>
        </p:nvSpPr>
        <p:spPr>
          <a:xfrm>
            <a:off x="1879995" y="3594646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Remove all unused local volumes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0869C-E1D3-4738-B1D6-C819360254AF}"/>
              </a:ext>
            </a:extLst>
          </p:cNvPr>
          <p:cNvSpPr txBox="1"/>
          <p:nvPr/>
        </p:nvSpPr>
        <p:spPr>
          <a:xfrm>
            <a:off x="3682162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984E3-3057-4A2E-88FA-55A02ACE9184}"/>
              </a:ext>
            </a:extLst>
          </p:cNvPr>
          <p:cNvSpPr txBox="1"/>
          <p:nvPr/>
        </p:nvSpPr>
        <p:spPr>
          <a:xfrm>
            <a:off x="5696996" y="2882059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Talk to the docker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E5C93-DC78-4A62-AC83-92695943BB29}"/>
              </a:ext>
            </a:extLst>
          </p:cNvPr>
          <p:cNvSpPr txBox="1"/>
          <p:nvPr/>
        </p:nvSpPr>
        <p:spPr>
          <a:xfrm>
            <a:off x="7670799" y="4288982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Command to execute on docker system</a:t>
            </a:r>
          </a:p>
        </p:txBody>
      </p:sp>
    </p:spTree>
    <p:extLst>
      <p:ext uri="{BB962C8B-B14F-4D97-AF65-F5344CB8AC3E}">
        <p14:creationId xmlns:p14="http://schemas.microsoft.com/office/powerpoint/2010/main" val="4080427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00AB4-7619-4E5F-8B1E-08FA88F2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24E93-E14B-49BA-BADE-B683D1D5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37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B9A63-17CE-47CF-9D76-B09998F5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Lifecycle - Housekeeping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B28540-3B4B-49E7-973F-16C8ED4743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5CBAF-4BF5-4D59-8F66-DEA7003C77CA}"/>
              </a:ext>
            </a:extLst>
          </p:cNvPr>
          <p:cNvSpPr/>
          <p:nvPr/>
        </p:nvSpPr>
        <p:spPr>
          <a:xfrm>
            <a:off x="352788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0F2DD-C35C-4FDB-AE4C-A435C6554B8A}"/>
              </a:ext>
            </a:extLst>
          </p:cNvPr>
          <p:cNvSpPr/>
          <p:nvPr/>
        </p:nvSpPr>
        <p:spPr>
          <a:xfrm>
            <a:off x="552536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volume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FAA1F-18B6-4A5C-B4B8-298592DC7E02}"/>
              </a:ext>
            </a:extLst>
          </p:cNvPr>
          <p:cNvSpPr/>
          <p:nvPr/>
        </p:nvSpPr>
        <p:spPr>
          <a:xfrm>
            <a:off x="7522837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prune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3B8F8-0943-4F6D-B358-10F02C2C5904}"/>
              </a:ext>
            </a:extLst>
          </p:cNvPr>
          <p:cNvSpPr txBox="1"/>
          <p:nvPr/>
        </p:nvSpPr>
        <p:spPr>
          <a:xfrm>
            <a:off x="1847742" y="3487048"/>
            <a:ext cx="1647892" cy="69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/>
              <a:t>Remove all unused volumes, not just anonymous ones</a:t>
            </a:r>
            <a:endParaRPr lang="en-US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0869C-E1D3-4738-B1D6-C819360254AF}"/>
              </a:ext>
            </a:extLst>
          </p:cNvPr>
          <p:cNvSpPr txBox="1"/>
          <p:nvPr/>
        </p:nvSpPr>
        <p:spPr>
          <a:xfrm>
            <a:off x="3682162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984E3-3057-4A2E-88FA-55A02ACE9184}"/>
              </a:ext>
            </a:extLst>
          </p:cNvPr>
          <p:cNvSpPr txBox="1"/>
          <p:nvPr/>
        </p:nvSpPr>
        <p:spPr>
          <a:xfrm>
            <a:off x="5696996" y="2882059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Talk to the docker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E5C93-DC78-4A62-AC83-92695943BB29}"/>
              </a:ext>
            </a:extLst>
          </p:cNvPr>
          <p:cNvSpPr txBox="1"/>
          <p:nvPr/>
        </p:nvSpPr>
        <p:spPr>
          <a:xfrm>
            <a:off x="7670799" y="4288982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Command to execute on docker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ACBE79-8D11-38B5-A253-097D6202AABE}"/>
              </a:ext>
            </a:extLst>
          </p:cNvPr>
          <p:cNvSpPr/>
          <p:nvPr/>
        </p:nvSpPr>
        <p:spPr>
          <a:xfrm>
            <a:off x="9520312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--all | -a</a:t>
            </a:r>
          </a:p>
        </p:txBody>
      </p:sp>
    </p:spTree>
    <p:extLst>
      <p:ext uri="{BB962C8B-B14F-4D97-AF65-F5344CB8AC3E}">
        <p14:creationId xmlns:p14="http://schemas.microsoft.com/office/powerpoint/2010/main" val="499804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Logs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316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A976B9-BB18-400A-9BA3-33E0041B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F4458-7DB2-49ED-B8FC-B7ADAF1C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39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DBF97D-308E-4040-9960-2AB52C0D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6F1E76-7BB6-455D-A6B6-59A1B97490B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141F46-72CE-4C23-B289-E6CA41CD2B37}"/>
              </a:ext>
            </a:extLst>
          </p:cNvPr>
          <p:cNvSpPr/>
          <p:nvPr/>
        </p:nvSpPr>
        <p:spPr>
          <a:xfrm>
            <a:off x="394204" y="1713542"/>
            <a:ext cx="11494008" cy="777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create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 echo hi there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ed4e3ca00f8f516315563d82b02aa5dd43631f0ef835b084dfef145458ad5127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9C7EF8-7B08-4DE1-BDAD-F2F57261A222}"/>
              </a:ext>
            </a:extLst>
          </p:cNvPr>
          <p:cNvSpPr/>
          <p:nvPr/>
        </p:nvSpPr>
        <p:spPr>
          <a:xfrm>
            <a:off x="394204" y="2619573"/>
            <a:ext cx="11494008" cy="777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start ed4e3ca00f8f516315563d82b02aa5dd43631f0ef835b084dfef145458ad5127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ed4e3ca00f8f516315563d82b02aa5dd43631f0ef835b084dfef145458ad5127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E249FF-D234-43BD-960C-298AFDF6B646}"/>
              </a:ext>
            </a:extLst>
          </p:cNvPr>
          <p:cNvSpPr/>
          <p:nvPr/>
        </p:nvSpPr>
        <p:spPr>
          <a:xfrm>
            <a:off x="394204" y="3546368"/>
            <a:ext cx="11494008" cy="9457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ps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CONTAINER ID	IMAGE	COMMAND			CREATED		STATUS		PORT	NAMES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26c9cfc9705d	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busybox</a:t>
            </a:r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	"ping www.google.com"	11 seconds ago	Up 4 seconds 		</a:t>
            </a:r>
            <a:r>
              <a:rPr lang="en-US" sz="1400" err="1">
                <a:solidFill>
                  <a:schemeClr val="bg2"/>
                </a:solidFill>
                <a:latin typeface="Consolas" panose="020B0609020204030204" pitchFamily="49" charset="0"/>
              </a:rPr>
              <a:t>great_scot</a:t>
            </a:r>
            <a:endParaRPr lang="en-US" sz="14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6BF097-FAA0-4221-A1B1-B9A2A6B5FC53}"/>
              </a:ext>
            </a:extLst>
          </p:cNvPr>
          <p:cNvSpPr txBox="1"/>
          <p:nvPr/>
        </p:nvSpPr>
        <p:spPr>
          <a:xfrm>
            <a:off x="5027246" y="4553092"/>
            <a:ext cx="2137508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Where did my logs go?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E11AD6-CB11-4D3B-970B-4D6DC260F8F4}"/>
              </a:ext>
            </a:extLst>
          </p:cNvPr>
          <p:cNvSpPr/>
          <p:nvPr/>
        </p:nvSpPr>
        <p:spPr>
          <a:xfrm>
            <a:off x="394204" y="4956785"/>
            <a:ext cx="11494008" cy="7111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logs ed4e3ca00f8f516315563d82b02aa5dd43631f0ef835b084dfef145458ad5127</a:t>
            </a:r>
          </a:p>
          <a:p>
            <a:r>
              <a:rPr lang="en-US" sz="1400">
                <a:solidFill>
                  <a:schemeClr val="bg2"/>
                </a:solidFill>
                <a:latin typeface="Consolas" panose="020B0609020204030204" pitchFamily="49" charset="0"/>
              </a:rPr>
              <a:t>hi there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ED1EB-449F-4FA2-94FE-1638090BF443}"/>
              </a:ext>
            </a:extLst>
          </p:cNvPr>
          <p:cNvSpPr txBox="1"/>
          <p:nvPr/>
        </p:nvSpPr>
        <p:spPr>
          <a:xfrm>
            <a:off x="4258352" y="5809131"/>
            <a:ext cx="3765711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Try starting the container multiple times</a:t>
            </a:r>
          </a:p>
        </p:txBody>
      </p:sp>
    </p:spTree>
    <p:extLst>
      <p:ext uri="{BB962C8B-B14F-4D97-AF65-F5344CB8AC3E}">
        <p14:creationId xmlns:p14="http://schemas.microsoft.com/office/powerpoint/2010/main" val="2896076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Multi Command Container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199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6B3D-E02F-46B4-ACD2-05F02846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0BB9B-48EC-4BFA-A6D9-CD9500B3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0AF2B8-D6E9-4B09-8578-85BF66BB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Multi-Command Containers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76AB72-95EF-4F41-8B11-3D64246CFD5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4230B8C-EB95-4FD5-A5EE-C1E345DF2267}"/>
              </a:ext>
            </a:extLst>
          </p:cNvPr>
          <p:cNvSpPr txBox="1">
            <a:spLocks/>
          </p:cNvSpPr>
          <p:nvPr/>
        </p:nvSpPr>
        <p:spPr>
          <a:xfrm>
            <a:off x="11350625" y="6529181"/>
            <a:ext cx="506328" cy="1961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7200" indent="-7200" algn="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000" kern="1200">
                <a:solidFill>
                  <a:srgbClr val="6F6F6F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7B0579-4238-4E44-9A9E-134B676F827C}" type="slidenum">
              <a:rPr lang="de-DE" smtClean="0"/>
              <a:pPr/>
              <a:t>41</a:t>
            </a:fld>
            <a:endParaRPr lang="de-DE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1390B-E5F2-0799-1360-305AD6A1A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container is typically started with one main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Sometimes we want to run additional commands inside an already running container.</a:t>
            </a:r>
            <a:br>
              <a:rPr lang="en-US" dirty="0"/>
            </a:br>
            <a:r>
              <a:rPr lang="en-US" dirty="0"/>
              <a:t>Example: </a:t>
            </a:r>
            <a:r>
              <a:rPr lang="en-US" dirty="0" err="1"/>
              <a:t>redis</a:t>
            </a:r>
            <a:r>
              <a:rPr lang="en-US" dirty="0"/>
              <a:t>-server is running, but we want to run </a:t>
            </a:r>
            <a:r>
              <a:rPr lang="en-US" dirty="0" err="1"/>
              <a:t>redis</a:t>
            </a:r>
            <a:r>
              <a:rPr lang="en-US" dirty="0"/>
              <a:t>-cli too.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7CEF7C-1C87-648D-8B4D-0CE4D6ED28BD}"/>
              </a:ext>
            </a:extLst>
          </p:cNvPr>
          <p:cNvSpPr/>
          <p:nvPr/>
        </p:nvSpPr>
        <p:spPr>
          <a:xfrm>
            <a:off x="348996" y="2195410"/>
            <a:ext cx="11494008" cy="7111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redis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410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2D2A4-5830-DD22-6F72-2B47F7B3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CBC975-449C-F1F9-3687-BE92AAAD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249F0-ED13-7DEA-42EA-90F9A1DD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86DCA5-4752-5564-5F62-9B6AF790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Multi-Command Containers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DC8972-DBF3-706B-A985-7F41486436E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1E7459-C220-93DE-DCAD-41913D7345BC}"/>
              </a:ext>
            </a:extLst>
          </p:cNvPr>
          <p:cNvSpPr/>
          <p:nvPr/>
        </p:nvSpPr>
        <p:spPr>
          <a:xfrm>
            <a:off x="4177543" y="1339627"/>
            <a:ext cx="5373158" cy="5320373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86CC430-9610-E358-0EBD-BC76012DE5A3}"/>
              </a:ext>
            </a:extLst>
          </p:cNvPr>
          <p:cNvSpPr txBox="1">
            <a:spLocks/>
          </p:cNvSpPr>
          <p:nvPr/>
        </p:nvSpPr>
        <p:spPr>
          <a:xfrm>
            <a:off x="11350625" y="6529181"/>
            <a:ext cx="506328" cy="1961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7200" indent="-7200" algn="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000" kern="1200">
                <a:solidFill>
                  <a:srgbClr val="6F6F6F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7B0579-4238-4E44-9A9E-134B676F827C}" type="slidenum">
              <a:rPr lang="de-DE" smtClean="0"/>
              <a:pPr/>
              <a:t>42</a:t>
            </a:fld>
            <a:endParaRPr lang="de-DE"/>
          </a:p>
        </p:txBody>
      </p:sp>
      <p:sp>
        <p:nvSpPr>
          <p:cNvPr id="10" name="Flowchart: Process 7">
            <a:extLst>
              <a:ext uri="{FF2B5EF4-FFF2-40B4-BE49-F238E27FC236}">
                <a16:creationId xmlns:a16="http://schemas.microsoft.com/office/drawing/2014/main" id="{965746BD-B44E-5554-DA34-B180E4206E00}"/>
              </a:ext>
            </a:extLst>
          </p:cNvPr>
          <p:cNvSpPr/>
          <p:nvPr/>
        </p:nvSpPr>
        <p:spPr>
          <a:xfrm>
            <a:off x="4546458" y="1830744"/>
            <a:ext cx="3676250" cy="135617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Running Process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840067-492A-F22D-CD53-47BFE0EE1482}"/>
              </a:ext>
            </a:extLst>
          </p:cNvPr>
          <p:cNvCxnSpPr>
            <a:cxnSpLocks/>
          </p:cNvCxnSpPr>
          <p:nvPr/>
        </p:nvCxnSpPr>
        <p:spPr>
          <a:xfrm>
            <a:off x="6390819" y="3186917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E49581-C6D7-EED0-C419-DF8023B1FD01}"/>
              </a:ext>
            </a:extLst>
          </p:cNvPr>
          <p:cNvCxnSpPr>
            <a:cxnSpLocks/>
          </p:cNvCxnSpPr>
          <p:nvPr/>
        </p:nvCxnSpPr>
        <p:spPr>
          <a:xfrm>
            <a:off x="6375687" y="4596837"/>
            <a:ext cx="0" cy="34155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B6BDDC-0203-CE17-6972-E1D689986048}"/>
              </a:ext>
            </a:extLst>
          </p:cNvPr>
          <p:cNvSpPr/>
          <p:nvPr/>
        </p:nvSpPr>
        <p:spPr>
          <a:xfrm>
            <a:off x="4488473" y="4990196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419AC6-3BDD-7336-4580-7BF4235275A4}"/>
              </a:ext>
            </a:extLst>
          </p:cNvPr>
          <p:cNvSpPr/>
          <p:nvPr/>
        </p:nvSpPr>
        <p:spPr>
          <a:xfrm>
            <a:off x="6138635" y="4990196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8751B3-4144-A1FE-C649-07B56B76D1EC}"/>
              </a:ext>
            </a:extLst>
          </p:cNvPr>
          <p:cNvSpPr/>
          <p:nvPr/>
        </p:nvSpPr>
        <p:spPr>
          <a:xfrm>
            <a:off x="7788798" y="4980722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981A4-C3DC-8690-8689-07E1C315A9AA}"/>
              </a:ext>
            </a:extLst>
          </p:cNvPr>
          <p:cNvSpPr/>
          <p:nvPr/>
        </p:nvSpPr>
        <p:spPr>
          <a:xfrm>
            <a:off x="5181846" y="2183810"/>
            <a:ext cx="2455210" cy="861134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redis</a:t>
            </a:r>
            <a:r>
              <a:rPr lang="en-US" dirty="0">
                <a:solidFill>
                  <a:schemeClr val="tx1"/>
                </a:solidFill>
              </a:rPr>
              <a:t>-server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EF621-30D5-620E-C321-EDADF7315F57}"/>
              </a:ext>
            </a:extLst>
          </p:cNvPr>
          <p:cNvSpPr txBox="1"/>
          <p:nvPr/>
        </p:nvSpPr>
        <p:spPr>
          <a:xfrm>
            <a:off x="6594047" y="5782123"/>
            <a:ext cx="1174750" cy="69910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/>
              <a:t>Hard drive segment of the process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AACBCAA4-E271-81E1-246F-25E3BB059D37}"/>
              </a:ext>
            </a:extLst>
          </p:cNvPr>
          <p:cNvSpPr/>
          <p:nvPr/>
        </p:nvSpPr>
        <p:spPr>
          <a:xfrm>
            <a:off x="4296076" y="5623224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DDEFF-547B-8D75-8D23-DE08CA1F4BD2}"/>
              </a:ext>
            </a:extLst>
          </p:cNvPr>
          <p:cNvSpPr/>
          <p:nvPr/>
        </p:nvSpPr>
        <p:spPr>
          <a:xfrm>
            <a:off x="4408340" y="598877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28E5A0-D646-056C-BA6B-ED00408B3158}"/>
              </a:ext>
            </a:extLst>
          </p:cNvPr>
          <p:cNvSpPr/>
          <p:nvPr/>
        </p:nvSpPr>
        <p:spPr>
          <a:xfrm>
            <a:off x="4408339" y="6263350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EC944-63DC-712A-B4AA-356E5EC562D0}"/>
              </a:ext>
            </a:extLst>
          </p:cNvPr>
          <p:cNvSpPr/>
          <p:nvPr/>
        </p:nvSpPr>
        <p:spPr>
          <a:xfrm>
            <a:off x="5099279" y="598877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D9CEA9-1215-AA23-68A3-D1F5687FDE04}"/>
              </a:ext>
            </a:extLst>
          </p:cNvPr>
          <p:cNvSpPr/>
          <p:nvPr/>
        </p:nvSpPr>
        <p:spPr>
          <a:xfrm>
            <a:off x="5099278" y="6263350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2D40AF-E6BA-BF0B-CD6B-95B6199A5407}"/>
              </a:ext>
            </a:extLst>
          </p:cNvPr>
          <p:cNvSpPr/>
          <p:nvPr/>
        </p:nvSpPr>
        <p:spPr>
          <a:xfrm>
            <a:off x="5792098" y="5988779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836DAA-9941-6EF4-F5EF-966FA4A3CC4F}"/>
              </a:ext>
            </a:extLst>
          </p:cNvPr>
          <p:cNvSpPr/>
          <p:nvPr/>
        </p:nvSpPr>
        <p:spPr>
          <a:xfrm>
            <a:off x="5792097" y="6263350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DA84F6-7CB1-E705-5EBB-BDF97A22CB70}"/>
              </a:ext>
            </a:extLst>
          </p:cNvPr>
          <p:cNvSpPr/>
          <p:nvPr/>
        </p:nvSpPr>
        <p:spPr>
          <a:xfrm>
            <a:off x="1685563" y="2175959"/>
            <a:ext cx="1772763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redis</a:t>
            </a:r>
            <a:r>
              <a:rPr lang="en-US" b="1">
                <a:solidFill>
                  <a:schemeClr val="tx1"/>
                </a:solidFill>
              </a:rPr>
              <a:t>-cli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1DEE8E-BA60-D58E-2A5F-9E7B41C00592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458326" y="2614377"/>
            <a:ext cx="1723520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444BC1D-3B4D-5BA0-737F-9D1BFE5598E5}"/>
              </a:ext>
            </a:extLst>
          </p:cNvPr>
          <p:cNvSpPr txBox="1"/>
          <p:nvPr/>
        </p:nvSpPr>
        <p:spPr>
          <a:xfrm>
            <a:off x="4036084" y="2300961"/>
            <a:ext cx="322204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???</a:t>
            </a:r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5B7D5230-0287-9D14-34BF-92FFD6A00200}"/>
              </a:ext>
            </a:extLst>
          </p:cNvPr>
          <p:cNvSpPr/>
          <p:nvPr/>
        </p:nvSpPr>
        <p:spPr>
          <a:xfrm>
            <a:off x="4546458" y="3700877"/>
            <a:ext cx="572346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24687705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00AB4-7619-4E5F-8B1E-08FA88F2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24E93-E14B-49BA-BADE-B683D1D5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B9A63-17CE-47CF-9D76-B09998F5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Multi-Command Containers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B28540-3B4B-49E7-973F-16C8ED4743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5CBAF-4BF5-4D59-8F66-DEA7003C77CA}"/>
              </a:ext>
            </a:extLst>
          </p:cNvPr>
          <p:cNvSpPr/>
          <p:nvPr/>
        </p:nvSpPr>
        <p:spPr>
          <a:xfrm>
            <a:off x="183383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0F2DD-C35C-4FDB-AE4C-A435C6554B8A}"/>
              </a:ext>
            </a:extLst>
          </p:cNvPr>
          <p:cNvSpPr/>
          <p:nvPr/>
        </p:nvSpPr>
        <p:spPr>
          <a:xfrm>
            <a:off x="3831314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exec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FAA1F-18B6-4A5C-B4B8-298592DC7E02}"/>
              </a:ext>
            </a:extLst>
          </p:cNvPr>
          <p:cNvSpPr/>
          <p:nvPr/>
        </p:nvSpPr>
        <p:spPr>
          <a:xfrm>
            <a:off x="582878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-it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3B8F8-0943-4F6D-B358-10F02C2C5904}"/>
              </a:ext>
            </a:extLst>
          </p:cNvPr>
          <p:cNvSpPr txBox="1"/>
          <p:nvPr/>
        </p:nvSpPr>
        <p:spPr>
          <a:xfrm>
            <a:off x="185947" y="3476152"/>
            <a:ext cx="1647892" cy="69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Remove unused resources, like stopped containers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0869C-E1D3-4738-B1D6-C819360254AF}"/>
              </a:ext>
            </a:extLst>
          </p:cNvPr>
          <p:cNvSpPr txBox="1"/>
          <p:nvPr/>
        </p:nvSpPr>
        <p:spPr>
          <a:xfrm>
            <a:off x="1988114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 dirty="0"/>
              <a:t>Docker client reference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984E3-3057-4A2E-88FA-55A02ACE9184}"/>
              </a:ext>
            </a:extLst>
          </p:cNvPr>
          <p:cNvSpPr txBox="1"/>
          <p:nvPr/>
        </p:nvSpPr>
        <p:spPr>
          <a:xfrm>
            <a:off x="4002948" y="2882059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Run another command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E5C93-DC78-4A62-AC83-92695943BB29}"/>
              </a:ext>
            </a:extLst>
          </p:cNvPr>
          <p:cNvSpPr txBox="1"/>
          <p:nvPr/>
        </p:nvSpPr>
        <p:spPr>
          <a:xfrm>
            <a:off x="5976751" y="4288982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Allows input to the container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BBF75D-8FCB-4995-9E46-087FFA508D3C}"/>
              </a:ext>
            </a:extLst>
          </p:cNvPr>
          <p:cNvSpPr/>
          <p:nvPr/>
        </p:nvSpPr>
        <p:spPr>
          <a:xfrm>
            <a:off x="7826264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&lt;container id&gt;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B6CE31-9F3B-4216-BF7E-96970A33CBFE}"/>
              </a:ext>
            </a:extLst>
          </p:cNvPr>
          <p:cNvSpPr/>
          <p:nvPr/>
        </p:nvSpPr>
        <p:spPr>
          <a:xfrm>
            <a:off x="982373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command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3F576-B922-4FF5-B30C-32357EEC019B}"/>
              </a:ext>
            </a:extLst>
          </p:cNvPr>
          <p:cNvSpPr txBox="1"/>
          <p:nvPr/>
        </p:nvSpPr>
        <p:spPr>
          <a:xfrm>
            <a:off x="8001055" y="2886215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The running container’s 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7CB601-7101-47DC-89A9-ABCBD07F4383}"/>
              </a:ext>
            </a:extLst>
          </p:cNvPr>
          <p:cNvSpPr txBox="1"/>
          <p:nvPr/>
        </p:nvSpPr>
        <p:spPr>
          <a:xfrm>
            <a:off x="9998530" y="4401545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Command to execute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06A97D-64EB-1978-A631-285052364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where docker exec comes into 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0006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7F6E-51A3-E2FF-BABB-B628B517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B20C8-A4F6-877F-2143-D8DD17C59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AF8DB-DC46-BFD3-2E0D-ADA7D110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CE1B30-A10E-CA7B-135D-9EF4DC0F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Multi-Command Containers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B5B2-D66F-12D4-A9DA-7CB4CAB3FD2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78266A-5296-C7F4-8E21-652C3033F44D}"/>
              </a:ext>
            </a:extLst>
          </p:cNvPr>
          <p:cNvSpPr/>
          <p:nvPr/>
        </p:nvSpPr>
        <p:spPr>
          <a:xfrm>
            <a:off x="1148576" y="2195410"/>
            <a:ext cx="9894848" cy="7111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redis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A0ABBB-283D-A769-8F93-BBBE67271C8A}"/>
              </a:ext>
            </a:extLst>
          </p:cNvPr>
          <p:cNvSpPr/>
          <p:nvPr/>
        </p:nvSpPr>
        <p:spPr>
          <a:xfrm>
            <a:off x="1151374" y="3511113"/>
            <a:ext cx="9894848" cy="15671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exec -it 4c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redis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-cli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127.0.0.1:6379&gt; SET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mynumber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10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OK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127.0.0.1:6379&gt; GET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mynumber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"10"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127.0.0.1:6379&gt; </a:t>
            </a:r>
          </a:p>
        </p:txBody>
      </p:sp>
      <p:sp>
        <p:nvSpPr>
          <p:cNvPr id="22" name="Content Placeholder 1">
            <a:extLst>
              <a:ext uri="{FF2B5EF4-FFF2-40B4-BE49-F238E27FC236}">
                <a16:creationId xmlns:a16="http://schemas.microsoft.com/office/drawing/2014/main" id="{05428605-6F4C-E23F-05ED-EC85BC23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Terminal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Terminal 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02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A155F-1A1F-429B-B65B-E2523258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54D82-AB3D-4BF9-B4EB-86661F19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D01C0A-2BC3-4C27-894B-A091ABF0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Multi-Command Containers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B6838F-6095-48FC-B911-02BC1552468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67B30770-D7F7-4C9E-BC31-CD83E072B6DB}"/>
              </a:ext>
            </a:extLst>
          </p:cNvPr>
          <p:cNvSpPr/>
          <p:nvPr/>
        </p:nvSpPr>
        <p:spPr>
          <a:xfrm>
            <a:off x="1199730" y="1959774"/>
            <a:ext cx="4117615" cy="996786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ping www.google.com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86BF0C-7572-495C-96F6-77C9BBAA4D9D}"/>
              </a:ext>
            </a:extLst>
          </p:cNvPr>
          <p:cNvSpPr/>
          <p:nvPr/>
        </p:nvSpPr>
        <p:spPr>
          <a:xfrm>
            <a:off x="1301205" y="2438909"/>
            <a:ext cx="1203158" cy="4031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STDIN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C52B9B-F200-41D5-B47F-76C7667E9937}"/>
              </a:ext>
            </a:extLst>
          </p:cNvPr>
          <p:cNvSpPr/>
          <p:nvPr/>
        </p:nvSpPr>
        <p:spPr>
          <a:xfrm>
            <a:off x="3981716" y="2438909"/>
            <a:ext cx="1203158" cy="4031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STDERR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519F4-3DE8-4664-BA85-913742FE8888}"/>
              </a:ext>
            </a:extLst>
          </p:cNvPr>
          <p:cNvSpPr/>
          <p:nvPr/>
        </p:nvSpPr>
        <p:spPr>
          <a:xfrm>
            <a:off x="2662039" y="2438909"/>
            <a:ext cx="1203158" cy="4031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STDOUT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BE301F74-557D-4025-980B-CCA7D02763EF}"/>
              </a:ext>
            </a:extLst>
          </p:cNvPr>
          <p:cNvSpPr/>
          <p:nvPr/>
        </p:nvSpPr>
        <p:spPr>
          <a:xfrm>
            <a:off x="6443847" y="1959774"/>
            <a:ext cx="4117615" cy="996786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redis</a:t>
            </a:r>
            <a:r>
              <a:rPr lang="en-US" b="1">
                <a:solidFill>
                  <a:schemeClr val="tx1"/>
                </a:solidFill>
              </a:rPr>
              <a:t>-cli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952602-6A58-457D-A248-5D9FF8321C20}"/>
              </a:ext>
            </a:extLst>
          </p:cNvPr>
          <p:cNvSpPr/>
          <p:nvPr/>
        </p:nvSpPr>
        <p:spPr>
          <a:xfrm>
            <a:off x="6545322" y="2438909"/>
            <a:ext cx="1203158" cy="4031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STDIN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4D8F29-2338-4722-9281-D8C9BA95CFC1}"/>
              </a:ext>
            </a:extLst>
          </p:cNvPr>
          <p:cNvSpPr/>
          <p:nvPr/>
        </p:nvSpPr>
        <p:spPr>
          <a:xfrm>
            <a:off x="9225833" y="2438909"/>
            <a:ext cx="1203158" cy="4031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STDERR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0D0494-9129-4CAA-9920-5D33BF261B78}"/>
              </a:ext>
            </a:extLst>
          </p:cNvPr>
          <p:cNvSpPr/>
          <p:nvPr/>
        </p:nvSpPr>
        <p:spPr>
          <a:xfrm>
            <a:off x="7906156" y="2438909"/>
            <a:ext cx="1203158" cy="4031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STDOUT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13B061-DE5A-43F9-9DA7-9FEE3B7FBAE2}"/>
              </a:ext>
            </a:extLst>
          </p:cNvPr>
          <p:cNvSpPr/>
          <p:nvPr/>
        </p:nvSpPr>
        <p:spPr>
          <a:xfrm>
            <a:off x="3843582" y="3986621"/>
            <a:ext cx="3904898" cy="1757418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b="1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3CB693-6FC2-4A4F-BD84-500A926AB650}"/>
              </a:ext>
            </a:extLst>
          </p:cNvPr>
          <p:cNvSpPr/>
          <p:nvPr/>
        </p:nvSpPr>
        <p:spPr>
          <a:xfrm>
            <a:off x="4061639" y="4106428"/>
            <a:ext cx="1661500" cy="105705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Stuff you type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97678F-ECF6-4678-BB65-7463A31EF405}"/>
              </a:ext>
            </a:extLst>
          </p:cNvPr>
          <p:cNvSpPr/>
          <p:nvPr/>
        </p:nvSpPr>
        <p:spPr>
          <a:xfrm>
            <a:off x="5941195" y="4106428"/>
            <a:ext cx="1664208" cy="105705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Stuff that shows up on the screen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B9D8C1-DE92-4D44-BA43-E7B097C4CF76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4892389" y="3545417"/>
            <a:ext cx="0" cy="561011"/>
          </a:xfrm>
          <a:prstGeom prst="line">
            <a:avLst/>
          </a:prstGeom>
          <a:ln w="38100"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A244B52-4B23-4B20-A6CD-E02BEA491189}"/>
              </a:ext>
            </a:extLst>
          </p:cNvPr>
          <p:cNvCxnSpPr>
            <a:cxnSpLocks/>
          </p:cNvCxnSpPr>
          <p:nvPr/>
        </p:nvCxnSpPr>
        <p:spPr>
          <a:xfrm flipV="1">
            <a:off x="4892389" y="2828635"/>
            <a:ext cx="2254512" cy="735832"/>
          </a:xfrm>
          <a:prstGeom prst="bentConnector3">
            <a:avLst>
              <a:gd name="adj1" fmla="val 99994"/>
            </a:avLst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DE28D46-EB3F-441F-A10E-5235E777B233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507735" y="2842030"/>
            <a:ext cx="0" cy="927753"/>
          </a:xfrm>
          <a:prstGeom prst="line">
            <a:avLst/>
          </a:prstGeom>
          <a:ln w="38100"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1A4B5E7-95C1-402B-9C2A-978BE7A6E435}"/>
              </a:ext>
            </a:extLst>
          </p:cNvPr>
          <p:cNvCxnSpPr>
            <a:endCxn id="24" idx="0"/>
          </p:cNvCxnSpPr>
          <p:nvPr/>
        </p:nvCxnSpPr>
        <p:spPr>
          <a:xfrm rot="10800000" flipV="1">
            <a:off x="6773299" y="3754966"/>
            <a:ext cx="1739934" cy="351461"/>
          </a:xfrm>
          <a:prstGeom prst="bentConnector2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BBCA094-B5B9-454B-A9F7-F480EAB616BF}"/>
              </a:ext>
            </a:extLst>
          </p:cNvPr>
          <p:cNvCxnSpPr>
            <a:stCxn id="16" idx="2"/>
          </p:cNvCxnSpPr>
          <p:nvPr/>
        </p:nvCxnSpPr>
        <p:spPr>
          <a:xfrm rot="5400000">
            <a:off x="8711106" y="2638660"/>
            <a:ext cx="912936" cy="1319677"/>
          </a:xfrm>
          <a:prstGeom prst="bentConnector2">
            <a:avLst/>
          </a:prstGeom>
          <a:ln w="38100"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5432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00AB4-7619-4E5F-8B1E-08FA88F2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24E93-E14B-49BA-BADE-B683D1D5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B9A63-17CE-47CF-9D76-B09998F5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Multi-Command Containers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B28540-3B4B-49E7-973F-16C8ED4743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5CBAF-4BF5-4D59-8F66-DEA7003C77CA}"/>
              </a:ext>
            </a:extLst>
          </p:cNvPr>
          <p:cNvSpPr/>
          <p:nvPr/>
        </p:nvSpPr>
        <p:spPr>
          <a:xfrm>
            <a:off x="183383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bash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0F2DD-C35C-4FDB-AE4C-A435C6554B8A}"/>
              </a:ext>
            </a:extLst>
          </p:cNvPr>
          <p:cNvSpPr/>
          <p:nvPr/>
        </p:nvSpPr>
        <p:spPr>
          <a:xfrm>
            <a:off x="3831314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powershell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FAA1F-18B6-4A5C-B4B8-298592DC7E02}"/>
              </a:ext>
            </a:extLst>
          </p:cNvPr>
          <p:cNvSpPr/>
          <p:nvPr/>
        </p:nvSpPr>
        <p:spPr>
          <a:xfrm>
            <a:off x="582878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zsh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BBF75D-8FCB-4995-9E46-087FFA508D3C}"/>
              </a:ext>
            </a:extLst>
          </p:cNvPr>
          <p:cNvSpPr/>
          <p:nvPr/>
        </p:nvSpPr>
        <p:spPr>
          <a:xfrm>
            <a:off x="7826264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sh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272D0F36-57CD-460C-819F-D7F07999AA9F}"/>
              </a:ext>
            </a:extLst>
          </p:cNvPr>
          <p:cNvSpPr/>
          <p:nvPr/>
        </p:nvSpPr>
        <p:spPr>
          <a:xfrm rot="5400000">
            <a:off x="5398221" y="1217009"/>
            <a:ext cx="861135" cy="7490298"/>
          </a:xfrm>
          <a:prstGeom prst="rightBrace">
            <a:avLst/>
          </a:prstGeom>
          <a:noFill/>
          <a:ln w="38100" cap="flat">
            <a:solidFill>
              <a:srgbClr val="4A4A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3EBB4-240B-4C17-9D99-EC4F78849FB5}"/>
              </a:ext>
            </a:extLst>
          </p:cNvPr>
          <p:cNvSpPr txBox="1"/>
          <p:nvPr/>
        </p:nvSpPr>
        <p:spPr>
          <a:xfrm>
            <a:off x="4830051" y="5671515"/>
            <a:ext cx="2018501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Command Processors</a:t>
            </a:r>
          </a:p>
        </p:txBody>
      </p:sp>
    </p:spTree>
    <p:extLst>
      <p:ext uri="{BB962C8B-B14F-4D97-AF65-F5344CB8AC3E}">
        <p14:creationId xmlns:p14="http://schemas.microsoft.com/office/powerpoint/2010/main" val="15811232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Multi-Command Containers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53C17-698B-484D-8C97-815C1146A3A0}"/>
              </a:ext>
            </a:extLst>
          </p:cNvPr>
          <p:cNvSpPr/>
          <p:nvPr/>
        </p:nvSpPr>
        <p:spPr>
          <a:xfrm>
            <a:off x="183383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9399F-3FD0-4FA3-AB97-3CBBD1EF51FF}"/>
              </a:ext>
            </a:extLst>
          </p:cNvPr>
          <p:cNvSpPr/>
          <p:nvPr/>
        </p:nvSpPr>
        <p:spPr>
          <a:xfrm>
            <a:off x="3831314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DFB50-26E0-4179-B94E-05AA86F37254}"/>
              </a:ext>
            </a:extLst>
          </p:cNvPr>
          <p:cNvSpPr/>
          <p:nvPr/>
        </p:nvSpPr>
        <p:spPr>
          <a:xfrm>
            <a:off x="7826264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&lt;image name&gt;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2C2FA-1C7D-438B-A859-7895003A7963}"/>
              </a:ext>
            </a:extLst>
          </p:cNvPr>
          <p:cNvSpPr txBox="1"/>
          <p:nvPr/>
        </p:nvSpPr>
        <p:spPr>
          <a:xfrm>
            <a:off x="1988114" y="4288982"/>
            <a:ext cx="1688924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400"/>
              <a:t>Docker client reference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3B2EE-FB84-4DD6-820F-09ACCC56FCDC}"/>
              </a:ext>
            </a:extLst>
          </p:cNvPr>
          <p:cNvSpPr txBox="1"/>
          <p:nvPr/>
        </p:nvSpPr>
        <p:spPr>
          <a:xfrm>
            <a:off x="4006105" y="2848765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Create and run a container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575B0-0B40-4BC6-8B43-143D70EB8CE2}"/>
              </a:ext>
            </a:extLst>
          </p:cNvPr>
          <p:cNvSpPr txBox="1"/>
          <p:nvPr/>
        </p:nvSpPr>
        <p:spPr>
          <a:xfrm>
            <a:off x="8001055" y="2929404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Image to use for the container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DECB8D-E54B-4591-B35A-58E23DEF1D4D}"/>
              </a:ext>
            </a:extLst>
          </p:cNvPr>
          <p:cNvSpPr/>
          <p:nvPr/>
        </p:nvSpPr>
        <p:spPr>
          <a:xfrm>
            <a:off x="982373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sh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3430DC-296A-4E6C-A76C-4C6B93BFA663}"/>
              </a:ext>
            </a:extLst>
          </p:cNvPr>
          <p:cNvSpPr txBox="1"/>
          <p:nvPr/>
        </p:nvSpPr>
        <p:spPr>
          <a:xfrm>
            <a:off x="9998530" y="4401545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Command to execute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B57C5E-FA2C-4039-8E2B-43B2269C1949}"/>
              </a:ext>
            </a:extLst>
          </p:cNvPr>
          <p:cNvSpPr/>
          <p:nvPr/>
        </p:nvSpPr>
        <p:spPr>
          <a:xfrm>
            <a:off x="5828789" y="33951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-it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B53E48-F7E5-4917-962A-6BF4C702E944}"/>
              </a:ext>
            </a:extLst>
          </p:cNvPr>
          <p:cNvSpPr txBox="1"/>
          <p:nvPr/>
        </p:nvSpPr>
        <p:spPr>
          <a:xfrm>
            <a:off x="5976751" y="4288982"/>
            <a:ext cx="1647892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Allows input to the container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DFFA86-A4A5-4CF4-BB8D-64BA02147EEA}"/>
              </a:ext>
            </a:extLst>
          </p:cNvPr>
          <p:cNvSpPr txBox="1"/>
          <p:nvPr/>
        </p:nvSpPr>
        <p:spPr>
          <a:xfrm>
            <a:off x="185947" y="3357658"/>
            <a:ext cx="1647892" cy="93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Create and start container with </a:t>
            </a:r>
            <a:r>
              <a:rPr lang="en-US" sz="1400" err="1"/>
              <a:t>sh</a:t>
            </a:r>
            <a:r>
              <a:rPr lang="en-US" sz="1400"/>
              <a:t> instead of default command.</a:t>
            </a:r>
          </a:p>
        </p:txBody>
      </p:sp>
    </p:spTree>
    <p:extLst>
      <p:ext uri="{BB962C8B-B14F-4D97-AF65-F5344CB8AC3E}">
        <p14:creationId xmlns:p14="http://schemas.microsoft.com/office/powerpoint/2010/main" val="2570897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Creating</a:t>
            </a:r>
            <a:r>
              <a:rPr lang="de-DE" dirty="0"/>
              <a:t> Docker Images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159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6BE9-49A1-4DE7-A39C-D6B81102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01D6C-19E5-4DF0-A2A8-A019301B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49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70CC1F-3922-4ACC-9913-E6A0013C5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Docker Images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8FE028-2477-4C00-9A52-446AA197E2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C9882B-6BDD-4FBF-8BD4-6A945A9BD296}"/>
              </a:ext>
            </a:extLst>
          </p:cNvPr>
          <p:cNvSpPr/>
          <p:nvPr/>
        </p:nvSpPr>
        <p:spPr>
          <a:xfrm>
            <a:off x="4171291" y="3361357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Docker Client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398684-B34A-4DF8-A39E-294E30D393C0}"/>
              </a:ext>
            </a:extLst>
          </p:cNvPr>
          <p:cNvSpPr/>
          <p:nvPr/>
        </p:nvSpPr>
        <p:spPr>
          <a:xfrm>
            <a:off x="6446940" y="3361357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Docker Server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1F250E-FD23-4008-8E08-1ADED094E34C}"/>
              </a:ext>
            </a:extLst>
          </p:cNvPr>
          <p:cNvSpPr/>
          <p:nvPr/>
        </p:nvSpPr>
        <p:spPr>
          <a:xfrm>
            <a:off x="1895642" y="3361357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err="1">
                <a:solidFill>
                  <a:schemeClr val="tx1"/>
                </a:solidFill>
              </a:rPr>
              <a:t>Dockerfile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6D3589-51D8-4880-B71E-6332E087EE2D}"/>
              </a:ext>
            </a:extLst>
          </p:cNvPr>
          <p:cNvSpPr/>
          <p:nvPr/>
        </p:nvSpPr>
        <p:spPr>
          <a:xfrm>
            <a:off x="8722588" y="3361357"/>
            <a:ext cx="1573770" cy="930184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Usable Image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987D11-3C44-49EC-884C-7172767D043E}"/>
              </a:ext>
            </a:extLst>
          </p:cNvPr>
          <p:cNvSpPr txBox="1"/>
          <p:nvPr/>
        </p:nvSpPr>
        <p:spPr>
          <a:xfrm>
            <a:off x="1895642" y="4361708"/>
            <a:ext cx="1573770" cy="69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Configuration of behavior the resulting image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F22CEA-6212-4D11-9D68-E6ED4EF373AA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3469412" y="3826449"/>
            <a:ext cx="701879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C538FB-B671-4146-A79A-3901CC1C689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745061" y="3826449"/>
            <a:ext cx="701879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47CA5B-DD06-489F-B94D-86D830B289F4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8020710" y="3826449"/>
            <a:ext cx="701878" cy="0"/>
          </a:xfrm>
          <a:prstGeom prst="straightConnector1">
            <a:avLst/>
          </a:prstGeom>
          <a:ln w="3810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501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17A16-2CB2-47F9-B8B4-940E535E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2683C-AE79-4396-B52F-1742277F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691CED-39EF-4762-8C72-63DC9045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Docker Images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9324E8-FC95-409C-8187-F968464420E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A6482F-79E2-496A-988B-9A6543BAFC40}"/>
              </a:ext>
            </a:extLst>
          </p:cNvPr>
          <p:cNvSpPr/>
          <p:nvPr/>
        </p:nvSpPr>
        <p:spPr>
          <a:xfrm>
            <a:off x="3894563" y="1703591"/>
            <a:ext cx="4640625" cy="4664952"/>
          </a:xfrm>
          <a:prstGeom prst="roundRect">
            <a:avLst>
              <a:gd name="adj" fmla="val 3150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err="1">
                <a:solidFill>
                  <a:schemeClr val="tx1"/>
                </a:solidFill>
              </a:rPr>
              <a:t>Dockerfile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439B641-584E-4405-A59E-E8B11A26F69B}"/>
              </a:ext>
            </a:extLst>
          </p:cNvPr>
          <p:cNvSpPr/>
          <p:nvPr/>
        </p:nvSpPr>
        <p:spPr>
          <a:xfrm>
            <a:off x="2785637" y="1838183"/>
            <a:ext cx="1108926" cy="440648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Flow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45CB40-7D3B-4B2D-8448-050A476B22C9}"/>
              </a:ext>
            </a:extLst>
          </p:cNvPr>
          <p:cNvSpPr/>
          <p:nvPr/>
        </p:nvSpPr>
        <p:spPr>
          <a:xfrm>
            <a:off x="4216602" y="2243739"/>
            <a:ext cx="3939971" cy="930184"/>
          </a:xfrm>
          <a:prstGeom prst="round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Specify a base image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C95A7C-08C3-47C3-9E01-A092B47670F9}"/>
              </a:ext>
            </a:extLst>
          </p:cNvPr>
          <p:cNvSpPr/>
          <p:nvPr/>
        </p:nvSpPr>
        <p:spPr>
          <a:xfrm>
            <a:off x="4216603" y="3390717"/>
            <a:ext cx="3939971" cy="1603053"/>
          </a:xfrm>
          <a:prstGeom prst="roundRect">
            <a:avLst>
              <a:gd name="adj" fmla="val 10856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Run some commands to do some configuration, install additional programs, etc.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1E58A6-8A26-4B81-9B15-4E91B805A133}"/>
              </a:ext>
            </a:extLst>
          </p:cNvPr>
          <p:cNvSpPr/>
          <p:nvPr/>
        </p:nvSpPr>
        <p:spPr>
          <a:xfrm>
            <a:off x="4244889" y="5206837"/>
            <a:ext cx="3939971" cy="932688"/>
          </a:xfrm>
          <a:prstGeom prst="roundRect">
            <a:avLst>
              <a:gd name="adj" fmla="val 17575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Specify the default command to run on container startup.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593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66A33-35AC-4614-BCF3-47452205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84FE2-EAB2-4473-B787-054F902A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D48158-5E70-4A1B-BDDC-17F23E92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Docker Images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C9EAA5-E770-4BBD-A70D-00083A38B97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9452D2-1F9F-4A20-9AB7-C1DDE699E59C}"/>
              </a:ext>
            </a:extLst>
          </p:cNvPr>
          <p:cNvSpPr/>
          <p:nvPr/>
        </p:nvSpPr>
        <p:spPr>
          <a:xfrm>
            <a:off x="3894563" y="1703591"/>
            <a:ext cx="4640625" cy="4664952"/>
          </a:xfrm>
          <a:prstGeom prst="roundRect">
            <a:avLst>
              <a:gd name="adj" fmla="val 3150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err="1">
                <a:solidFill>
                  <a:schemeClr val="tx1"/>
                </a:solidFill>
              </a:rPr>
              <a:t>Dockerfile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248279-6735-4170-A15A-CF4578E5FE8D}"/>
              </a:ext>
            </a:extLst>
          </p:cNvPr>
          <p:cNvSpPr/>
          <p:nvPr/>
        </p:nvSpPr>
        <p:spPr>
          <a:xfrm>
            <a:off x="4848045" y="3429000"/>
            <a:ext cx="2733660" cy="1161748"/>
          </a:xfrm>
          <a:prstGeom prst="roundRect">
            <a:avLst>
              <a:gd name="adj" fmla="val 3150"/>
            </a:avLst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GOAL:</a:t>
            </a:r>
            <a:br>
              <a:rPr lang="en-US" b="1">
                <a:solidFill>
                  <a:schemeClr val="tx1"/>
                </a:solidFill>
              </a:rPr>
            </a:br>
            <a:r>
              <a:rPr lang="en-US" b="1">
                <a:solidFill>
                  <a:schemeClr val="tx1"/>
                </a:solidFill>
              </a:rPr>
              <a:t>Create an image that runs </a:t>
            </a:r>
            <a:br>
              <a:rPr lang="en-US" b="1">
                <a:solidFill>
                  <a:schemeClr val="tx1"/>
                </a:solidFill>
              </a:rPr>
            </a:br>
            <a:r>
              <a:rPr lang="en-US" b="1" err="1">
                <a:solidFill>
                  <a:schemeClr val="tx1"/>
                </a:solidFill>
              </a:rPr>
              <a:t>redis</a:t>
            </a:r>
            <a:r>
              <a:rPr lang="en-US" b="1">
                <a:solidFill>
                  <a:schemeClr val="tx1"/>
                </a:solidFill>
              </a:rPr>
              <a:t>-server from scratch!</a:t>
            </a:r>
          </a:p>
        </p:txBody>
      </p:sp>
    </p:spTree>
    <p:extLst>
      <p:ext uri="{BB962C8B-B14F-4D97-AF65-F5344CB8AC3E}">
        <p14:creationId xmlns:p14="http://schemas.microsoft.com/office/powerpoint/2010/main" val="4481164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6175B-21DE-4C8B-BEB8-194F6BC8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2022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267A1-5EB8-4D7B-8B79-FE03439C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76FB72-386C-4E72-B30B-7941F4D6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Docker Images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442580-1E49-423A-B353-2D079C9A423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62AF0E-6696-4D41-9F18-320D1A97D1A7}"/>
              </a:ext>
            </a:extLst>
          </p:cNvPr>
          <p:cNvSpPr/>
          <p:nvPr/>
        </p:nvSpPr>
        <p:spPr>
          <a:xfrm>
            <a:off x="1825211" y="2450127"/>
            <a:ext cx="1997475" cy="86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FROM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D1A588-AE5E-4A65-B80E-4421B4436B55}"/>
              </a:ext>
            </a:extLst>
          </p:cNvPr>
          <p:cNvSpPr/>
          <p:nvPr/>
        </p:nvSpPr>
        <p:spPr>
          <a:xfrm>
            <a:off x="3822686" y="2450127"/>
            <a:ext cx="6526847" cy="86113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alpine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998187-BE3A-441C-B754-31D21BEAD101}"/>
              </a:ext>
            </a:extLst>
          </p:cNvPr>
          <p:cNvSpPr/>
          <p:nvPr/>
        </p:nvSpPr>
        <p:spPr>
          <a:xfrm>
            <a:off x="1825211" y="3469023"/>
            <a:ext cx="1997475" cy="86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1C73A-23E4-4263-8E0B-32012D2910A7}"/>
              </a:ext>
            </a:extLst>
          </p:cNvPr>
          <p:cNvSpPr/>
          <p:nvPr/>
        </p:nvSpPr>
        <p:spPr>
          <a:xfrm>
            <a:off x="3822686" y="3469023"/>
            <a:ext cx="6526847" cy="86113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apk</a:t>
            </a:r>
            <a:r>
              <a:rPr lang="en-US" b="1" dirty="0">
                <a:solidFill>
                  <a:schemeClr val="tx1"/>
                </a:solidFill>
              </a:rPr>
              <a:t> add --update </a:t>
            </a:r>
            <a:r>
              <a:rPr lang="en-US" b="1" dirty="0" err="1">
                <a:solidFill>
                  <a:schemeClr val="tx1"/>
                </a:solidFill>
              </a:rPr>
              <a:t>redis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E5AAF-DBBD-4BEE-B568-20B6275DFA0D}"/>
              </a:ext>
            </a:extLst>
          </p:cNvPr>
          <p:cNvSpPr/>
          <p:nvPr/>
        </p:nvSpPr>
        <p:spPr>
          <a:xfrm>
            <a:off x="1825211" y="4487919"/>
            <a:ext cx="1997475" cy="86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CMD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484043-D4A9-4859-B081-2246BFB7ACDD}"/>
              </a:ext>
            </a:extLst>
          </p:cNvPr>
          <p:cNvSpPr/>
          <p:nvPr/>
        </p:nvSpPr>
        <p:spPr>
          <a:xfrm>
            <a:off x="3822686" y="4487919"/>
            <a:ext cx="6526847" cy="86113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[“</a:t>
            </a:r>
            <a:r>
              <a:rPr lang="en-US" b="1" err="1">
                <a:solidFill>
                  <a:schemeClr val="tx1"/>
                </a:solidFill>
              </a:rPr>
              <a:t>redis</a:t>
            </a:r>
            <a:r>
              <a:rPr lang="en-US" b="1">
                <a:solidFill>
                  <a:schemeClr val="tx1"/>
                </a:solidFill>
              </a:rPr>
              <a:t>-server”]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F926AF-BA3E-4CDF-BC4E-8EAEDAF2F7D1}"/>
              </a:ext>
            </a:extLst>
          </p:cNvPr>
          <p:cNvSpPr txBox="1"/>
          <p:nvPr/>
        </p:nvSpPr>
        <p:spPr>
          <a:xfrm>
            <a:off x="2099329" y="1907397"/>
            <a:ext cx="1449238" cy="46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Docker server instructions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97BD0B-5EDA-4DB6-951A-EBC1258B526A}"/>
              </a:ext>
            </a:extLst>
          </p:cNvPr>
          <p:cNvSpPr txBox="1"/>
          <p:nvPr/>
        </p:nvSpPr>
        <p:spPr>
          <a:xfrm>
            <a:off x="5499552" y="2144385"/>
            <a:ext cx="3226011" cy="22512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/>
              <a:t>Arguments to the Docker server instructions</a:t>
            </a:r>
          </a:p>
        </p:txBody>
      </p:sp>
    </p:spTree>
    <p:extLst>
      <p:ext uri="{BB962C8B-B14F-4D97-AF65-F5344CB8AC3E}">
        <p14:creationId xmlns:p14="http://schemas.microsoft.com/office/powerpoint/2010/main" val="3261569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Creating Docker Images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81C306-4046-4297-A5D2-6FE5A0FDD0DF}"/>
              </a:ext>
            </a:extLst>
          </p:cNvPr>
          <p:cNvSpPr/>
          <p:nvPr/>
        </p:nvSpPr>
        <p:spPr>
          <a:xfrm>
            <a:off x="841375" y="1529964"/>
            <a:ext cx="1212885" cy="467885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FROM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33F73AC-2178-49B6-B428-E022886709CF}"/>
              </a:ext>
            </a:extLst>
          </p:cNvPr>
          <p:cNvSpPr/>
          <p:nvPr/>
        </p:nvSpPr>
        <p:spPr>
          <a:xfrm>
            <a:off x="2054260" y="1529965"/>
            <a:ext cx="3963161" cy="46788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alpine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543A32C-B673-423F-8016-DA6EE111E945}"/>
              </a:ext>
            </a:extLst>
          </p:cNvPr>
          <p:cNvSpPr/>
          <p:nvPr/>
        </p:nvSpPr>
        <p:spPr>
          <a:xfrm>
            <a:off x="868439" y="2329668"/>
            <a:ext cx="3963161" cy="46788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Download alpine image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98FC333-A275-471A-9897-CE717F5AEF43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2850020" y="1997848"/>
            <a:ext cx="0" cy="33182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CC76BF6-AE7F-4080-8190-5A0B88586E46}"/>
              </a:ext>
            </a:extLst>
          </p:cNvPr>
          <p:cNvSpPr/>
          <p:nvPr/>
        </p:nvSpPr>
        <p:spPr>
          <a:xfrm>
            <a:off x="841375" y="3129372"/>
            <a:ext cx="1212885" cy="467885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CC2B1A8-63FD-439A-B774-41E2E3C23123}"/>
              </a:ext>
            </a:extLst>
          </p:cNvPr>
          <p:cNvSpPr/>
          <p:nvPr/>
        </p:nvSpPr>
        <p:spPr>
          <a:xfrm>
            <a:off x="2054260" y="3129373"/>
            <a:ext cx="3963161" cy="46788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apk</a:t>
            </a:r>
            <a:r>
              <a:rPr lang="en-US" b="1" dirty="0">
                <a:solidFill>
                  <a:schemeClr val="tx1"/>
                </a:solidFill>
              </a:rPr>
              <a:t> add --update </a:t>
            </a:r>
            <a:r>
              <a:rPr lang="en-US" b="1" dirty="0" err="1">
                <a:solidFill>
                  <a:schemeClr val="tx1"/>
                </a:solidFill>
              </a:rPr>
              <a:t>redis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505E2D3-176C-4079-9758-A899CB12A02B}"/>
              </a:ext>
            </a:extLst>
          </p:cNvPr>
          <p:cNvCxnSpPr>
            <a:cxnSpLocks/>
            <a:stCxn id="68" idx="1"/>
            <a:endCxn id="51" idx="1"/>
          </p:cNvCxnSpPr>
          <p:nvPr/>
        </p:nvCxnSpPr>
        <p:spPr>
          <a:xfrm rot="10800000">
            <a:off x="841375" y="1763908"/>
            <a:ext cx="12700" cy="2344213"/>
          </a:xfrm>
          <a:prstGeom prst="bentConnector3">
            <a:avLst>
              <a:gd name="adj1" fmla="val 1800000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347FCAE-78B7-46FD-93B0-8B2C82D78448}"/>
              </a:ext>
            </a:extLst>
          </p:cNvPr>
          <p:cNvSpPr/>
          <p:nvPr/>
        </p:nvSpPr>
        <p:spPr>
          <a:xfrm>
            <a:off x="841375" y="3929075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Get the image from previous step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9D3507C-A8F7-440F-BD95-EF16CF21C05D}"/>
              </a:ext>
            </a:extLst>
          </p:cNvPr>
          <p:cNvSpPr/>
          <p:nvPr/>
        </p:nvSpPr>
        <p:spPr>
          <a:xfrm>
            <a:off x="841369" y="4402803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Create a container from the image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5AA9386-60E3-4796-BB31-726259C0C795}"/>
              </a:ext>
            </a:extLst>
          </p:cNvPr>
          <p:cNvSpPr/>
          <p:nvPr/>
        </p:nvSpPr>
        <p:spPr>
          <a:xfrm>
            <a:off x="5213667" y="4246015"/>
            <a:ext cx="1764666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temporary container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F3AF7E4-D38A-48CD-8D62-0481941214F2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 flipV="1">
            <a:off x="4804530" y="4425060"/>
            <a:ext cx="409137" cy="156788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9E56F635-80B6-4DE5-8754-D6DA1C647BD3}"/>
              </a:ext>
            </a:extLst>
          </p:cNvPr>
          <p:cNvSpPr/>
          <p:nvPr/>
        </p:nvSpPr>
        <p:spPr>
          <a:xfrm>
            <a:off x="841368" y="4873354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Run “</a:t>
            </a:r>
            <a:r>
              <a:rPr lang="en-US" b="1" err="1">
                <a:solidFill>
                  <a:schemeClr val="tx1"/>
                </a:solidFill>
              </a:rPr>
              <a:t>apk</a:t>
            </a:r>
            <a:r>
              <a:rPr lang="en-US" b="1">
                <a:solidFill>
                  <a:schemeClr val="tx1"/>
                </a:solidFill>
              </a:rPr>
              <a:t> add –update </a:t>
            </a:r>
            <a:r>
              <a:rPr lang="en-US" b="1" err="1">
                <a:solidFill>
                  <a:schemeClr val="tx1"/>
                </a:solidFill>
              </a:rPr>
              <a:t>redis</a:t>
            </a:r>
            <a:r>
              <a:rPr lang="en-US" b="1">
                <a:solidFill>
                  <a:schemeClr val="tx1"/>
                </a:solidFill>
              </a:rPr>
              <a:t>” in it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1259AF6-54ED-4B7B-96FD-ABC855B2F534}"/>
              </a:ext>
            </a:extLst>
          </p:cNvPr>
          <p:cNvSpPr/>
          <p:nvPr/>
        </p:nvSpPr>
        <p:spPr>
          <a:xfrm>
            <a:off x="5213667" y="4712408"/>
            <a:ext cx="1764666" cy="64959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tx1"/>
                </a:solidFill>
              </a:rPr>
              <a:t>yet another container with modified filesystem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F20936D-9C71-4329-83C3-B14A6AB8FA0B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 flipV="1">
            <a:off x="4804529" y="5037206"/>
            <a:ext cx="409138" cy="1519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A418E11-4EE9-4A9F-BE67-651F5A29FB29}"/>
              </a:ext>
            </a:extLst>
          </p:cNvPr>
          <p:cNvSpPr/>
          <p:nvPr/>
        </p:nvSpPr>
        <p:spPr>
          <a:xfrm>
            <a:off x="841368" y="5353413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Take a snapshot of the filesystem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924E66C-10B6-4436-ADF0-EE17D63AE65D}"/>
              </a:ext>
            </a:extLst>
          </p:cNvPr>
          <p:cNvSpPr/>
          <p:nvPr/>
        </p:nvSpPr>
        <p:spPr>
          <a:xfrm>
            <a:off x="5222874" y="5483056"/>
            <a:ext cx="1764666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filesystem snapshot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2164363-9B31-4602-A8BF-F42DB20A85DF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>
            <a:off x="4804529" y="5532458"/>
            <a:ext cx="418345" cy="129643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729771F6-7C1F-452E-B8F1-3CD60318DAE5}"/>
              </a:ext>
            </a:extLst>
          </p:cNvPr>
          <p:cNvSpPr/>
          <p:nvPr/>
        </p:nvSpPr>
        <p:spPr>
          <a:xfrm>
            <a:off x="841367" y="5856077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Shut down the temporary container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1A21EE3-1C5F-4FB4-881C-E172C01E8A97}"/>
              </a:ext>
            </a:extLst>
          </p:cNvPr>
          <p:cNvSpPr/>
          <p:nvPr/>
        </p:nvSpPr>
        <p:spPr>
          <a:xfrm>
            <a:off x="6786116" y="1529963"/>
            <a:ext cx="1212885" cy="467885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EF4CA23-B1CC-4BF9-9E74-F324AA4A2BD3}"/>
              </a:ext>
            </a:extLst>
          </p:cNvPr>
          <p:cNvSpPr/>
          <p:nvPr/>
        </p:nvSpPr>
        <p:spPr>
          <a:xfrm>
            <a:off x="7999001" y="1529964"/>
            <a:ext cx="3963161" cy="46788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[“</a:t>
            </a:r>
            <a:r>
              <a:rPr lang="en-US" b="1" err="1">
                <a:solidFill>
                  <a:schemeClr val="tx1"/>
                </a:solidFill>
              </a:rPr>
              <a:t>redis</a:t>
            </a:r>
            <a:r>
              <a:rPr lang="en-US" b="1">
                <a:solidFill>
                  <a:schemeClr val="tx1"/>
                </a:solidFill>
              </a:rPr>
              <a:t>-server”]</a:t>
            </a:r>
          </a:p>
        </p:txBody>
      </p:sp>
      <p:cxnSp>
        <p:nvCxnSpPr>
          <p:cNvPr id="83" name="Straight Arrow Connector 66">
            <a:extLst>
              <a:ext uri="{FF2B5EF4-FFF2-40B4-BE49-F238E27FC236}">
                <a16:creationId xmlns:a16="http://schemas.microsoft.com/office/drawing/2014/main" id="{F0209B04-D47A-4705-A102-48FA8E8BA94F}"/>
              </a:ext>
            </a:extLst>
          </p:cNvPr>
          <p:cNvCxnSpPr>
            <a:cxnSpLocks/>
            <a:endCxn id="87" idx="3"/>
          </p:cNvCxnSpPr>
          <p:nvPr/>
        </p:nvCxnSpPr>
        <p:spPr>
          <a:xfrm flipH="1">
            <a:off x="4818900" y="2563611"/>
            <a:ext cx="6576603" cy="3974175"/>
          </a:xfrm>
          <a:prstGeom prst="bentConnector3">
            <a:avLst>
              <a:gd name="adj1" fmla="val -3476"/>
            </a:avLst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E5EC4972-E7AF-4E2A-9C1B-DBE86F78433C}"/>
              </a:ext>
            </a:extLst>
          </p:cNvPr>
          <p:cNvSpPr/>
          <p:nvPr/>
        </p:nvSpPr>
        <p:spPr>
          <a:xfrm>
            <a:off x="855739" y="6358741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Get image ready for next instructions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DAEB91F-C95E-4160-9B4D-5FECC57CD258}"/>
              </a:ext>
            </a:extLst>
          </p:cNvPr>
          <p:cNvSpPr/>
          <p:nvPr/>
        </p:nvSpPr>
        <p:spPr>
          <a:xfrm>
            <a:off x="7432342" y="2384564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Get the image from previous step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BE5D592-13C0-4820-8DD8-98317518E772}"/>
              </a:ext>
            </a:extLst>
          </p:cNvPr>
          <p:cNvSpPr/>
          <p:nvPr/>
        </p:nvSpPr>
        <p:spPr>
          <a:xfrm>
            <a:off x="7432342" y="2851922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Create a container out of it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8315D19-EA1A-4442-8DCF-3CDC93D70034}"/>
              </a:ext>
            </a:extLst>
          </p:cNvPr>
          <p:cNvSpPr/>
          <p:nvPr/>
        </p:nvSpPr>
        <p:spPr>
          <a:xfrm>
            <a:off x="7432342" y="3288107"/>
            <a:ext cx="3963161" cy="54450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Tell container to run </a:t>
            </a:r>
            <a:r>
              <a:rPr lang="en-US" b="1" dirty="0" err="1">
                <a:solidFill>
                  <a:schemeClr val="tx1"/>
                </a:solidFill>
              </a:rPr>
              <a:t>redis</a:t>
            </a:r>
            <a:r>
              <a:rPr lang="en-US" b="1">
                <a:solidFill>
                  <a:schemeClr val="tx1"/>
                </a:solidFill>
              </a:rPr>
              <a:t>-server when started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33E0850-1305-47D0-9CA1-E9B2510D54B0}"/>
              </a:ext>
            </a:extLst>
          </p:cNvPr>
          <p:cNvSpPr/>
          <p:nvPr/>
        </p:nvSpPr>
        <p:spPr>
          <a:xfrm>
            <a:off x="7432342" y="3949501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Shut down container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932AA41-4308-475B-96D8-9E04A2DE1AA5}"/>
              </a:ext>
            </a:extLst>
          </p:cNvPr>
          <p:cNvSpPr/>
          <p:nvPr/>
        </p:nvSpPr>
        <p:spPr>
          <a:xfrm>
            <a:off x="7432341" y="4427296"/>
            <a:ext cx="3963161" cy="35808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Get Image ready for next instructions</a:t>
            </a:r>
          </a:p>
        </p:txBody>
      </p:sp>
    </p:spTree>
    <p:extLst>
      <p:ext uri="{BB962C8B-B14F-4D97-AF65-F5344CB8AC3E}">
        <p14:creationId xmlns:p14="http://schemas.microsoft.com/office/powerpoint/2010/main" val="28168643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8EEF8920-AFF6-419B-BC36-C044F1FCA760}"/>
              </a:ext>
            </a:extLst>
          </p:cNvPr>
          <p:cNvSpPr/>
          <p:nvPr/>
        </p:nvSpPr>
        <p:spPr>
          <a:xfrm>
            <a:off x="395992" y="2363011"/>
            <a:ext cx="5075147" cy="210444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986383-7279-4BBB-B400-723D628E9EFD}"/>
              </a:ext>
            </a:extLst>
          </p:cNvPr>
          <p:cNvSpPr/>
          <p:nvPr/>
        </p:nvSpPr>
        <p:spPr>
          <a:xfrm>
            <a:off x="5977467" y="1339626"/>
            <a:ext cx="5373158" cy="5320373"/>
          </a:xfrm>
          <a:prstGeom prst="rect">
            <a:avLst/>
          </a:prstGeom>
          <a:solidFill>
            <a:schemeClr val="bg1"/>
          </a:solidFill>
          <a:ln w="57150" cap="sq">
            <a:solidFill>
              <a:srgbClr val="A2C6D5">
                <a:alpha val="50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73158"/>
                      <a:gd name="connsiteY0" fmla="*/ 0 h 5320373"/>
                      <a:gd name="connsiteX1" fmla="*/ 564182 w 5373158"/>
                      <a:gd name="connsiteY1" fmla="*/ 0 h 5320373"/>
                      <a:gd name="connsiteX2" fmla="*/ 1235826 w 5373158"/>
                      <a:gd name="connsiteY2" fmla="*/ 0 h 5320373"/>
                      <a:gd name="connsiteX3" fmla="*/ 2014934 w 5373158"/>
                      <a:gd name="connsiteY3" fmla="*/ 0 h 5320373"/>
                      <a:gd name="connsiteX4" fmla="*/ 2579116 w 5373158"/>
                      <a:gd name="connsiteY4" fmla="*/ 0 h 5320373"/>
                      <a:gd name="connsiteX5" fmla="*/ 3304492 w 5373158"/>
                      <a:gd name="connsiteY5" fmla="*/ 0 h 5320373"/>
                      <a:gd name="connsiteX6" fmla="*/ 3868674 w 5373158"/>
                      <a:gd name="connsiteY6" fmla="*/ 0 h 5320373"/>
                      <a:gd name="connsiteX7" fmla="*/ 4540319 w 5373158"/>
                      <a:gd name="connsiteY7" fmla="*/ 0 h 5320373"/>
                      <a:gd name="connsiteX8" fmla="*/ 5373158 w 5373158"/>
                      <a:gd name="connsiteY8" fmla="*/ 0 h 5320373"/>
                      <a:gd name="connsiteX9" fmla="*/ 5373158 w 5373158"/>
                      <a:gd name="connsiteY9" fmla="*/ 505435 h 5320373"/>
                      <a:gd name="connsiteX10" fmla="*/ 5373158 w 5373158"/>
                      <a:gd name="connsiteY10" fmla="*/ 1276890 h 5320373"/>
                      <a:gd name="connsiteX11" fmla="*/ 5373158 w 5373158"/>
                      <a:gd name="connsiteY11" fmla="*/ 1941936 h 5320373"/>
                      <a:gd name="connsiteX12" fmla="*/ 5373158 w 5373158"/>
                      <a:gd name="connsiteY12" fmla="*/ 2713390 h 5320373"/>
                      <a:gd name="connsiteX13" fmla="*/ 5373158 w 5373158"/>
                      <a:gd name="connsiteY13" fmla="*/ 3431641 h 5320373"/>
                      <a:gd name="connsiteX14" fmla="*/ 5373158 w 5373158"/>
                      <a:gd name="connsiteY14" fmla="*/ 4043483 h 5320373"/>
                      <a:gd name="connsiteX15" fmla="*/ 5373158 w 5373158"/>
                      <a:gd name="connsiteY15" fmla="*/ 5320373 h 5320373"/>
                      <a:gd name="connsiteX16" fmla="*/ 4808976 w 5373158"/>
                      <a:gd name="connsiteY16" fmla="*/ 5320373 h 5320373"/>
                      <a:gd name="connsiteX17" fmla="*/ 4137332 w 5373158"/>
                      <a:gd name="connsiteY17" fmla="*/ 5320373 h 5320373"/>
                      <a:gd name="connsiteX18" fmla="*/ 3358224 w 5373158"/>
                      <a:gd name="connsiteY18" fmla="*/ 5320373 h 5320373"/>
                      <a:gd name="connsiteX19" fmla="*/ 2579116 w 5373158"/>
                      <a:gd name="connsiteY19" fmla="*/ 5320373 h 5320373"/>
                      <a:gd name="connsiteX20" fmla="*/ 1853740 w 5373158"/>
                      <a:gd name="connsiteY20" fmla="*/ 5320373 h 5320373"/>
                      <a:gd name="connsiteX21" fmla="*/ 1128363 w 5373158"/>
                      <a:gd name="connsiteY21" fmla="*/ 5320373 h 5320373"/>
                      <a:gd name="connsiteX22" fmla="*/ 0 w 5373158"/>
                      <a:gd name="connsiteY22" fmla="*/ 5320373 h 5320373"/>
                      <a:gd name="connsiteX23" fmla="*/ 0 w 5373158"/>
                      <a:gd name="connsiteY23" fmla="*/ 4761734 h 5320373"/>
                      <a:gd name="connsiteX24" fmla="*/ 0 w 5373158"/>
                      <a:gd name="connsiteY24" fmla="*/ 4096687 h 5320373"/>
                      <a:gd name="connsiteX25" fmla="*/ 0 w 5373158"/>
                      <a:gd name="connsiteY25" fmla="*/ 3431641 h 5320373"/>
                      <a:gd name="connsiteX26" fmla="*/ 0 w 5373158"/>
                      <a:gd name="connsiteY26" fmla="*/ 2926205 h 5320373"/>
                      <a:gd name="connsiteX27" fmla="*/ 0 w 5373158"/>
                      <a:gd name="connsiteY27" fmla="*/ 2207955 h 5320373"/>
                      <a:gd name="connsiteX28" fmla="*/ 0 w 5373158"/>
                      <a:gd name="connsiteY28" fmla="*/ 1702519 h 5320373"/>
                      <a:gd name="connsiteX29" fmla="*/ 0 w 5373158"/>
                      <a:gd name="connsiteY29" fmla="*/ 1037473 h 5320373"/>
                      <a:gd name="connsiteX30" fmla="*/ 0 w 5373158"/>
                      <a:gd name="connsiteY30" fmla="*/ 0 h 5320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373158" h="5320373" fill="none" extrusionOk="0">
                        <a:moveTo>
                          <a:pt x="0" y="0"/>
                        </a:moveTo>
                        <a:cubicBezTo>
                          <a:pt x="210487" y="-2531"/>
                          <a:pt x="337421" y="-19850"/>
                          <a:pt x="564182" y="0"/>
                        </a:cubicBezTo>
                        <a:cubicBezTo>
                          <a:pt x="790943" y="19850"/>
                          <a:pt x="906491" y="-29290"/>
                          <a:pt x="1235826" y="0"/>
                        </a:cubicBezTo>
                        <a:cubicBezTo>
                          <a:pt x="1565161" y="29290"/>
                          <a:pt x="1843011" y="34960"/>
                          <a:pt x="2014934" y="0"/>
                        </a:cubicBezTo>
                        <a:cubicBezTo>
                          <a:pt x="2186857" y="-34960"/>
                          <a:pt x="2444810" y="2019"/>
                          <a:pt x="2579116" y="0"/>
                        </a:cubicBezTo>
                        <a:cubicBezTo>
                          <a:pt x="2713422" y="-2019"/>
                          <a:pt x="3006276" y="-3935"/>
                          <a:pt x="3304492" y="0"/>
                        </a:cubicBezTo>
                        <a:cubicBezTo>
                          <a:pt x="3602708" y="3935"/>
                          <a:pt x="3609146" y="3747"/>
                          <a:pt x="3868674" y="0"/>
                        </a:cubicBezTo>
                        <a:cubicBezTo>
                          <a:pt x="4128202" y="-3747"/>
                          <a:pt x="4328249" y="10427"/>
                          <a:pt x="4540319" y="0"/>
                        </a:cubicBezTo>
                        <a:cubicBezTo>
                          <a:pt x="4752389" y="-10427"/>
                          <a:pt x="4985058" y="-10942"/>
                          <a:pt x="5373158" y="0"/>
                        </a:cubicBezTo>
                        <a:cubicBezTo>
                          <a:pt x="5350582" y="192153"/>
                          <a:pt x="5361054" y="395968"/>
                          <a:pt x="5373158" y="505435"/>
                        </a:cubicBezTo>
                        <a:cubicBezTo>
                          <a:pt x="5385262" y="614903"/>
                          <a:pt x="5368798" y="1082902"/>
                          <a:pt x="5373158" y="1276890"/>
                        </a:cubicBezTo>
                        <a:cubicBezTo>
                          <a:pt x="5377518" y="1470879"/>
                          <a:pt x="5379155" y="1807108"/>
                          <a:pt x="5373158" y="1941936"/>
                        </a:cubicBezTo>
                        <a:cubicBezTo>
                          <a:pt x="5367161" y="2076764"/>
                          <a:pt x="5351274" y="2418638"/>
                          <a:pt x="5373158" y="2713390"/>
                        </a:cubicBezTo>
                        <a:cubicBezTo>
                          <a:pt x="5395042" y="3008142"/>
                          <a:pt x="5341958" y="3110931"/>
                          <a:pt x="5373158" y="3431641"/>
                        </a:cubicBezTo>
                        <a:cubicBezTo>
                          <a:pt x="5404358" y="3752351"/>
                          <a:pt x="5365154" y="3832495"/>
                          <a:pt x="5373158" y="4043483"/>
                        </a:cubicBezTo>
                        <a:cubicBezTo>
                          <a:pt x="5381162" y="4254471"/>
                          <a:pt x="5392379" y="4767062"/>
                          <a:pt x="5373158" y="5320373"/>
                        </a:cubicBezTo>
                        <a:cubicBezTo>
                          <a:pt x="5124773" y="5316935"/>
                          <a:pt x="4983794" y="5328766"/>
                          <a:pt x="4808976" y="5320373"/>
                        </a:cubicBezTo>
                        <a:cubicBezTo>
                          <a:pt x="4634158" y="5311980"/>
                          <a:pt x="4328347" y="5326504"/>
                          <a:pt x="4137332" y="5320373"/>
                        </a:cubicBezTo>
                        <a:cubicBezTo>
                          <a:pt x="3946317" y="5314242"/>
                          <a:pt x="3658025" y="5296308"/>
                          <a:pt x="3358224" y="5320373"/>
                        </a:cubicBezTo>
                        <a:cubicBezTo>
                          <a:pt x="3058423" y="5344438"/>
                          <a:pt x="2905008" y="5309299"/>
                          <a:pt x="2579116" y="5320373"/>
                        </a:cubicBezTo>
                        <a:cubicBezTo>
                          <a:pt x="2253224" y="5331447"/>
                          <a:pt x="2030204" y="5333620"/>
                          <a:pt x="1853740" y="5320373"/>
                        </a:cubicBezTo>
                        <a:cubicBezTo>
                          <a:pt x="1677276" y="5307126"/>
                          <a:pt x="1451268" y="5284472"/>
                          <a:pt x="1128363" y="5320373"/>
                        </a:cubicBezTo>
                        <a:cubicBezTo>
                          <a:pt x="805458" y="5356274"/>
                          <a:pt x="529219" y="5375024"/>
                          <a:pt x="0" y="5320373"/>
                        </a:cubicBezTo>
                        <a:cubicBezTo>
                          <a:pt x="23633" y="5136225"/>
                          <a:pt x="26509" y="5014950"/>
                          <a:pt x="0" y="4761734"/>
                        </a:cubicBezTo>
                        <a:cubicBezTo>
                          <a:pt x="-26509" y="4508518"/>
                          <a:pt x="27537" y="4424229"/>
                          <a:pt x="0" y="4096687"/>
                        </a:cubicBezTo>
                        <a:cubicBezTo>
                          <a:pt x="-27537" y="3769145"/>
                          <a:pt x="27213" y="3608691"/>
                          <a:pt x="0" y="3431641"/>
                        </a:cubicBezTo>
                        <a:cubicBezTo>
                          <a:pt x="-27213" y="3254591"/>
                          <a:pt x="-6171" y="3079287"/>
                          <a:pt x="0" y="2926205"/>
                        </a:cubicBezTo>
                        <a:cubicBezTo>
                          <a:pt x="6171" y="2773123"/>
                          <a:pt x="-33104" y="2482084"/>
                          <a:pt x="0" y="2207955"/>
                        </a:cubicBezTo>
                        <a:cubicBezTo>
                          <a:pt x="33104" y="1933826"/>
                          <a:pt x="-21685" y="1850251"/>
                          <a:pt x="0" y="1702519"/>
                        </a:cubicBezTo>
                        <a:cubicBezTo>
                          <a:pt x="21685" y="1554787"/>
                          <a:pt x="31277" y="1207364"/>
                          <a:pt x="0" y="1037473"/>
                        </a:cubicBezTo>
                        <a:cubicBezTo>
                          <a:pt x="-31277" y="867582"/>
                          <a:pt x="-44653" y="508328"/>
                          <a:pt x="0" y="0"/>
                        </a:cubicBezTo>
                        <a:close/>
                      </a:path>
                      <a:path w="5373158" h="5320373" stroke="0" extrusionOk="0">
                        <a:moveTo>
                          <a:pt x="0" y="0"/>
                        </a:moveTo>
                        <a:cubicBezTo>
                          <a:pt x="299151" y="-12892"/>
                          <a:pt x="332092" y="-8105"/>
                          <a:pt x="617913" y="0"/>
                        </a:cubicBezTo>
                        <a:cubicBezTo>
                          <a:pt x="903734" y="8105"/>
                          <a:pt x="888009" y="-3369"/>
                          <a:pt x="1128363" y="0"/>
                        </a:cubicBezTo>
                        <a:cubicBezTo>
                          <a:pt x="1368717" y="3369"/>
                          <a:pt x="1747014" y="36266"/>
                          <a:pt x="1907471" y="0"/>
                        </a:cubicBezTo>
                        <a:cubicBezTo>
                          <a:pt x="2067928" y="-36266"/>
                          <a:pt x="2356203" y="30814"/>
                          <a:pt x="2525384" y="0"/>
                        </a:cubicBezTo>
                        <a:cubicBezTo>
                          <a:pt x="2694565" y="-30814"/>
                          <a:pt x="2981536" y="19032"/>
                          <a:pt x="3143297" y="0"/>
                        </a:cubicBezTo>
                        <a:cubicBezTo>
                          <a:pt x="3305058" y="-19032"/>
                          <a:pt x="3539328" y="17926"/>
                          <a:pt x="3922405" y="0"/>
                        </a:cubicBezTo>
                        <a:cubicBezTo>
                          <a:pt x="4305482" y="-17926"/>
                          <a:pt x="4306029" y="-26711"/>
                          <a:pt x="4486587" y="0"/>
                        </a:cubicBezTo>
                        <a:cubicBezTo>
                          <a:pt x="4667145" y="26711"/>
                          <a:pt x="5104613" y="-2080"/>
                          <a:pt x="5373158" y="0"/>
                        </a:cubicBezTo>
                        <a:cubicBezTo>
                          <a:pt x="5389227" y="210791"/>
                          <a:pt x="5351768" y="426182"/>
                          <a:pt x="5373158" y="771454"/>
                        </a:cubicBezTo>
                        <a:cubicBezTo>
                          <a:pt x="5394548" y="1116726"/>
                          <a:pt x="5376089" y="1058444"/>
                          <a:pt x="5373158" y="1330093"/>
                        </a:cubicBezTo>
                        <a:cubicBezTo>
                          <a:pt x="5370227" y="1601742"/>
                          <a:pt x="5386363" y="1772006"/>
                          <a:pt x="5373158" y="1995140"/>
                        </a:cubicBezTo>
                        <a:cubicBezTo>
                          <a:pt x="5359953" y="2218274"/>
                          <a:pt x="5363372" y="2491043"/>
                          <a:pt x="5373158" y="2713390"/>
                        </a:cubicBezTo>
                        <a:cubicBezTo>
                          <a:pt x="5382945" y="2935737"/>
                          <a:pt x="5384086" y="3097203"/>
                          <a:pt x="5373158" y="3218826"/>
                        </a:cubicBezTo>
                        <a:cubicBezTo>
                          <a:pt x="5362230" y="3340449"/>
                          <a:pt x="5362689" y="3562229"/>
                          <a:pt x="5373158" y="3883872"/>
                        </a:cubicBezTo>
                        <a:cubicBezTo>
                          <a:pt x="5383627" y="4205515"/>
                          <a:pt x="5358800" y="4409151"/>
                          <a:pt x="5373158" y="4548919"/>
                        </a:cubicBezTo>
                        <a:cubicBezTo>
                          <a:pt x="5387516" y="4688687"/>
                          <a:pt x="5356397" y="5066173"/>
                          <a:pt x="5373158" y="5320373"/>
                        </a:cubicBezTo>
                        <a:cubicBezTo>
                          <a:pt x="5025072" y="5332735"/>
                          <a:pt x="4969376" y="5320677"/>
                          <a:pt x="4647782" y="5320373"/>
                        </a:cubicBezTo>
                        <a:cubicBezTo>
                          <a:pt x="4326188" y="5320069"/>
                          <a:pt x="4259370" y="5330168"/>
                          <a:pt x="3976137" y="5320373"/>
                        </a:cubicBezTo>
                        <a:cubicBezTo>
                          <a:pt x="3692904" y="5310578"/>
                          <a:pt x="3600224" y="5305953"/>
                          <a:pt x="3465687" y="5320373"/>
                        </a:cubicBezTo>
                        <a:cubicBezTo>
                          <a:pt x="3331150" y="5334794"/>
                          <a:pt x="3038620" y="5327664"/>
                          <a:pt x="2901505" y="5320373"/>
                        </a:cubicBezTo>
                        <a:cubicBezTo>
                          <a:pt x="2764390" y="5313082"/>
                          <a:pt x="2410375" y="5352288"/>
                          <a:pt x="2122397" y="5320373"/>
                        </a:cubicBezTo>
                        <a:cubicBezTo>
                          <a:pt x="1834419" y="5288458"/>
                          <a:pt x="1754423" y="5314365"/>
                          <a:pt x="1450753" y="5320373"/>
                        </a:cubicBezTo>
                        <a:cubicBezTo>
                          <a:pt x="1147083" y="5326381"/>
                          <a:pt x="1054933" y="5295870"/>
                          <a:pt x="886571" y="5320373"/>
                        </a:cubicBezTo>
                        <a:cubicBezTo>
                          <a:pt x="718209" y="5344876"/>
                          <a:pt x="372936" y="5306815"/>
                          <a:pt x="0" y="5320373"/>
                        </a:cubicBezTo>
                        <a:cubicBezTo>
                          <a:pt x="6134" y="5116499"/>
                          <a:pt x="-10375" y="5045273"/>
                          <a:pt x="0" y="4814938"/>
                        </a:cubicBezTo>
                        <a:cubicBezTo>
                          <a:pt x="10375" y="4584603"/>
                          <a:pt x="3351" y="4449586"/>
                          <a:pt x="0" y="4309502"/>
                        </a:cubicBezTo>
                        <a:cubicBezTo>
                          <a:pt x="-3351" y="4169418"/>
                          <a:pt x="-17399" y="3870124"/>
                          <a:pt x="0" y="3591252"/>
                        </a:cubicBezTo>
                        <a:cubicBezTo>
                          <a:pt x="17399" y="3312380"/>
                          <a:pt x="25137" y="3299037"/>
                          <a:pt x="0" y="3032613"/>
                        </a:cubicBezTo>
                        <a:cubicBezTo>
                          <a:pt x="-25137" y="2766189"/>
                          <a:pt x="16533" y="2586553"/>
                          <a:pt x="0" y="2261159"/>
                        </a:cubicBezTo>
                        <a:cubicBezTo>
                          <a:pt x="-16533" y="1935765"/>
                          <a:pt x="18850" y="1791129"/>
                          <a:pt x="0" y="1649316"/>
                        </a:cubicBezTo>
                        <a:cubicBezTo>
                          <a:pt x="-18850" y="1507503"/>
                          <a:pt x="15637" y="1347364"/>
                          <a:pt x="0" y="1143880"/>
                        </a:cubicBezTo>
                        <a:cubicBezTo>
                          <a:pt x="-15637" y="940396"/>
                          <a:pt x="45342" y="5483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Temporary Container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9B8E8-A3EC-4F42-80EA-26C3EE5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16D-281E-4BA7-AAB8-738F03B5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B27B0579-4238-4E44-9A9E-134B676F827C}" type="slidenum">
              <a:rPr lang="de-DE" smtClean="0"/>
              <a:t>54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54B30-1CBE-406D-968F-9904366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Creating Docker Images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6B12F-12CA-4FE3-AF15-C8D6703734B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E5306DC-8B99-488C-BA28-3DD9AF3FB5AE}"/>
              </a:ext>
            </a:extLst>
          </p:cNvPr>
          <p:cNvSpPr/>
          <p:nvPr/>
        </p:nvSpPr>
        <p:spPr>
          <a:xfrm>
            <a:off x="6346382" y="1830743"/>
            <a:ext cx="3676250" cy="135617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2211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91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0 w 10000"/>
              <a:gd name="connsiteY4" fmla="*/ 10000 h 10018"/>
              <a:gd name="connsiteX5" fmla="*/ 0 w 10000"/>
              <a:gd name="connsiteY5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4922 w 10000"/>
              <a:gd name="connsiteY3" fmla="*/ 10018 h 10018"/>
              <a:gd name="connsiteX4" fmla="*/ 2550 w 10000"/>
              <a:gd name="connsiteY4" fmla="*/ 10018 h 10018"/>
              <a:gd name="connsiteX5" fmla="*/ 0 w 10000"/>
              <a:gd name="connsiteY5" fmla="*/ 10000 h 10018"/>
              <a:gd name="connsiteX6" fmla="*/ 0 w 10000"/>
              <a:gd name="connsiteY6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74 w 10000"/>
              <a:gd name="connsiteY5" fmla="*/ 9976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0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446 w 10000"/>
              <a:gd name="connsiteY3" fmla="*/ 9965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60 w 10000"/>
              <a:gd name="connsiteY3" fmla="*/ 10018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83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  <a:gd name="connsiteX0" fmla="*/ 0 w 10000"/>
              <a:gd name="connsiteY0" fmla="*/ 0 h 10018"/>
              <a:gd name="connsiteX1" fmla="*/ 10000 w 10000"/>
              <a:gd name="connsiteY1" fmla="*/ 0 h 10018"/>
              <a:gd name="connsiteX2" fmla="*/ 10000 w 10000"/>
              <a:gd name="connsiteY2" fmla="*/ 10000 h 10018"/>
              <a:gd name="connsiteX3" fmla="*/ 7275 w 10000"/>
              <a:gd name="connsiteY3" fmla="*/ 9992 h 10018"/>
              <a:gd name="connsiteX4" fmla="*/ 4922 w 10000"/>
              <a:gd name="connsiteY4" fmla="*/ 10018 h 10018"/>
              <a:gd name="connsiteX5" fmla="*/ 2556 w 10000"/>
              <a:gd name="connsiteY5" fmla="*/ 10018 h 10018"/>
              <a:gd name="connsiteX6" fmla="*/ 0 w 10000"/>
              <a:gd name="connsiteY6" fmla="*/ 10000 h 10018"/>
              <a:gd name="connsiteX7" fmla="*/ 0 w 10000"/>
              <a:gd name="connsiteY7" fmla="*/ 0 h 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18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7275" y="9992"/>
                </a:lnTo>
                <a:lnTo>
                  <a:pt x="4922" y="10018"/>
                </a:lnTo>
                <a:lnTo>
                  <a:pt x="2556" y="1001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Running Process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16EAB617-AD98-40B2-A301-65600A632856}"/>
              </a:ext>
            </a:extLst>
          </p:cNvPr>
          <p:cNvSpPr/>
          <p:nvPr/>
        </p:nvSpPr>
        <p:spPr>
          <a:xfrm>
            <a:off x="6346382" y="3700876"/>
            <a:ext cx="5723460" cy="895960"/>
          </a:xfrm>
          <a:prstGeom prst="flowChartProcess">
            <a:avLst/>
          </a:prstGeom>
          <a:solidFill>
            <a:srgbClr val="FEE7C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81D66-EE19-4F05-A7ED-F65AB00A0751}"/>
              </a:ext>
            </a:extLst>
          </p:cNvPr>
          <p:cNvSpPr/>
          <p:nvPr/>
        </p:nvSpPr>
        <p:spPr>
          <a:xfrm>
            <a:off x="6288397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B292B8-5C11-459B-AFB8-DFC182826993}"/>
              </a:ext>
            </a:extLst>
          </p:cNvPr>
          <p:cNvSpPr/>
          <p:nvPr/>
        </p:nvSpPr>
        <p:spPr>
          <a:xfrm>
            <a:off x="7938559" y="4990195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Network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E256E63-6F66-4694-BDBA-84085D48530D}"/>
              </a:ext>
            </a:extLst>
          </p:cNvPr>
          <p:cNvSpPr/>
          <p:nvPr/>
        </p:nvSpPr>
        <p:spPr>
          <a:xfrm>
            <a:off x="6288397" y="5561764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Hard drive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B90E95-FEB3-415A-80B2-9AB11D914CC8}"/>
              </a:ext>
            </a:extLst>
          </p:cNvPr>
          <p:cNvSpPr/>
          <p:nvPr/>
        </p:nvSpPr>
        <p:spPr>
          <a:xfrm>
            <a:off x="9588722" y="4980721"/>
            <a:ext cx="1498420" cy="445975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6B9EC-81C3-4F3B-A3FF-7E7C251152A6}"/>
              </a:ext>
            </a:extLst>
          </p:cNvPr>
          <p:cNvSpPr/>
          <p:nvPr/>
        </p:nvSpPr>
        <p:spPr>
          <a:xfrm>
            <a:off x="581388" y="2519979"/>
            <a:ext cx="4749647" cy="6990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Alpine Image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B9C7B34-6098-4965-A3B5-4B4C59975440}"/>
              </a:ext>
            </a:extLst>
          </p:cNvPr>
          <p:cNvSpPr/>
          <p:nvPr/>
        </p:nvSpPr>
        <p:spPr>
          <a:xfrm>
            <a:off x="615256" y="3397322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EFA3AD-B22F-4DCE-A95E-590E1346FAF2}"/>
              </a:ext>
            </a:extLst>
          </p:cNvPr>
          <p:cNvSpPr/>
          <p:nvPr/>
        </p:nvSpPr>
        <p:spPr>
          <a:xfrm>
            <a:off x="727520" y="3762877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B60991-9EAD-4C91-BB44-CB70DE003CA1}"/>
              </a:ext>
            </a:extLst>
          </p:cNvPr>
          <p:cNvSpPr/>
          <p:nvPr/>
        </p:nvSpPr>
        <p:spPr>
          <a:xfrm>
            <a:off x="727519" y="403744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C2E668-D612-4E9B-B84B-4E40CFE70AC6}"/>
              </a:ext>
            </a:extLst>
          </p:cNvPr>
          <p:cNvSpPr/>
          <p:nvPr/>
        </p:nvSpPr>
        <p:spPr>
          <a:xfrm>
            <a:off x="1418459" y="3762877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18D3AAD-BBB1-43D1-BBD5-170DB6EB39CB}"/>
              </a:ext>
            </a:extLst>
          </p:cNvPr>
          <p:cNvSpPr/>
          <p:nvPr/>
        </p:nvSpPr>
        <p:spPr>
          <a:xfrm>
            <a:off x="1418458" y="403744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A63094-8DC6-4626-869E-7E94AFFE8376}"/>
              </a:ext>
            </a:extLst>
          </p:cNvPr>
          <p:cNvSpPr/>
          <p:nvPr/>
        </p:nvSpPr>
        <p:spPr>
          <a:xfrm>
            <a:off x="2111278" y="3762877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099613-112A-4124-A8C0-59B0D695D4BC}"/>
              </a:ext>
            </a:extLst>
          </p:cNvPr>
          <p:cNvSpPr/>
          <p:nvPr/>
        </p:nvSpPr>
        <p:spPr>
          <a:xfrm>
            <a:off x="2111277" y="403744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43" name="Flowchart: Process 42">
            <a:extLst>
              <a:ext uri="{FF2B5EF4-FFF2-40B4-BE49-F238E27FC236}">
                <a16:creationId xmlns:a16="http://schemas.microsoft.com/office/drawing/2014/main" id="{7A4B02D0-5F01-4FBF-9196-60F20FC583D4}"/>
              </a:ext>
            </a:extLst>
          </p:cNvPr>
          <p:cNvSpPr/>
          <p:nvPr/>
        </p:nvSpPr>
        <p:spPr>
          <a:xfrm>
            <a:off x="767656" y="3549722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Filesystem Snapshot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C5B71F-FEE1-4AC3-8242-1CCD6E0BB7B2}"/>
              </a:ext>
            </a:extLst>
          </p:cNvPr>
          <p:cNvSpPr/>
          <p:nvPr/>
        </p:nvSpPr>
        <p:spPr>
          <a:xfrm>
            <a:off x="879920" y="3915277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bin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CB5652-BD08-4C52-80E3-2A934CDF58F4}"/>
              </a:ext>
            </a:extLst>
          </p:cNvPr>
          <p:cNvSpPr/>
          <p:nvPr/>
        </p:nvSpPr>
        <p:spPr>
          <a:xfrm>
            <a:off x="879919" y="418984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07C200-5FAA-45B8-B6E6-0E4588B1ECD1}"/>
              </a:ext>
            </a:extLst>
          </p:cNvPr>
          <p:cNvSpPr/>
          <p:nvPr/>
        </p:nvSpPr>
        <p:spPr>
          <a:xfrm>
            <a:off x="1570859" y="3915277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306A3A-0058-4D9C-B0A4-3276281673C4}"/>
              </a:ext>
            </a:extLst>
          </p:cNvPr>
          <p:cNvSpPr/>
          <p:nvPr/>
        </p:nvSpPr>
        <p:spPr>
          <a:xfrm>
            <a:off x="1570858" y="418984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BE4E5A5-1784-4834-AB8E-60ABAEA935A1}"/>
              </a:ext>
            </a:extLst>
          </p:cNvPr>
          <p:cNvSpPr/>
          <p:nvPr/>
        </p:nvSpPr>
        <p:spPr>
          <a:xfrm>
            <a:off x="2263678" y="3915277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err="1">
                <a:solidFill>
                  <a:schemeClr val="tx1"/>
                </a:solidFill>
              </a:rPr>
              <a:t>etc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696BE0-E825-49D0-A274-468711C55CB1}"/>
              </a:ext>
            </a:extLst>
          </p:cNvPr>
          <p:cNvSpPr/>
          <p:nvPr/>
        </p:nvSpPr>
        <p:spPr>
          <a:xfrm>
            <a:off x="2263677" y="4189848"/>
            <a:ext cx="644050" cy="2256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0495F-2B8B-41A5-8BF9-421918252326}"/>
              </a:ext>
            </a:extLst>
          </p:cNvPr>
          <p:cNvSpPr txBox="1"/>
          <p:nvPr/>
        </p:nvSpPr>
        <p:spPr>
          <a:xfrm>
            <a:off x="8393971" y="5782122"/>
            <a:ext cx="1174750" cy="69910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/>
              <a:t>Hard drive segment of the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E7D81-19EC-4838-BF12-27096437ABDF}"/>
              </a:ext>
            </a:extLst>
          </p:cNvPr>
          <p:cNvSpPr txBox="1"/>
          <p:nvPr/>
        </p:nvSpPr>
        <p:spPr>
          <a:xfrm>
            <a:off x="1488084" y="1527068"/>
            <a:ext cx="2936253" cy="289438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Creating a temporary container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F530D07-B910-4CE5-BDB5-6B655D3384A9}"/>
              </a:ext>
            </a:extLst>
          </p:cNvPr>
          <p:cNvCxnSpPr>
            <a:cxnSpLocks/>
          </p:cNvCxnSpPr>
          <p:nvPr/>
        </p:nvCxnSpPr>
        <p:spPr>
          <a:xfrm>
            <a:off x="8190743" y="3186916"/>
            <a:ext cx="0" cy="51396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4B5EC905-886F-45C9-8465-5E3D7AAD5B99}"/>
              </a:ext>
            </a:extLst>
          </p:cNvPr>
          <p:cNvSpPr/>
          <p:nvPr/>
        </p:nvSpPr>
        <p:spPr>
          <a:xfrm>
            <a:off x="3043197" y="340828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Startup Command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DD22102-1A91-4A8E-AB60-D03930C77B75}"/>
              </a:ext>
            </a:extLst>
          </p:cNvPr>
          <p:cNvCxnSpPr>
            <a:cxnSpLocks/>
          </p:cNvCxnSpPr>
          <p:nvPr/>
        </p:nvCxnSpPr>
        <p:spPr>
          <a:xfrm>
            <a:off x="8175611" y="4596836"/>
            <a:ext cx="0" cy="341552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BF9FD1-0E34-4A15-8566-EC84512AEE17}"/>
              </a:ext>
            </a:extLst>
          </p:cNvPr>
          <p:cNvSpPr/>
          <p:nvPr/>
        </p:nvSpPr>
        <p:spPr>
          <a:xfrm>
            <a:off x="581388" y="2556739"/>
            <a:ext cx="4749647" cy="6990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826f70e0ac33e99a72…  Image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D2E46E-4085-4FEA-A8A7-31B6D7B86103}"/>
              </a:ext>
            </a:extLst>
          </p:cNvPr>
          <p:cNvSpPr/>
          <p:nvPr/>
        </p:nvSpPr>
        <p:spPr>
          <a:xfrm>
            <a:off x="3182799" y="3879060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err="1">
                <a:solidFill>
                  <a:schemeClr val="tx1"/>
                </a:solidFill>
              </a:rPr>
              <a:t>apk</a:t>
            </a:r>
            <a:r>
              <a:rPr lang="en-US" sz="1400" b="1">
                <a:solidFill>
                  <a:schemeClr val="tx1"/>
                </a:solidFill>
              </a:rPr>
              <a:t> add –update </a:t>
            </a:r>
            <a:r>
              <a:rPr lang="en-US" sz="1400" b="1" err="1">
                <a:solidFill>
                  <a:schemeClr val="tx1"/>
                </a:solidFill>
              </a:rPr>
              <a:t>redis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905741-D8DA-4B97-B9BE-23761C585566}"/>
              </a:ext>
            </a:extLst>
          </p:cNvPr>
          <p:cNvSpPr/>
          <p:nvPr/>
        </p:nvSpPr>
        <p:spPr>
          <a:xfrm>
            <a:off x="3182799" y="3886736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err="1">
                <a:solidFill>
                  <a:schemeClr val="tx1"/>
                </a:solidFill>
              </a:rPr>
              <a:t>redis</a:t>
            </a:r>
            <a:r>
              <a:rPr lang="en-US" sz="1400" b="1">
                <a:solidFill>
                  <a:schemeClr val="tx1"/>
                </a:solidFill>
              </a:rPr>
              <a:t>-server</a:t>
            </a: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DE5C76A2-0FB1-4B86-8EED-B715AE28FB1A}"/>
              </a:ext>
            </a:extLst>
          </p:cNvPr>
          <p:cNvSpPr/>
          <p:nvPr/>
        </p:nvSpPr>
        <p:spPr>
          <a:xfrm>
            <a:off x="3151624" y="3549722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Startup Command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90D174-7855-4B6B-8619-0445491FFF8F}"/>
              </a:ext>
            </a:extLst>
          </p:cNvPr>
          <p:cNvSpPr/>
          <p:nvPr/>
        </p:nvSpPr>
        <p:spPr>
          <a:xfrm>
            <a:off x="3338069" y="4000866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err="1">
                <a:solidFill>
                  <a:schemeClr val="tx1"/>
                </a:solidFill>
              </a:rPr>
              <a:t>apk</a:t>
            </a:r>
            <a:r>
              <a:rPr lang="en-US" sz="1400" b="1">
                <a:solidFill>
                  <a:schemeClr val="tx1"/>
                </a:solidFill>
              </a:rPr>
              <a:t> add –update </a:t>
            </a:r>
            <a:r>
              <a:rPr lang="en-US" sz="1400" b="1" err="1">
                <a:solidFill>
                  <a:schemeClr val="tx1"/>
                </a:solidFill>
              </a:rPr>
              <a:t>redis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59" name="Flowchart: Process 58">
            <a:extLst>
              <a:ext uri="{FF2B5EF4-FFF2-40B4-BE49-F238E27FC236}">
                <a16:creationId xmlns:a16="http://schemas.microsoft.com/office/drawing/2014/main" id="{8B9E093C-8AB7-49E8-8CBC-18B8335ED0AE}"/>
              </a:ext>
            </a:extLst>
          </p:cNvPr>
          <p:cNvSpPr/>
          <p:nvPr/>
        </p:nvSpPr>
        <p:spPr>
          <a:xfrm>
            <a:off x="3159537" y="3543277"/>
            <a:ext cx="2252486" cy="914699"/>
          </a:xfrm>
          <a:prstGeom prst="flowChartProcess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CMD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787E2A-8CA4-4681-80C6-8FDE5C4C8E33}"/>
              </a:ext>
            </a:extLst>
          </p:cNvPr>
          <p:cNvSpPr/>
          <p:nvPr/>
        </p:nvSpPr>
        <p:spPr>
          <a:xfrm>
            <a:off x="3322454" y="4025659"/>
            <a:ext cx="1879596" cy="3531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err="1">
                <a:solidFill>
                  <a:schemeClr val="tx1"/>
                </a:solidFill>
              </a:rPr>
              <a:t>redis</a:t>
            </a:r>
            <a:r>
              <a:rPr lang="en-US" sz="1400" b="1">
                <a:solidFill>
                  <a:schemeClr val="tx1"/>
                </a:solidFill>
              </a:rPr>
              <a:t>-server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B7F630-410F-498E-9740-03A4EAD60C66}"/>
              </a:ext>
            </a:extLst>
          </p:cNvPr>
          <p:cNvSpPr txBox="1"/>
          <p:nvPr/>
        </p:nvSpPr>
        <p:spPr>
          <a:xfrm>
            <a:off x="2018774" y="1529772"/>
            <a:ext cx="1874872" cy="289438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Creating final Image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565A79-5580-4020-A0F6-2859835C627F}"/>
              </a:ext>
            </a:extLst>
          </p:cNvPr>
          <p:cNvSpPr/>
          <p:nvPr/>
        </p:nvSpPr>
        <p:spPr>
          <a:xfrm>
            <a:off x="581388" y="2555024"/>
            <a:ext cx="4749647" cy="6990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91072d98cfee09f7e9…  Image</a:t>
            </a:r>
          </a:p>
        </p:txBody>
      </p:sp>
    </p:spTree>
    <p:extLst>
      <p:ext uri="{BB962C8B-B14F-4D97-AF65-F5344CB8AC3E}">
        <p14:creationId xmlns:p14="http://schemas.microsoft.com/office/powerpoint/2010/main" val="51968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7.40741E-7 L 1.45833E-6 0.00023 C 0.00338 0.00208 0.00664 0.00417 0.00989 0.00787 C 0.01146 0.00972 0.01289 0.01157 0.01458 0.01366 C 0.01497 0.01389 0.01562 0.01435 0.01614 0.01481 C 0.01836 0.01667 0.02057 0.01852 0.02292 0.0206 C 0.03034 0.02639 0.02279 0.00764 0.0401 0.03333 C 0.04232 0.03634 0.04101 0.03518 0.04427 0.0368 L 0.06042 0.05162 C 0.06107 0.05231 0.06172 0.05231 0.0625 0.05278 C 0.07031 0.05949 0.07812 0.06643 0.08594 0.07361 C 0.08711 0.0743 0.08828 0.07593 0.08958 0.07708 L 0.11146 0.09305 C 0.11302 0.09421 0.11445 0.0956 0.11614 0.09653 C 0.12695 0.10116 0.1181 0.09722 0.14271 0.11505 C 0.15299 0.12222 0.1707 0.13657 0.17656 0.13796 L 0.18125 0.13912 C 0.19375 0.14954 0.20573 0.15949 0.21927 0.16551 C 0.23424 0.17222 0.23776 0.17338 0.25989 0.18981 C 0.27487 0.20069 0.27083 0.19815 0.29948 0.21389 C 0.30091 0.21481 0.3026 0.21435 0.3039 0.21505 C 0.31732 0.22593 0.30377 0.21505 0.33489 0.23356 C 0.33646 0.23426 0.33802 0.23611 0.33958 0.2368 C 0.34075 0.2375 0.34193 0.23727 0.34297 0.23796 C 0.35104 0.24236 0.35885 0.24722 0.36667 0.25185 C 0.37252 0.25972 0.36497 0.25093 0.37344 0.25648 C 0.38099 0.26134 0.38815 0.2669 0.39583 0.27268 C 0.39752 0.27361 0.39909 0.27569 0.40104 0.27708 L 0.41614 0.28866 C 0.4168 0.28889 0.41758 0.28935 0.4181 0.28981 C 0.41888 0.29051 0.4194 0.2912 0.42018 0.29213 C 0.45312 0.3206 0.41523 0.28819 0.44271 0.30833 C 0.44323 0.30856 0.44375 0.30903 0.44427 0.30949 C 0.44544 0.30972 0.44674 0.30995 0.44792 0.31065 C 0.44844 0.31088 0.44909 0.3125 0.44948 0.3118 C 0.45052 0.30949 0.44739 0.30602 0.44739 0.30625 C 0.447 0.30486 0.44687 0.30324 0.44635 0.30255 C 0.44596 0.30162 0.44531 0.30185 0.44479 0.30139 C 0.44427 0.30046 0.44375 0.29954 0.44323 0.29907 L 0.43854 0.2956 C 0.43802 0.29491 0.43737 0.29537 0.43698 0.29444 L 0.43594 0.29213 " pathEditMode="relative" rAng="0" ptsTypes="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74" y="1557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48148E-6 L 2.29167E-6 0.00023 C 0.00338 0.00208 0.00664 0.00417 0.00989 0.00787 C 0.01146 0.00972 0.01289 0.01157 0.01458 0.01366 C 0.01497 0.01389 0.01562 0.01435 0.01614 0.01481 C 0.01836 0.01667 0.02057 0.01852 0.02291 0.0206 C 0.03034 0.02639 0.02278 0.00764 0.0401 0.03333 C 0.04232 0.03634 0.04101 0.03518 0.04427 0.0368 L 0.06041 0.05162 C 0.06107 0.05231 0.06172 0.05231 0.0625 0.05278 C 0.07031 0.05949 0.07812 0.06643 0.08594 0.07361 C 0.08711 0.0743 0.08828 0.07592 0.08958 0.07708 L 0.11146 0.09305 C 0.11302 0.09421 0.11445 0.0956 0.11614 0.09653 C 0.12695 0.10116 0.1181 0.09722 0.14271 0.11504 C 0.15299 0.12222 0.1707 0.13657 0.17643 0.13796 L 0.18125 0.13912 C 0.19375 0.14954 0.2056 0.15949 0.21927 0.16551 C 0.23424 0.17222 0.23776 0.17338 0.25989 0.18981 C 0.27487 0.20069 0.27083 0.19815 0.29948 0.21389 C 0.30091 0.21481 0.3026 0.21435 0.3039 0.21504 C 0.31732 0.22592 0.30377 0.21504 0.33489 0.23356 C 0.33646 0.23426 0.33802 0.23611 0.33958 0.2368 C 0.34075 0.2375 0.34192 0.23727 0.34297 0.23796 C 0.35104 0.24236 0.35885 0.24722 0.36666 0.25185 C 0.37252 0.25972 0.36497 0.25092 0.37344 0.25648 C 0.38099 0.26134 0.38802 0.2669 0.39583 0.27268 C 0.39752 0.27361 0.39909 0.27569 0.40104 0.27708 L 0.41614 0.28866 C 0.41679 0.28889 0.41758 0.28935 0.4181 0.28981 C 0.41888 0.29051 0.41914 0.2912 0.42005 0.29213 C 0.45312 0.3206 0.4151 0.28819 0.44271 0.30833 C 0.4431 0.30856 0.44375 0.30903 0.44414 0.30949 C 0.44518 0.30972 0.44674 0.30995 0.44791 0.31065 C 0.44831 0.31088 0.44909 0.3125 0.44935 0.3118 C 0.45052 0.30949 0.44726 0.30602 0.44726 0.30625 C 0.447 0.30486 0.44687 0.30324 0.44609 0.30254 C 0.44596 0.30162 0.44518 0.30185 0.44479 0.30139 C 0.44414 0.30046 0.44375 0.29954 0.4431 0.29907 L 0.43828 0.2956 C 0.43802 0.29491 0.43711 0.29537 0.43698 0.29444 L 0.43594 0.29213 " pathEditMode="relative" rAng="0" ptsTypes="AAAAAAAAAAAAAAAAAAAAAAAAAAAAAAAAAAAAAAAAAA">
                                      <p:cBhvr>
                                        <p:cTn id="3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74" y="1557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2.29167E-6 0.00024 C 0.00338 0.00209 0.00664 0.00417 0.00989 0.00788 C 0.01146 0.00973 0.01289 0.01158 0.01458 0.01366 C 0.01497 0.01389 0.01562 0.01436 0.01614 0.01482 C 0.01836 0.01667 0.02057 0.01852 0.02291 0.02061 C 0.03034 0.02639 0.02278 0.00764 0.0401 0.03334 C 0.04232 0.03635 0.04101 0.03519 0.04427 0.03681 L 0.06041 0.05163 C 0.06107 0.05232 0.06172 0.05232 0.0625 0.05278 C 0.07031 0.0595 0.07812 0.06644 0.08594 0.07362 C 0.08711 0.07431 0.08828 0.07593 0.08958 0.07709 L 0.11146 0.09306 C 0.11302 0.09422 0.11445 0.09561 0.11614 0.09653 C 0.12695 0.10116 0.1181 0.09723 0.14271 0.11505 C 0.15299 0.12223 0.1707 0.13658 0.17643 0.13797 L 0.18125 0.13913 C 0.19375 0.14954 0.2056 0.1595 0.21927 0.16551 C 0.23424 0.17223 0.23776 0.17338 0.25989 0.18982 C 0.27487 0.2007 0.27083 0.19815 0.29948 0.21389 C 0.30091 0.21482 0.3026 0.21436 0.3039 0.21505 C 0.31732 0.22593 0.30377 0.21505 0.33489 0.23357 C 0.33646 0.23426 0.33802 0.23612 0.33958 0.23681 C 0.34075 0.2375 0.34192 0.23727 0.34297 0.23797 C 0.35104 0.24237 0.35885 0.24723 0.36666 0.25186 C 0.37252 0.25973 0.36497 0.25093 0.37344 0.25649 C 0.38099 0.26135 0.38802 0.2669 0.39583 0.27269 C 0.39752 0.27362 0.39909 0.2757 0.40104 0.27709 L 0.41614 0.28866 C 0.41679 0.28889 0.41758 0.28936 0.4181 0.28982 C 0.41888 0.29051 0.41914 0.29121 0.42005 0.29213 C 0.45312 0.32061 0.4151 0.2882 0.44271 0.30834 C 0.4431 0.30857 0.44375 0.30903 0.44414 0.3095 C 0.44518 0.30973 0.44674 0.30996 0.44791 0.31065 C 0.44831 0.31088 0.44909 0.3125 0.44935 0.31181 C 0.45052 0.3095 0.44726 0.30602 0.44726 0.30625 C 0.447 0.30487 0.44687 0.30325 0.44609 0.30255 C 0.44596 0.30163 0.44518 0.30186 0.44479 0.30139 C 0.44414 0.30047 0.44375 0.29954 0.4431 0.29908 L 0.43828 0.29561 C 0.43802 0.29491 0.43711 0.29538 0.43698 0.29445 L 0.43594 0.29213 " pathEditMode="relative" rAng="0" ptsTypes="AAAAAAAAAAAAAAAAAAAAAAAAAAAAAAAAAAAAAAAAAA">
                                      <p:cBhvr>
                                        <p:cTn id="3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74" y="15579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1.66667E-6 0.00023 C 0.00338 0.00208 0.00664 0.00417 0.00989 0.00787 C 0.01146 0.00972 0.01289 0.01157 0.01458 0.01366 C 0.01497 0.01389 0.01562 0.01435 0.01614 0.01481 C 0.01836 0.01667 0.02057 0.01852 0.02292 0.0206 C 0.03034 0.02639 0.02278 0.00764 0.0401 0.03333 C 0.04232 0.03634 0.04101 0.03518 0.04427 0.0368 L 0.06042 0.05162 C 0.06107 0.05231 0.06172 0.05231 0.0625 0.05278 C 0.07031 0.05949 0.07812 0.06643 0.08594 0.07361 C 0.08711 0.0743 0.08828 0.07592 0.08958 0.07708 L 0.11146 0.09305 C 0.11302 0.09421 0.11445 0.0956 0.11614 0.09653 C 0.12695 0.10116 0.1181 0.09722 0.14271 0.11504 C 0.15299 0.12222 0.1707 0.13657 0.17656 0.13796 L 0.18125 0.13912 C 0.19375 0.14954 0.20573 0.15949 0.21927 0.16551 C 0.23424 0.17222 0.23776 0.17338 0.25989 0.18981 C 0.27487 0.20069 0.27083 0.19815 0.29948 0.21389 C 0.30091 0.21481 0.3026 0.21435 0.3039 0.21504 C 0.31732 0.22592 0.30377 0.21504 0.33489 0.23356 C 0.33646 0.23426 0.33802 0.23611 0.33958 0.2368 C 0.34075 0.2375 0.34193 0.23727 0.34297 0.23796 C 0.35104 0.24236 0.35885 0.24722 0.36667 0.25185 C 0.37252 0.25972 0.36497 0.25092 0.37344 0.25648 C 0.38099 0.26134 0.38815 0.2669 0.39583 0.27268 C 0.39752 0.27361 0.39909 0.27569 0.40104 0.27708 L 0.41614 0.28866 C 0.4168 0.28889 0.41758 0.28935 0.4181 0.28981 C 0.41888 0.29051 0.4194 0.2912 0.42018 0.29213 C 0.45312 0.3206 0.41523 0.28819 0.44271 0.30833 C 0.44323 0.30856 0.44375 0.30903 0.44427 0.30949 C 0.44544 0.30972 0.44674 0.30995 0.44792 0.31065 C 0.44844 0.31088 0.44909 0.3125 0.44948 0.3118 C 0.45052 0.30949 0.44739 0.30602 0.44739 0.30625 C 0.447 0.30486 0.44687 0.30324 0.44635 0.30254 C 0.44596 0.30162 0.44531 0.30185 0.44479 0.30139 C 0.44427 0.30046 0.44375 0.29954 0.44323 0.29907 L 0.43854 0.2956 C 0.43802 0.29491 0.43737 0.29537 0.43698 0.29444 L 0.43594 0.29213 " pathEditMode="relative" rAng="0" ptsTypes="AAAAAAAAAAAAAAAAAAAAAAAAAAAAAAAAAAAAAAAAAA">
                                      <p:cBhvr>
                                        <p:cTn id="3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74" y="15579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81481E-6 L 1.66667E-6 0.00024 C 0.00338 0.00209 0.00664 0.00417 0.00989 0.00788 C 0.01146 0.00973 0.01289 0.01158 0.01458 0.01366 C 0.01497 0.01389 0.01562 0.01436 0.01614 0.01482 C 0.01836 0.01667 0.02057 0.01852 0.02292 0.02061 C 0.03034 0.02639 0.02278 0.00764 0.0401 0.03334 C 0.04232 0.03635 0.04101 0.03519 0.04427 0.03681 L 0.06042 0.05163 C 0.06107 0.05232 0.06172 0.05232 0.0625 0.05278 C 0.07031 0.0595 0.07812 0.06644 0.08594 0.07362 C 0.08711 0.07431 0.08828 0.07593 0.08958 0.07709 L 0.11146 0.09306 C 0.11302 0.09422 0.11445 0.09561 0.11614 0.09653 C 0.12695 0.10116 0.1181 0.09723 0.14271 0.11505 C 0.15299 0.12223 0.1707 0.13658 0.17656 0.13797 L 0.18125 0.13913 C 0.19375 0.14954 0.20573 0.1595 0.21927 0.16551 C 0.23424 0.17223 0.23776 0.17338 0.25989 0.18982 C 0.27487 0.2007 0.27083 0.19815 0.29948 0.21389 C 0.30091 0.21482 0.3026 0.21436 0.3039 0.21505 C 0.31732 0.22593 0.30377 0.21505 0.33489 0.23357 C 0.33646 0.23426 0.33802 0.23612 0.33958 0.23681 C 0.34075 0.2375 0.34193 0.23727 0.34297 0.23797 C 0.35104 0.24237 0.35885 0.24723 0.36667 0.25186 C 0.37252 0.25973 0.36497 0.25093 0.37344 0.25649 C 0.38099 0.26135 0.38815 0.2669 0.39583 0.27269 C 0.39752 0.27362 0.39909 0.2757 0.40104 0.27709 L 0.41614 0.28866 C 0.4168 0.28889 0.41758 0.28936 0.4181 0.28982 C 0.41888 0.29051 0.4194 0.29121 0.42018 0.29213 C 0.45312 0.32061 0.41523 0.2882 0.44271 0.30834 C 0.44323 0.30857 0.44375 0.30903 0.44427 0.3095 C 0.44544 0.30973 0.44674 0.30996 0.44792 0.31065 C 0.44844 0.31088 0.44909 0.3125 0.44948 0.31181 C 0.45052 0.3095 0.44739 0.30602 0.44739 0.30625 C 0.447 0.30487 0.44687 0.30325 0.44635 0.30255 C 0.44596 0.30163 0.44531 0.30186 0.44479 0.30139 C 0.44427 0.30047 0.44375 0.29954 0.44323 0.29908 L 0.43854 0.29561 C 0.43802 0.29491 0.43737 0.29538 0.43698 0.29445 L 0.43594 0.29213 " pathEditMode="relative" rAng="0" ptsTypes="AAAAAAAAAAAAAAAAAAAAAAAAAAAAAAAAAAAAAAAAAA">
                                      <p:cBhvr>
                                        <p:cTn id="4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74" y="1557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48148E-6 L 6.25E-7 0.00023 C 0.00338 0.00208 0.00664 0.00417 0.0099 0.00787 C 0.01146 0.00972 0.01289 0.01157 0.01458 0.01366 C 0.01497 0.01389 0.01562 0.01435 0.01615 0.01481 C 0.01836 0.01667 0.02057 0.01852 0.02292 0.0206 C 0.03034 0.02639 0.02279 0.00764 0.0401 0.03333 C 0.04232 0.03634 0.04102 0.03518 0.04427 0.0368 L 0.06042 0.05162 C 0.06107 0.05231 0.06172 0.05231 0.0625 0.05278 C 0.07031 0.05949 0.07812 0.06643 0.08594 0.07361 C 0.08711 0.0743 0.08828 0.07592 0.08958 0.07708 L 0.11146 0.09305 C 0.11302 0.09421 0.11445 0.0956 0.11615 0.09653 C 0.12695 0.10116 0.1181 0.09722 0.14271 0.11504 C 0.15299 0.12222 0.1707 0.13657 0.17656 0.13796 L 0.18125 0.13912 C 0.19375 0.14954 0.20573 0.15949 0.21927 0.16551 C 0.23424 0.17222 0.23776 0.17338 0.2599 0.18981 C 0.27487 0.20069 0.27083 0.19815 0.29948 0.21389 C 0.30091 0.21481 0.3026 0.21435 0.30391 0.21504 C 0.31732 0.22592 0.30378 0.21504 0.3349 0.23356 C 0.33646 0.23426 0.33802 0.23611 0.33958 0.2368 C 0.34075 0.2375 0.34193 0.23727 0.3431 0.23796 C 0.35104 0.24236 0.35885 0.24722 0.36667 0.25185 C 0.37253 0.25972 0.36523 0.25092 0.37344 0.25648 C 0.38099 0.26134 0.38841 0.2669 0.39583 0.27268 C 0.39753 0.27361 0.39922 0.27569 0.40104 0.27708 L 0.41615 0.28866 C 0.4168 0.28889 0.41758 0.28935 0.41823 0.28981 C 0.41888 0.29051 0.41953 0.2912 0.42031 0.29213 C 0.45312 0.3206 0.41536 0.28819 0.44271 0.30833 C 0.44323 0.30856 0.44375 0.30903 0.44427 0.30949 C 0.44544 0.30972 0.44674 0.30995 0.44792 0.31065 C 0.44844 0.31088 0.44909 0.3125 0.44948 0.3118 C 0.45052 0.30949 0.4474 0.30602 0.4474 0.30625 C 0.447 0.30486 0.44687 0.30324 0.44635 0.30254 C 0.44596 0.30162 0.44531 0.30185 0.44479 0.30139 C 0.44427 0.30046 0.44375 0.29954 0.44323 0.29907 L 0.43854 0.2956 C 0.43802 0.29491 0.43737 0.29537 0.43698 0.29444 L 0.43594 0.29213 " pathEditMode="relative" rAng="0" ptsTypes="AAAAAAAAAAAAAAAAAAAAAAAAAAAAAAAAAAAAAAAAAA">
                                      <p:cBhvr>
                                        <p:cTn id="4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74" y="1557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81481E-6 L 6.25E-7 0.00024 C 0.00338 0.00209 0.00664 0.00417 0.0099 0.00788 C 0.01146 0.00973 0.01289 0.01158 0.01458 0.01366 C 0.01497 0.01389 0.01562 0.01436 0.01615 0.01482 C 0.01836 0.01667 0.02057 0.01852 0.02292 0.02061 C 0.03034 0.02639 0.02279 0.00764 0.0401 0.03334 C 0.04232 0.03635 0.04102 0.03519 0.04427 0.03681 L 0.06042 0.05163 C 0.06107 0.05232 0.06172 0.05232 0.0625 0.05278 C 0.07031 0.0595 0.07812 0.06644 0.08594 0.07362 C 0.08711 0.07431 0.08828 0.07593 0.08958 0.07709 L 0.11146 0.09306 C 0.11302 0.09422 0.11445 0.09561 0.11615 0.09653 C 0.12695 0.10116 0.1181 0.09723 0.14271 0.11505 C 0.15299 0.12223 0.1707 0.13658 0.17656 0.13797 L 0.18125 0.13913 C 0.19375 0.14954 0.20573 0.1595 0.21927 0.16551 C 0.23424 0.17223 0.23776 0.17338 0.2599 0.18982 C 0.27487 0.2007 0.27083 0.19815 0.29948 0.21389 C 0.30091 0.21482 0.3026 0.21436 0.30391 0.21505 C 0.31732 0.22593 0.30378 0.21505 0.3349 0.23357 C 0.33646 0.23426 0.33802 0.23612 0.33958 0.23681 C 0.34075 0.2375 0.34193 0.23727 0.3431 0.23797 C 0.35104 0.24237 0.35885 0.24723 0.36667 0.25186 C 0.37253 0.25973 0.36523 0.25093 0.37344 0.25649 C 0.38099 0.26135 0.38841 0.2669 0.39583 0.27269 C 0.39753 0.27362 0.39922 0.2757 0.40104 0.27709 L 0.41615 0.28866 C 0.4168 0.28889 0.41758 0.28936 0.41823 0.28982 C 0.41888 0.29051 0.41953 0.29121 0.42031 0.29213 C 0.45312 0.32061 0.41536 0.2882 0.44271 0.30834 C 0.44323 0.30857 0.44375 0.30903 0.44427 0.3095 C 0.44544 0.30973 0.44674 0.30996 0.44792 0.31065 C 0.44844 0.31088 0.44909 0.3125 0.44948 0.31181 C 0.45052 0.3095 0.4474 0.30602 0.4474 0.30625 C 0.447 0.30487 0.44687 0.30325 0.44635 0.30255 C 0.44596 0.30163 0.44531 0.30186 0.44479 0.30139 C 0.44427 0.30047 0.44375 0.29954 0.44323 0.29908 L 0.43854 0.29561 C 0.43802 0.29491 0.43737 0.29538 0.43698 0.29445 L 0.43594 0.29213 " pathEditMode="relative" rAng="0" ptsTypes="AAAAAAAAAAAAAAAAAAAAAAAAAAAAAAAAAAAAAAAAAA">
                                      <p:cBhvr>
                                        <p:cTn id="4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74" y="1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7.40741E-7 L -1.25E-6 0.00023 C 0.00248 -0.00208 0.00521 -0.00394 0.00755 -0.00625 C 0.00873 -0.00741 0.00977 -0.00903 0.01107 -0.00972 C 0.0125 -0.01088 0.01432 -0.01088 0.01589 -0.01157 C 0.02826 -0.01759 0.01146 -0.01111 0.025 -0.01597 C 0.02617 -0.01759 0.02669 -0.01829 0.02839 -0.01945 C 0.02956 -0.02014 0.03073 -0.0206 0.0319 -0.0213 C 0.03386 -0.02245 0.03542 -0.02454 0.0375 -0.0257 C 0.0388 -0.02639 0.04024 -0.02662 0.04167 -0.02755 C 0.04284 -0.02824 0.04388 -0.0294 0.04505 -0.03009 C 0.04623 -0.03079 0.0474 -0.03102 0.04857 -0.03171 C 0.04961 -0.03264 0.05026 -0.03403 0.0513 -0.03449 C 0.05235 -0.03519 0.05365 -0.03519 0.05482 -0.03542 C 0.05755 -0.03634 0.06042 -0.03704 0.06315 -0.03796 C 0.0638 -0.0382 0.06445 -0.03866 0.06524 -0.03889 C 0.07149 -0.04028 0.08399 -0.04236 0.08399 -0.04213 C 0.08789 -0.04375 0.09206 -0.04445 0.09583 -0.04676 C 0.09766 -0.04792 0.09935 -0.04954 0.1013 -0.05023 C 0.1043 -0.05185 0.10742 -0.05301 0.11042 -0.05486 C 0.1125 -0.05602 0.11445 -0.05718 0.11667 -0.05833 C 0.11953 -0.05995 0.11862 -0.05857 0.12214 -0.06088 C 0.13633 -0.07037 0.12591 -0.06343 0.13399 -0.0706 C 0.13503 -0.07153 0.13633 -0.07222 0.1375 -0.07338 C 0.1388 -0.07454 0.14024 -0.0757 0.14167 -0.07685 C 0.14323 -0.07801 0.14492 -0.07917 0.14649 -0.08032 C 0.14766 -0.08148 0.1487 -0.08264 0.15 -0.0838 C 0.15716 -0.09028 0.15 -0.08333 0.15625 -0.08843 C 0.15716 -0.08889 0.15794 -0.09005 0.15899 -0.09097 C 0.16081 -0.09236 0.16289 -0.09282 0.16458 -0.09445 C 0.16628 -0.09607 0.16875 -0.09861 0.17083 -0.09977 C 0.17344 -0.10093 0.17643 -0.10162 0.17917 -0.10324 C 0.1875 -0.10857 0.17708 -0.10162 0.18399 -0.10671 C 0.1849 -0.10741 0.18581 -0.10787 0.18672 -0.10857 C 0.18776 -0.10926 0.18867 -0.11019 0.18958 -0.11111 C 0.18998 -0.11157 0.19037 -0.1125 0.19089 -0.11296 C 0.19193 -0.11343 0.19323 -0.11343 0.1944 -0.11366 C 0.19714 -0.11713 0.19427 -0.11412 0.19792 -0.11644 C 0.20326 -0.11991 0.19675 -0.1169 0.20208 -0.11898 C 0.20274 -0.11968 0.20339 -0.12037 0.20417 -0.12083 C 0.20586 -0.12199 0.20807 -0.12269 0.20964 -0.12431 C 0.21081 -0.12546 0.21185 -0.12685 0.21315 -0.12778 C 0.21615 -0.13056 0.21602 -0.12917 0.2194 -0.13148 C 0.22539 -0.13565 0.22149 -0.13403 0.22708 -0.1375 L 0.23255 -0.14097 C 0.23346 -0.14167 0.23438 -0.14236 0.23542 -0.14282 C 0.23607 -0.14329 0.23672 -0.14329 0.2375 -0.14375 C 0.24245 -0.14699 0.23698 -0.14398 0.24089 -0.14722 C 0.2418 -0.14792 0.24284 -0.14838 0.24375 -0.14907 C 0.24492 -0.14977 0.24596 -0.1507 0.24714 -0.15162 C 0.24805 -0.15232 0.24896 -0.15301 0.25 -0.15347 C 0.2513 -0.15417 0.25287 -0.15417 0.25417 -0.15532 L 0.25833 -0.1588 C 0.25899 -0.15949 0.25951 -0.16019 0.26042 -0.16065 L 0.2625 -0.16134 C 0.26485 -0.16458 0.26315 -0.16296 0.26797 -0.16482 L 0.26797 -0.16458 C 0.26875 -0.16551 0.2694 -0.16597 0.27005 -0.16667 C 0.27057 -0.16713 0.27096 -0.16806 0.27149 -0.16852 C 0.27214 -0.16875 0.27279 -0.16898 0.27357 -0.16921 C 0.27526 -0.17083 0.27643 -0.17176 0.27839 -0.17269 C 0.2793 -0.17338 0.28034 -0.17338 0.28125 -0.17384 C 0.28555 -0.1757 0.28255 -0.175 0.28672 -0.17801 C 0.28737 -0.17847 0.28815 -0.17847 0.2888 -0.17917 C 0.28971 -0.17963 0.29063 -0.18032 0.29167 -0.18079 C 0.29232 -0.18171 0.29284 -0.18264 0.29375 -0.18333 C 0.29427 -0.1838 0.29505 -0.1838 0.29583 -0.18426 C 0.29649 -0.18472 0.29714 -0.18542 0.29792 -0.18611 C 0.29857 -0.18657 0.29922 -0.18657 0.3 -0.18704 C 0.30534 -0.19028 0.29883 -0.18727 0.30417 -0.18958 C 0.30938 -0.1963 0.30326 -0.18935 0.30833 -0.19306 C 0.31302 -0.19676 0.30586 -0.19329 0.31172 -0.19583 C 0.31406 -0.19745 0.31302 -0.19745 0.31458 -0.19745 " pathEditMode="relative" rAng="0" ptsTypes="AAAAAAAAAAAAAAAAAAAAAAAAAAAAAAAAAAAAAAAAAAAAAAAAAAAAAAAAAAAAAAAAAAAAAAAAA">
                                      <p:cBhvr>
                                        <p:cTn id="5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29" y="-9861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22222E-6 L -1.45833E-6 0.00023 C 0.00248 -0.00209 0.00521 -0.00394 0.00755 -0.00625 C 0.00873 -0.00741 0.00977 -0.00903 0.01107 -0.00972 C 0.0125 -0.01088 0.01432 -0.01088 0.01589 -0.01158 C 0.02826 -0.01759 0.01146 -0.01111 0.025 -0.01597 C 0.02617 -0.01759 0.02669 -0.01829 0.02839 -0.01945 C 0.02956 -0.02014 0.03073 -0.0206 0.0319 -0.0213 C 0.03386 -0.02246 0.03542 -0.02454 0.0375 -0.0257 C 0.0388 -0.02639 0.04024 -0.02662 0.04167 -0.02755 C 0.04284 -0.02824 0.04388 -0.0294 0.04505 -0.03009 C 0.04623 -0.03079 0.0474 -0.03102 0.04857 -0.03172 C 0.04961 -0.03264 0.05026 -0.03403 0.0513 -0.03449 C 0.05235 -0.03519 0.05365 -0.03519 0.05482 -0.03542 C 0.05755 -0.03634 0.06042 -0.03704 0.06315 -0.03797 C 0.0638 -0.0382 0.06445 -0.03866 0.06524 -0.03889 C 0.07149 -0.04028 0.08399 -0.04236 0.08399 -0.04213 C 0.08789 -0.04375 0.09206 -0.04445 0.09583 -0.04676 C 0.09766 -0.04792 0.09935 -0.04954 0.1013 -0.05023 C 0.1043 -0.05185 0.10742 -0.05301 0.11042 -0.05486 C 0.1125 -0.05602 0.11445 -0.05718 0.11667 -0.05834 C 0.11953 -0.05996 0.11862 -0.05857 0.12214 -0.06088 C 0.13633 -0.07037 0.12591 -0.06343 0.13399 -0.0706 C 0.13503 -0.07153 0.13633 -0.07222 0.1375 -0.07338 C 0.1388 -0.07454 0.14024 -0.0757 0.14167 -0.07685 C 0.14323 -0.07801 0.14492 -0.07917 0.14649 -0.08033 C 0.14766 -0.08148 0.1487 -0.08264 0.15 -0.0838 C 0.15716 -0.09028 0.15 -0.08334 0.15625 -0.08843 C 0.15716 -0.08889 0.15794 -0.09005 0.15899 -0.09097 C 0.16081 -0.09236 0.16289 -0.09283 0.16458 -0.09445 C 0.16628 -0.09607 0.16875 -0.09861 0.17083 -0.09977 C 0.17344 -0.10093 0.17643 -0.10162 0.17917 -0.10324 C 0.1875 -0.10857 0.17708 -0.10162 0.18399 -0.10672 C 0.1849 -0.10741 0.18581 -0.10787 0.18672 -0.10857 C 0.18776 -0.10926 0.18867 -0.11019 0.18958 -0.11111 C 0.18998 -0.11158 0.19037 -0.1125 0.19089 -0.11297 C 0.19193 -0.11343 0.19323 -0.11343 0.1944 -0.11366 C 0.19714 -0.11713 0.19427 -0.11412 0.19792 -0.11644 C 0.20326 -0.11991 0.19675 -0.1169 0.20208 -0.11898 C 0.20274 -0.11968 0.20339 -0.12037 0.20417 -0.12084 C 0.20586 -0.12199 0.20807 -0.12269 0.20964 -0.12431 C 0.21081 -0.12547 0.21185 -0.12685 0.21315 -0.12778 C 0.21615 -0.13056 0.21602 -0.12917 0.2194 -0.13148 C 0.22539 -0.13565 0.22149 -0.13403 0.22708 -0.1375 L 0.23255 -0.14097 C 0.23347 -0.14167 0.23438 -0.14236 0.23542 -0.14283 C 0.23607 -0.14329 0.23672 -0.14329 0.2375 -0.14375 C 0.24245 -0.14699 0.23698 -0.14398 0.24089 -0.14722 C 0.2418 -0.14792 0.24284 -0.14838 0.24375 -0.14908 C 0.24492 -0.14977 0.24597 -0.1507 0.24714 -0.15162 C 0.24805 -0.15232 0.24896 -0.15301 0.25 -0.15347 C 0.2513 -0.15417 0.25287 -0.15417 0.25417 -0.15533 L 0.25833 -0.1588 C 0.25899 -0.15949 0.25951 -0.16019 0.26042 -0.16065 L 0.2625 -0.16134 C 0.26485 -0.16459 0.26315 -0.16297 0.26797 -0.16482 L 0.26797 -0.16459 C 0.26875 -0.16551 0.2694 -0.16597 0.27005 -0.16667 C 0.27057 -0.16713 0.27097 -0.16806 0.27149 -0.16852 C 0.27214 -0.16875 0.27279 -0.16898 0.27357 -0.16922 C 0.27526 -0.17084 0.27643 -0.17176 0.27839 -0.17269 C 0.2793 -0.17338 0.28034 -0.17338 0.28125 -0.17384 C 0.28555 -0.1757 0.28255 -0.175 0.28672 -0.17801 C 0.28737 -0.17847 0.28815 -0.17847 0.2888 -0.17917 C 0.28972 -0.17963 0.29063 -0.18033 0.29167 -0.18079 C 0.29232 -0.18172 0.29284 -0.18264 0.29375 -0.18334 C 0.29427 -0.1838 0.29505 -0.1838 0.29583 -0.18426 C 0.29649 -0.18472 0.29714 -0.18542 0.29792 -0.18611 C 0.29857 -0.18658 0.29922 -0.18658 0.3 -0.18704 C 0.30534 -0.19028 0.29883 -0.18727 0.30417 -0.18959 C 0.30938 -0.1963 0.30326 -0.18935 0.30833 -0.19306 C 0.31302 -0.19676 0.30586 -0.19329 0.31172 -0.19584 C 0.31406 -0.19746 0.31302 -0.19746 0.31458 -0.19746 " pathEditMode="relative" rAng="0" ptsTypes="AAAAAAAAAAAAAAAAAAAAAAAAAAAAAAAAAAAAAAAAAAAAAAAAAAAAAAAAAAAAAAAAAAAAAAAAA">
                                      <p:cBhvr>
                                        <p:cTn id="6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29" y="-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33333E-6 L -2.29167E-6 0.00023 C 0.00196 -0.00069 0.0043 -0.00115 0.00638 -0.00208 C 0.00795 -0.00254 0.01081 -0.00393 0.01081 -0.0037 C 0.01302 -0.00555 0.01341 -0.00602 0.01602 -0.0074 C 0.01667 -0.00787 0.01745 -0.00787 0.01823 -0.0081 C 0.01979 -0.00926 0.02123 -0.01064 0.02266 -0.0118 C 0.02357 -0.01273 0.02448 -0.01389 0.02552 -0.01458 C 0.02748 -0.01574 0.02956 -0.01643 0.03138 -0.01805 C 0.03216 -0.01875 0.03281 -0.01944 0.0336 -0.0199 C 0.03477 -0.0206 0.03607 -0.02106 0.03724 -0.02152 C 0.04011 -0.02361 0.04597 -0.02685 0.04597 -0.02662 C 0.04701 -0.02824 0.04779 -0.02939 0.04896 -0.03078 C 0.04961 -0.03102 0.05039 -0.03102 0.05117 -0.03148 C 0.06159 -0.03727 0.05521 -0.03449 0.06068 -0.0368 C 0.06146 -0.0375 0.06211 -0.03796 0.06289 -0.03842 C 0.0668 -0.04051 0.07461 -0.0449 0.07461 -0.04467 C 0.07748 -0.04814 0.07448 -0.0449 0.07839 -0.04722 C 0.08334 -0.05023 0.07735 -0.04814 0.08334 -0.05 C 0.08412 -0.05092 0.08464 -0.05185 0.08555 -0.05277 C 0.08698 -0.05393 0.08841 -0.05463 0.08998 -0.05532 C 0.09063 -0.05555 0.09154 -0.05555 0.09219 -0.05625 C 0.10013 -0.0618 0.09675 -0.06088 0.10391 -0.06504 C 0.10469 -0.06551 0.10547 -0.06551 0.10612 -0.06574 C 0.1069 -0.0662 0.10755 -0.06713 0.10834 -0.06782 C 0.11133 -0.0699 0.11472 -0.07106 0.11719 -0.07384 C 0.11771 -0.07453 0.11797 -0.07523 0.11862 -0.07569 C 0.12058 -0.07708 0.12292 -0.07777 0.12513 -0.07847 C 0.12656 -0.07893 0.12813 -0.07916 0.12956 -0.08009 C 0.13347 -0.0824 0.13724 -0.08518 0.14128 -0.08703 C 0.14258 -0.08773 0.14375 -0.08819 0.14492 -0.08889 C 0.14805 -0.09097 0.15065 -0.09375 0.15378 -0.09514 C 0.15508 -0.09583 0.15638 -0.09629 0.15742 -0.09699 C 0.1586 -0.09768 0.15938 -0.09907 0.16029 -0.09977 C 0.16172 -0.10046 0.16328 -0.10069 0.16472 -0.10139 C 0.16719 -0.10301 0.16927 -0.10578 0.17201 -0.10671 C 0.17474 -0.10764 0.1767 -0.1081 0.17943 -0.10949 C 0.18086 -0.11041 0.18242 -0.11111 0.18386 -0.11203 C 0.18672 -0.11412 0.18542 -0.11412 0.18893 -0.11574 C 0.18985 -0.11597 0.19089 -0.1162 0.19193 -0.11643 C 0.19492 -0.11782 0.19792 -0.11921 0.20052 -0.12106 C 0.21029 -0.12685 0.20625 -0.12523 0.21237 -0.12708 C 0.21667 -0.12986 0.21823 -0.13125 0.22188 -0.13264 C 0.22292 -0.13287 0.22383 -0.13333 0.22487 -0.13356 C 0.22683 -0.13449 0.22865 -0.13611 0.23073 -0.1368 C 0.23151 -0.13727 0.23229 -0.13727 0.23295 -0.13796 C 0.2349 -0.13889 0.23672 -0.14074 0.2388 -0.14143 C 0.23946 -0.14166 0.24024 -0.14189 0.24089 -0.14213 C 0.24193 -0.14259 0.24284 -0.14328 0.24388 -0.14375 C 0.24649 -0.14583 0.24571 -0.14606 0.24896 -0.14768 C 0.24987 -0.14791 0.25091 -0.14814 0.25196 -0.14861 C 0.25547 -0.15115 0.25326 -0.15 0.2586 -0.15185 L 0.26068 -0.15277 C 0.26146 -0.15324 0.26224 -0.15324 0.26289 -0.15393 C 0.26511 -0.15555 0.2655 -0.15602 0.2681 -0.1574 C 0.26875 -0.15787 0.26953 -0.15787 0.27031 -0.1581 C 0.2767 -0.16157 0.27031 -0.15879 0.27539 -0.16088 C 0.27617 -0.16157 0.27683 -0.16203 0.27761 -0.16273 C 0.27891 -0.16342 0.2819 -0.16458 0.2819 -0.16435 C 0.28295 -0.16574 0.2836 -0.16736 0.2849 -0.16805 C 0.28763 -0.16921 0.28893 -0.16921 0.29154 -0.17245 C 0.29505 -0.17662 0.2905 -0.17152 0.29518 -0.17592 C 0.29571 -0.17639 0.2961 -0.17731 0.29662 -0.17777 C 0.29727 -0.17824 0.29805 -0.17847 0.29883 -0.1787 C 0.30052 -0.18078 0.30222 -0.18287 0.30469 -0.18402 L 0.3069 -0.18472 C 0.30795 -0.18611 0.30873 -0.1875 0.3099 -0.18842 L 0.31433 -0.19189 C 0.31498 -0.19259 0.31563 -0.19352 0.31654 -0.19375 L 0.31875 -0.19467 C 0.31693 -0.19745 0.3181 -0.19745 0.31576 -0.19745 " pathEditMode="relative" rAng="0" ptsTypes="AAAAAAAAAAAAAAAAAAAAAAAAAAAAAAAAAAAAAAAAAAAAAAAAAAAAAAAAAAAAAAAAAAAAAAA">
                                      <p:cBhvr>
                                        <p:cTn id="9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37" y="-9861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48148E-6 L 6.25E-7 0.00023 C 0.00195 -0.00069 0.0043 -0.00116 0.00638 -0.00208 C 0.00794 -0.00254 0.01081 -0.00393 0.01081 -0.0037 C 0.01302 -0.00555 0.01341 -0.00602 0.01602 -0.00741 C 0.01667 -0.00787 0.01745 -0.00787 0.01823 -0.0081 C 0.01979 -0.00926 0.02122 -0.01065 0.02266 -0.0118 C 0.02357 -0.01273 0.02448 -0.01389 0.02552 -0.01458 C 0.02747 -0.01574 0.02956 -0.01643 0.03138 -0.01805 C 0.03216 -0.01875 0.03281 -0.01944 0.03359 -0.01991 C 0.03477 -0.0206 0.03607 -0.02106 0.03724 -0.02153 C 0.0401 -0.02361 0.04596 -0.02685 0.04596 -0.02662 C 0.047 -0.02824 0.04779 -0.0294 0.04896 -0.03079 C 0.04961 -0.03102 0.05039 -0.03102 0.05117 -0.03148 C 0.06159 -0.03727 0.05521 -0.03449 0.06068 -0.0368 C 0.06146 -0.0375 0.06211 -0.03796 0.06289 -0.03842 C 0.0668 -0.04051 0.07461 -0.04491 0.07461 -0.04467 C 0.07747 -0.04815 0.07448 -0.04491 0.07838 -0.04722 C 0.08333 -0.05023 0.07734 -0.04815 0.08333 -0.05 C 0.08411 -0.05092 0.08463 -0.05185 0.08555 -0.05278 C 0.08698 -0.05393 0.08841 -0.05463 0.08997 -0.05532 C 0.09062 -0.05555 0.09154 -0.05555 0.09219 -0.05625 C 0.10013 -0.0618 0.09674 -0.06088 0.10391 -0.06504 C 0.10469 -0.06551 0.10547 -0.06551 0.10612 -0.06574 C 0.1069 -0.0662 0.10755 -0.06713 0.10833 -0.06782 C 0.11133 -0.06991 0.11471 -0.07106 0.11719 -0.07384 C 0.11771 -0.07454 0.11797 -0.07523 0.11862 -0.07569 C 0.12057 -0.07708 0.12292 -0.07778 0.12513 -0.07847 C 0.12656 -0.07893 0.12812 -0.07917 0.12956 -0.08009 C 0.13346 -0.08241 0.13724 -0.08518 0.14128 -0.08704 C 0.14258 -0.08773 0.14375 -0.08819 0.14492 -0.08889 C 0.14805 -0.09097 0.15065 -0.09375 0.15378 -0.09514 C 0.15508 -0.09583 0.15638 -0.09629 0.15742 -0.09699 C 0.15859 -0.09768 0.15937 -0.09907 0.16029 -0.09977 C 0.16172 -0.10046 0.16328 -0.10069 0.16471 -0.10139 C 0.16719 -0.10301 0.16927 -0.10579 0.172 -0.10671 C 0.17474 -0.10764 0.17669 -0.1081 0.17943 -0.10949 C 0.18086 -0.11042 0.18242 -0.11111 0.18385 -0.11204 C 0.18672 -0.11412 0.18542 -0.11412 0.18893 -0.11574 C 0.18984 -0.11597 0.19088 -0.1162 0.19193 -0.11643 C 0.19492 -0.11782 0.19792 -0.11921 0.20052 -0.12106 C 0.21029 -0.12685 0.20625 -0.12523 0.21237 -0.12708 C 0.21667 -0.12986 0.21823 -0.13125 0.22187 -0.13264 C 0.22292 -0.13287 0.22383 -0.13333 0.22487 -0.13356 C 0.22682 -0.13449 0.22865 -0.13611 0.23073 -0.1368 C 0.23151 -0.13727 0.23229 -0.13727 0.23294 -0.13796 C 0.2349 -0.13889 0.23672 -0.14074 0.2388 -0.14143 C 0.23945 -0.14167 0.24023 -0.1419 0.24088 -0.14213 C 0.24193 -0.14259 0.24284 -0.14329 0.24388 -0.14375 C 0.24648 -0.14583 0.2457 -0.14606 0.24896 -0.14768 C 0.24987 -0.14792 0.25091 -0.14815 0.25195 -0.14861 C 0.25547 -0.15116 0.25325 -0.15 0.25859 -0.15185 L 0.26068 -0.15278 C 0.26146 -0.15324 0.26224 -0.15324 0.26289 -0.15393 C 0.2651 -0.15555 0.26549 -0.15602 0.2681 -0.15741 C 0.26875 -0.15787 0.26953 -0.15787 0.27031 -0.1581 C 0.27669 -0.16157 0.27031 -0.15879 0.27539 -0.16088 C 0.27617 -0.16157 0.27682 -0.16204 0.2776 -0.16273 C 0.27891 -0.16342 0.2819 -0.16458 0.2819 -0.16435 C 0.28294 -0.16574 0.28359 -0.16736 0.2849 -0.16805 C 0.28763 -0.16921 0.28893 -0.16921 0.29154 -0.17245 C 0.29505 -0.17662 0.29049 -0.17153 0.29518 -0.17592 C 0.2957 -0.17639 0.29609 -0.17731 0.29661 -0.17778 C 0.29727 -0.17824 0.29805 -0.17847 0.29883 -0.1787 C 0.30052 -0.18079 0.30221 -0.18287 0.30469 -0.18403 L 0.3069 -0.18472 C 0.30794 -0.18611 0.30872 -0.1875 0.3099 -0.18842 L 0.31432 -0.1919 C 0.31497 -0.19259 0.31562 -0.19352 0.31654 -0.19375 L 0.31875 -0.19467 C 0.31693 -0.19745 0.3181 -0.19745 0.31575 -0.19745 " pathEditMode="relative" rAng="0" ptsTypes="AAAAAAAAAAAAAAAAAAAAAAAAAAAAAAAAAAAAAAAAAAAAAAAAAAAAAAAAAAAAAAAAAAAAAAA">
                                      <p:cBhvr>
                                        <p:cTn id="9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37" y="-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" grpId="0" animBg="1"/>
      <p:bldP spid="43" grpId="0" animBg="1"/>
      <p:bldP spid="43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9" grpId="0"/>
      <p:bldP spid="10" grpId="0"/>
      <p:bldP spid="44" grpId="0" animBg="1"/>
      <p:bldP spid="23" grpId="0" animBg="1"/>
      <p:bldP spid="57" grpId="0" animBg="1"/>
      <p:bldP spid="53" grpId="0" animBg="1"/>
      <p:bldP spid="53" grpId="1" animBg="1"/>
      <p:bldP spid="54" grpId="0" animBg="1"/>
      <p:bldP spid="54" grpId="1" animBg="1"/>
      <p:bldP spid="59" grpId="0" animBg="1"/>
      <p:bldP spid="59" grpId="1" animBg="1"/>
      <p:bldP spid="58" grpId="0" animBg="1"/>
      <p:bldP spid="58" grpId="1" animBg="1"/>
      <p:bldP spid="60" grpId="0"/>
      <p:bldP spid="6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Base Image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21254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E35F5-995F-4689-921C-AADB35358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B4B30-F751-4DE7-B482-B75FC699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6AA170-97C7-40AB-B242-54BE6690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base image?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71B025-AE43-421E-99F9-419A4C2F6D8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B4EBAA-1B65-45A6-9A82-5178864E59F1}"/>
              </a:ext>
            </a:extLst>
          </p:cNvPr>
          <p:cNvSpPr/>
          <p:nvPr/>
        </p:nvSpPr>
        <p:spPr>
          <a:xfrm>
            <a:off x="1412885" y="3429000"/>
            <a:ext cx="2678765" cy="1065488"/>
          </a:xfrm>
          <a:prstGeom prst="roundRect">
            <a:avLst>
              <a:gd name="adj" fmla="val 3150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Writing a </a:t>
            </a:r>
            <a:r>
              <a:rPr lang="en-US" err="1">
                <a:solidFill>
                  <a:schemeClr val="tx1"/>
                </a:solidFill>
              </a:rPr>
              <a:t>Dockerfile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FB32DF-BCB3-4FEA-A846-1EE1BB1571C4}"/>
              </a:ext>
            </a:extLst>
          </p:cNvPr>
          <p:cNvSpPr/>
          <p:nvPr/>
        </p:nvSpPr>
        <p:spPr>
          <a:xfrm>
            <a:off x="5213085" y="3429000"/>
            <a:ext cx="5348377" cy="1065488"/>
          </a:xfrm>
          <a:prstGeom prst="roundRect">
            <a:avLst>
              <a:gd name="adj" fmla="val 3150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being given a computer without an OS and being told to install Chrome on it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DAA57-8DCC-4627-84A2-BB2C7EAF42DF}"/>
              </a:ext>
            </a:extLst>
          </p:cNvPr>
          <p:cNvSpPr txBox="1"/>
          <p:nvPr/>
        </p:nvSpPr>
        <p:spPr>
          <a:xfrm>
            <a:off x="4346194" y="3575805"/>
            <a:ext cx="612347" cy="77187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4800" dirty="0"/>
              <a:t>==</a:t>
            </a:r>
          </a:p>
        </p:txBody>
      </p:sp>
    </p:spTree>
    <p:extLst>
      <p:ext uri="{BB962C8B-B14F-4D97-AF65-F5344CB8AC3E}">
        <p14:creationId xmlns:p14="http://schemas.microsoft.com/office/powerpoint/2010/main" val="23034272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E35F5-995F-4689-921C-AADB35358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B4B30-F751-4DE7-B482-B75FC699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6AA170-97C7-40AB-B242-54BE6690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base image?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71B025-AE43-421E-99F9-419A4C2F6D8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266F445-5ED3-4650-9665-0980CA81BB3A}"/>
              </a:ext>
            </a:extLst>
          </p:cNvPr>
          <p:cNvSpPr/>
          <p:nvPr/>
        </p:nvSpPr>
        <p:spPr>
          <a:xfrm>
            <a:off x="2785637" y="1838183"/>
            <a:ext cx="1108926" cy="440648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344B57-12C1-43E8-9BD8-79921E00FB2F}"/>
              </a:ext>
            </a:extLst>
          </p:cNvPr>
          <p:cNvSpPr txBox="1"/>
          <p:nvPr/>
        </p:nvSpPr>
        <p:spPr>
          <a:xfrm>
            <a:off x="8115720" y="1483999"/>
            <a:ext cx="3234905" cy="898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/>
              <a:t>How do you install Chrome on a computer with no operating system?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135D9C-0D2D-4535-BCA1-5718A11BCD8A}"/>
              </a:ext>
            </a:extLst>
          </p:cNvPr>
          <p:cNvSpPr/>
          <p:nvPr/>
        </p:nvSpPr>
        <p:spPr>
          <a:xfrm>
            <a:off x="3863506" y="1824035"/>
            <a:ext cx="3557016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Install an OS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1D3257-C725-4D77-83FB-1F9374CEA8BC}"/>
              </a:ext>
            </a:extLst>
          </p:cNvPr>
          <p:cNvSpPr/>
          <p:nvPr/>
        </p:nvSpPr>
        <p:spPr>
          <a:xfrm>
            <a:off x="3863506" y="2581018"/>
            <a:ext cx="3557016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Start up the default browser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AF11CB-1250-4C4A-B279-FC0145170F58}"/>
              </a:ext>
            </a:extLst>
          </p:cNvPr>
          <p:cNvSpPr/>
          <p:nvPr/>
        </p:nvSpPr>
        <p:spPr>
          <a:xfrm>
            <a:off x="3863506" y="3338001"/>
            <a:ext cx="3558292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Navigate to google.com/chrome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D936A4-AD81-4068-98CA-ED2C06837A62}"/>
              </a:ext>
            </a:extLst>
          </p:cNvPr>
          <p:cNvSpPr/>
          <p:nvPr/>
        </p:nvSpPr>
        <p:spPr>
          <a:xfrm>
            <a:off x="3863506" y="4094984"/>
            <a:ext cx="3558292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Download installer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41091CC-A1DC-47B4-A395-776D4BCA93E9}"/>
              </a:ext>
            </a:extLst>
          </p:cNvPr>
          <p:cNvSpPr/>
          <p:nvPr/>
        </p:nvSpPr>
        <p:spPr>
          <a:xfrm>
            <a:off x="3863506" y="4851967"/>
            <a:ext cx="3558292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Execute Installer.exe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D05505-73D6-46D1-AA91-66E7EC21D47D}"/>
              </a:ext>
            </a:extLst>
          </p:cNvPr>
          <p:cNvSpPr/>
          <p:nvPr/>
        </p:nvSpPr>
        <p:spPr>
          <a:xfrm>
            <a:off x="3863506" y="5608950"/>
            <a:ext cx="3558292" cy="5588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Execute chrome.exe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74552BC1-20E5-4410-891D-54F428412992}"/>
              </a:ext>
            </a:extLst>
          </p:cNvPr>
          <p:cNvSpPr/>
          <p:nvPr/>
        </p:nvSpPr>
        <p:spPr>
          <a:xfrm>
            <a:off x="7487728" y="1838183"/>
            <a:ext cx="276047" cy="544652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F91CA0-65A4-49C8-815D-16FC3680E4D2}"/>
              </a:ext>
            </a:extLst>
          </p:cNvPr>
          <p:cNvSpPr txBox="1"/>
          <p:nvPr/>
        </p:nvSpPr>
        <p:spPr>
          <a:xfrm>
            <a:off x="8021089" y="1951846"/>
            <a:ext cx="1930850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specify a base image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7128B65A-B082-4A0A-BF43-F4CEC3D69B9B}"/>
              </a:ext>
            </a:extLst>
          </p:cNvPr>
          <p:cNvSpPr/>
          <p:nvPr/>
        </p:nvSpPr>
        <p:spPr>
          <a:xfrm>
            <a:off x="7487727" y="2581017"/>
            <a:ext cx="276047" cy="2829750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10E188-CA58-4F10-B483-A2B33B53A1D1}"/>
              </a:ext>
            </a:extLst>
          </p:cNvPr>
          <p:cNvSpPr txBox="1"/>
          <p:nvPr/>
        </p:nvSpPr>
        <p:spPr>
          <a:xfrm>
            <a:off x="8021089" y="3698823"/>
            <a:ext cx="2468632" cy="59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/>
              <a:t>run commands to install additional commands</a:t>
            </a:r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5B878FDA-BF6A-4AA0-8C0A-F59AFDFDA502}"/>
              </a:ext>
            </a:extLst>
          </p:cNvPr>
          <p:cNvSpPr/>
          <p:nvPr/>
        </p:nvSpPr>
        <p:spPr>
          <a:xfrm>
            <a:off x="7487727" y="5608949"/>
            <a:ext cx="276047" cy="544652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F157BA-D4F0-4421-9A78-5FE38975E3CC}"/>
              </a:ext>
            </a:extLst>
          </p:cNvPr>
          <p:cNvSpPr txBox="1"/>
          <p:nvPr/>
        </p:nvSpPr>
        <p:spPr>
          <a:xfrm>
            <a:off x="8021089" y="5750499"/>
            <a:ext cx="2674194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command to run on startup</a:t>
            </a:r>
          </a:p>
        </p:txBody>
      </p:sp>
    </p:spTree>
    <p:extLst>
      <p:ext uri="{BB962C8B-B14F-4D97-AF65-F5344CB8AC3E}">
        <p14:creationId xmlns:p14="http://schemas.microsoft.com/office/powerpoint/2010/main" val="234489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BEDC9-E2B5-4F8E-8FE3-3E8CDEBC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A0456-9CE0-42D0-870A-8C1FCF93A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58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A606BB-CD54-4C4C-9067-13F7BC96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A3F67F-E5BA-44B5-9BC7-D56EEBB5F0F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0F31C76-9CC5-40AE-A4D4-8ACADAC3E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3135" y="1847850"/>
            <a:ext cx="10167318" cy="4460875"/>
          </a:xfrm>
        </p:spPr>
      </p:pic>
    </p:spTree>
    <p:extLst>
      <p:ext uri="{BB962C8B-B14F-4D97-AF65-F5344CB8AC3E}">
        <p14:creationId xmlns:p14="http://schemas.microsoft.com/office/powerpoint/2010/main" val="5155479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88F94-33BE-4728-5983-C42BB5C3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72082-C438-A06E-7FFA-CCC59172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Tagging Docker Images 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B552E4-6364-38B6-CD68-85A2A9B67B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0AAD45-99EB-1975-77FC-C9439372C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21247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Tagging Docker Images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53C17-698B-484D-8C97-815C1146A3A0}"/>
              </a:ext>
            </a:extLst>
          </p:cNvPr>
          <p:cNvSpPr/>
          <p:nvPr/>
        </p:nvSpPr>
        <p:spPr>
          <a:xfrm>
            <a:off x="1165412" y="19854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9399F-3FD0-4FA3-AB97-3CBBD1EF51FF}"/>
              </a:ext>
            </a:extLst>
          </p:cNvPr>
          <p:cNvSpPr/>
          <p:nvPr/>
        </p:nvSpPr>
        <p:spPr>
          <a:xfrm>
            <a:off x="3162887" y="19854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build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DFB50-26E0-4179-B94E-05AA86F37254}"/>
              </a:ext>
            </a:extLst>
          </p:cNvPr>
          <p:cNvSpPr/>
          <p:nvPr/>
        </p:nvSpPr>
        <p:spPr>
          <a:xfrm>
            <a:off x="7157837" y="19854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melod</a:t>
            </a:r>
            <a:r>
              <a:rPr lang="en-US" b="1">
                <a:solidFill>
                  <a:schemeClr val="tx1"/>
                </a:solidFill>
              </a:rPr>
              <a:t>/</a:t>
            </a:r>
            <a:r>
              <a:rPr lang="en-US" b="1" err="1">
                <a:solidFill>
                  <a:schemeClr val="tx1"/>
                </a:solidFill>
              </a:rPr>
              <a:t>redis:latest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DECB8D-E54B-4591-B35A-58E23DEF1D4D}"/>
              </a:ext>
            </a:extLst>
          </p:cNvPr>
          <p:cNvSpPr/>
          <p:nvPr/>
        </p:nvSpPr>
        <p:spPr>
          <a:xfrm>
            <a:off x="9155312" y="19854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3430DC-296A-4E6C-A76C-4C6B93BFA663}"/>
              </a:ext>
            </a:extLst>
          </p:cNvPr>
          <p:cNvSpPr txBox="1"/>
          <p:nvPr/>
        </p:nvSpPr>
        <p:spPr>
          <a:xfrm>
            <a:off x="9330103" y="2879282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Build Directory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B57C5E-FA2C-4039-8E2B-43B2269C1949}"/>
              </a:ext>
            </a:extLst>
          </p:cNvPr>
          <p:cNvSpPr/>
          <p:nvPr/>
        </p:nvSpPr>
        <p:spPr>
          <a:xfrm>
            <a:off x="5160362" y="1985436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-t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B53E48-F7E5-4917-962A-6BF4C702E944}"/>
              </a:ext>
            </a:extLst>
          </p:cNvPr>
          <p:cNvSpPr txBox="1"/>
          <p:nvPr/>
        </p:nvSpPr>
        <p:spPr>
          <a:xfrm>
            <a:off x="5308324" y="2879282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Tag the image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620813-3EC6-4CEB-9474-700EC65D3CEE}"/>
              </a:ext>
            </a:extLst>
          </p:cNvPr>
          <p:cNvSpPr txBox="1"/>
          <p:nvPr/>
        </p:nvSpPr>
        <p:spPr>
          <a:xfrm>
            <a:off x="7332628" y="1760310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The tag itself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737EF4-AD7C-418C-A33D-D367CA061C98}"/>
              </a:ext>
            </a:extLst>
          </p:cNvPr>
          <p:cNvSpPr/>
          <p:nvPr/>
        </p:nvSpPr>
        <p:spPr>
          <a:xfrm>
            <a:off x="1165412" y="423655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melod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D2B689-6E5A-465D-A0D1-DDB644BB36DC}"/>
              </a:ext>
            </a:extLst>
          </p:cNvPr>
          <p:cNvSpPr/>
          <p:nvPr/>
        </p:nvSpPr>
        <p:spPr>
          <a:xfrm>
            <a:off x="3162887" y="423655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96C167-264F-44D8-839F-6EB08DD8920A}"/>
              </a:ext>
            </a:extLst>
          </p:cNvPr>
          <p:cNvSpPr/>
          <p:nvPr/>
        </p:nvSpPr>
        <p:spPr>
          <a:xfrm>
            <a:off x="7157837" y="423655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7EED17-2190-450B-AECE-45C66F97F0C8}"/>
              </a:ext>
            </a:extLst>
          </p:cNvPr>
          <p:cNvSpPr/>
          <p:nvPr/>
        </p:nvSpPr>
        <p:spPr>
          <a:xfrm>
            <a:off x="9155312" y="423655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latest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E176CE-7E79-4D1A-939F-0AD82331C91D}"/>
              </a:ext>
            </a:extLst>
          </p:cNvPr>
          <p:cNvSpPr txBox="1"/>
          <p:nvPr/>
        </p:nvSpPr>
        <p:spPr>
          <a:xfrm>
            <a:off x="9330103" y="5130403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version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44299D-E02B-42F2-91F9-DB052499BD2A}"/>
              </a:ext>
            </a:extLst>
          </p:cNvPr>
          <p:cNvSpPr/>
          <p:nvPr/>
        </p:nvSpPr>
        <p:spPr>
          <a:xfrm>
            <a:off x="5160362" y="4236557"/>
            <a:ext cx="1997475" cy="86113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err="1">
                <a:solidFill>
                  <a:schemeClr val="tx1"/>
                </a:solidFill>
              </a:rPr>
              <a:t>redis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142EE0-D383-45D3-AA34-EE00A8646BBF}"/>
              </a:ext>
            </a:extLst>
          </p:cNvPr>
          <p:cNvSpPr txBox="1"/>
          <p:nvPr/>
        </p:nvSpPr>
        <p:spPr>
          <a:xfrm>
            <a:off x="5308324" y="5130403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repo / project name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81727F-D900-4983-B336-5272AE56C271}"/>
              </a:ext>
            </a:extLst>
          </p:cNvPr>
          <p:cNvSpPr txBox="1"/>
          <p:nvPr/>
        </p:nvSpPr>
        <p:spPr>
          <a:xfrm>
            <a:off x="1340203" y="4011431"/>
            <a:ext cx="1647892" cy="225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/>
              <a:t>my docker id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9DB5B2-A50F-44C0-90FB-FE61CE5DD916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 flipH="1">
            <a:off x="6159100" y="2846570"/>
            <a:ext cx="1997475" cy="1389987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717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Docker Image Generation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000E5B-3F95-46AA-905E-977D5732DA9E}"/>
              </a:ext>
            </a:extLst>
          </p:cNvPr>
          <p:cNvSpPr/>
          <p:nvPr/>
        </p:nvSpPr>
        <p:spPr>
          <a:xfrm>
            <a:off x="394204" y="3242611"/>
            <a:ext cx="11462749" cy="1152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-it alpine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sh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/ #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apk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add --update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redis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(…)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/ #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A518E7-660B-4DEC-8D2E-A4DCD3FA8CBF}"/>
              </a:ext>
            </a:extLst>
          </p:cNvPr>
          <p:cNvSpPr/>
          <p:nvPr/>
        </p:nvSpPr>
        <p:spPr>
          <a:xfrm>
            <a:off x="394204" y="5028241"/>
            <a:ext cx="11462749" cy="1152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ps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CONTAINER ID      IMAGE             COMMAND        CREATED           STATUS         PORTS        NAMES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1f90b78d47e8      alpine            "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sh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"           33 seconds ago    Up 33 seconds              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clever_galileo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commit -c “CMD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redis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-server” 1f90b78d47e8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9F825-4734-4C9D-8A58-AB49D84AF01C}"/>
              </a:ext>
            </a:extLst>
          </p:cNvPr>
          <p:cNvSpPr txBox="1"/>
          <p:nvPr/>
        </p:nvSpPr>
        <p:spPr>
          <a:xfrm>
            <a:off x="394204" y="2939851"/>
            <a:ext cx="962508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terminal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46E192-4575-42B1-B7AE-41374A7F340E}"/>
              </a:ext>
            </a:extLst>
          </p:cNvPr>
          <p:cNvSpPr txBox="1"/>
          <p:nvPr/>
        </p:nvSpPr>
        <p:spPr>
          <a:xfrm>
            <a:off x="394204" y="4737273"/>
            <a:ext cx="962508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terminal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F1EFC6-4855-4D93-951A-7053F8B81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454" y="1270000"/>
            <a:ext cx="4210753" cy="195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345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Real Project with Docker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18504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D1E83-28FE-4C56-8D1C-A2A249047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069" y="2061924"/>
            <a:ext cx="7135221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223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ED6F54-CA59-42AD-B8C1-8A89EC8DB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678" y="1903778"/>
            <a:ext cx="4153480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513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4AF79-8B06-409D-BE77-025B31BAC3BF}"/>
              </a:ext>
            </a:extLst>
          </p:cNvPr>
          <p:cNvSpPr txBox="1"/>
          <p:nvPr/>
        </p:nvSpPr>
        <p:spPr>
          <a:xfrm>
            <a:off x="655320" y="1920240"/>
            <a:ext cx="65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BF041-ED9B-4B93-894D-6C1E6779AF14}"/>
              </a:ext>
            </a:extLst>
          </p:cNvPr>
          <p:cNvSpPr txBox="1"/>
          <p:nvPr/>
        </p:nvSpPr>
        <p:spPr>
          <a:xfrm>
            <a:off x="3340762" y="2087633"/>
            <a:ext cx="709874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index.js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77601-23CC-4561-9164-BE00D84F0FB3}"/>
              </a:ext>
            </a:extLst>
          </p:cNvPr>
          <p:cNvSpPr txBox="1"/>
          <p:nvPr/>
        </p:nvSpPr>
        <p:spPr>
          <a:xfrm>
            <a:off x="8141366" y="2087633"/>
            <a:ext cx="1209177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 err="1"/>
              <a:t>package.json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41AC1E-9278-C2C6-720A-EC049D25C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642157"/>
              </p:ext>
            </p:extLst>
          </p:nvPr>
        </p:nvGraphicFramePr>
        <p:xfrm>
          <a:off x="1467548" y="2626134"/>
          <a:ext cx="4456302" cy="2795976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4456302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279597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express = require(</a:t>
                      </a:r>
                      <a:r>
                        <a:rPr lang="en-US" sz="1400" dirty="0">
                          <a:solidFill>
                            <a:srgbClr val="F3B545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400" dirty="0" err="1">
                          <a:solidFill>
                            <a:srgbClr val="F3B545"/>
                          </a:solidFill>
                          <a:latin typeface="Consolas" panose="020B0609020204030204" pitchFamily="49" charset="0"/>
                        </a:rPr>
                        <a:t>express'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app = express();</a:t>
                      </a:r>
                    </a:p>
                    <a:p>
                      <a:endParaRPr 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app.get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F3B545"/>
                          </a:solidFill>
                          <a:latin typeface="Consolas" panose="020B0609020204030204" pitchFamily="49" charset="0"/>
                        </a:rPr>
                        <a:t>'/'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, (req, res) =&gt; 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res.send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F3B545"/>
                          </a:solidFill>
                          <a:latin typeface="Consolas" panose="020B0609020204030204" pitchFamily="49" charset="0"/>
                        </a:rPr>
                        <a:t>'Hi there'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});</a:t>
                      </a:r>
                    </a:p>
                    <a:p>
                      <a:b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app.listen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8080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, () =&gt; 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  console.log(</a:t>
                      </a:r>
                      <a:r>
                        <a:rPr lang="en-US" sz="1400" dirty="0">
                          <a:solidFill>
                            <a:srgbClr val="F3B545"/>
                          </a:solidFill>
                          <a:latin typeface="Consolas" panose="020B0609020204030204" pitchFamily="49" charset="0"/>
                        </a:rPr>
                        <a:t>'Listening on port 8080'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});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DCF304-BB7F-5408-29EC-E978DDCB6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78355"/>
              </p:ext>
            </p:extLst>
          </p:nvPr>
        </p:nvGraphicFramePr>
        <p:xfrm>
          <a:off x="7212425" y="2624571"/>
          <a:ext cx="3067356" cy="2128746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3067356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212874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"dependencies": 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  "express": </a:t>
                      </a:r>
                      <a:r>
                        <a:rPr lang="en-US" sz="1400" dirty="0">
                          <a:solidFill>
                            <a:srgbClr val="F3B545"/>
                          </a:solidFill>
                          <a:latin typeface="Consolas" panose="020B0609020204030204" pitchFamily="49" charset="0"/>
                        </a:rPr>
                        <a:t>"*"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},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"scripts": 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  "start": </a:t>
                      </a:r>
                      <a:r>
                        <a:rPr lang="en-US" sz="1400" dirty="0">
                          <a:solidFill>
                            <a:srgbClr val="F3B545"/>
                          </a:solidFill>
                          <a:latin typeface="Consolas" panose="020B0609020204030204" pitchFamily="49" charset="0"/>
                        </a:rPr>
                        <a:t>"node index.js"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 }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2651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E8445E-6FFA-460D-A293-9F8BD600A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93" y="2056237"/>
            <a:ext cx="8869013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033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56F61D-44BA-4E58-B83D-A582BFD9D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994" y="2156247"/>
            <a:ext cx="8688012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463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68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46571-7FBE-4840-80D0-00BDA1855607}"/>
              </a:ext>
            </a:extLst>
          </p:cNvPr>
          <p:cNvSpPr txBox="1"/>
          <p:nvPr/>
        </p:nvSpPr>
        <p:spPr>
          <a:xfrm>
            <a:off x="1517744" y="1805762"/>
            <a:ext cx="1202893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Bad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D0DC01-55C4-40E5-ADAC-C64F026DB55D}"/>
              </a:ext>
            </a:extLst>
          </p:cNvPr>
          <p:cNvSpPr txBox="1"/>
          <p:nvPr/>
        </p:nvSpPr>
        <p:spPr>
          <a:xfrm>
            <a:off x="1086061" y="2973730"/>
            <a:ext cx="2431178" cy="5941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node, </a:t>
            </a:r>
            <a:r>
              <a:rPr lang="en-US" dirty="0" err="1"/>
              <a:t>npm</a:t>
            </a:r>
            <a:r>
              <a:rPr lang="en-US" dirty="0"/>
              <a:t> is not installed</a:t>
            </a:r>
          </a:p>
          <a:p>
            <a:pPr algn="l"/>
            <a:r>
              <a:rPr lang="en-US" dirty="0"/>
              <a:t>files are not in the image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90DFDF-9ACB-47FE-BB0F-3869F22A4D7C}"/>
              </a:ext>
            </a:extLst>
          </p:cNvPr>
          <p:cNvSpPr txBox="1"/>
          <p:nvPr/>
        </p:nvSpPr>
        <p:spPr>
          <a:xfrm>
            <a:off x="5273877" y="4686101"/>
            <a:ext cx="3180038" cy="18129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search for alpine based node </a:t>
            </a:r>
            <a:br>
              <a:rPr lang="en-US" dirty="0"/>
            </a:br>
            <a:r>
              <a:rPr lang="en-US" dirty="0"/>
              <a:t>image on docker hub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resulting image is bigger, </a:t>
            </a:r>
            <a:br>
              <a:rPr lang="en-US" dirty="0"/>
            </a:br>
            <a:r>
              <a:rPr lang="en-US" dirty="0"/>
              <a:t>but node image takes away </a:t>
            </a:r>
          </a:p>
          <a:p>
            <a:pPr algn="l"/>
            <a:r>
              <a:rPr lang="en-US" dirty="0"/>
              <a:t>node runtime installation concern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80CC77-F493-4799-8617-FDDA37DCE831}"/>
              </a:ext>
            </a:extLst>
          </p:cNvPr>
          <p:cNvSpPr txBox="1"/>
          <p:nvPr/>
        </p:nvSpPr>
        <p:spPr>
          <a:xfrm>
            <a:off x="1264397" y="6062363"/>
            <a:ext cx="2921441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install </a:t>
            </a:r>
            <a:r>
              <a:rPr lang="en-US" dirty="0" err="1"/>
              <a:t>nodejs</a:t>
            </a:r>
            <a:r>
              <a:rPr lang="en-US" dirty="0"/>
              <a:t> and </a:t>
            </a:r>
            <a:r>
              <a:rPr lang="en-US" dirty="0" err="1"/>
              <a:t>npm</a:t>
            </a:r>
            <a:r>
              <a:rPr lang="en-US" dirty="0"/>
              <a:t> yourself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9E00E3-47D7-493A-9B4B-6AD592318EE9}"/>
              </a:ext>
            </a:extLst>
          </p:cNvPr>
          <p:cNvSpPr txBox="1"/>
          <p:nvPr/>
        </p:nvSpPr>
        <p:spPr>
          <a:xfrm>
            <a:off x="5566151" y="2690194"/>
            <a:ext cx="2027222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Almost good example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A8A46-0ABA-4889-9707-EDD4D4FB896A}"/>
              </a:ext>
            </a:extLst>
          </p:cNvPr>
          <p:cNvSpPr txBox="1"/>
          <p:nvPr/>
        </p:nvSpPr>
        <p:spPr>
          <a:xfrm>
            <a:off x="1747197" y="3828732"/>
            <a:ext cx="2080121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Almost good example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8164B8-9E28-46F6-BEFE-324318984B3D}"/>
              </a:ext>
            </a:extLst>
          </p:cNvPr>
          <p:cNvSpPr txBox="1"/>
          <p:nvPr/>
        </p:nvSpPr>
        <p:spPr>
          <a:xfrm>
            <a:off x="9214791" y="1545940"/>
            <a:ext cx="2082686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good enough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4713D-C002-4B0D-92FE-9DD3FC602C29}"/>
              </a:ext>
            </a:extLst>
          </p:cNvPr>
          <p:cNvSpPr txBox="1"/>
          <p:nvPr/>
        </p:nvSpPr>
        <p:spPr>
          <a:xfrm>
            <a:off x="8802678" y="3606517"/>
            <a:ext cx="3057953" cy="898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dirty="0"/>
              <a:t>Optimization: changing inde.js doesn’t cause </a:t>
            </a:r>
            <a:r>
              <a:rPr lang="en-US" dirty="0" err="1"/>
              <a:t>npm</a:t>
            </a:r>
            <a:r>
              <a:rPr lang="en-US" dirty="0"/>
              <a:t> install to execute again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189FC1-5A6C-C8DA-CF99-A0C080611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534431"/>
              </p:ext>
            </p:extLst>
          </p:nvPr>
        </p:nvGraphicFramePr>
        <p:xfrm>
          <a:off x="1393428" y="2133220"/>
          <a:ext cx="2027222" cy="783781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2027222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78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FROM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alpine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RUN </a:t>
                      </a:r>
                      <a:r>
                        <a:rPr lang="en-US" sz="1400" dirty="0" err="1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install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CMD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[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"start"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]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9DB51A-69C5-B150-0452-08D985698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31853"/>
              </p:ext>
            </p:extLst>
          </p:nvPr>
        </p:nvGraphicFramePr>
        <p:xfrm>
          <a:off x="1264397" y="4228984"/>
          <a:ext cx="3162742" cy="1722565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3162742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78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FROM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alpine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RUN </a:t>
                      </a:r>
                      <a:r>
                        <a:rPr lang="en-US" sz="1400" dirty="0" err="1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apk</a:t>
                      </a:r>
                      <a:r>
                        <a:rPr lang="en-US" sz="1400" dirty="0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add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--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update 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nodejs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npm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WORKDIR 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index.js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b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package.json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b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RUN </a:t>
                      </a:r>
                      <a:r>
                        <a:rPr lang="en-US" sz="1400" dirty="0" err="1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install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CMD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[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"start"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]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2FDAC34-09F4-48B7-2DBC-B23C928AA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462288"/>
              </p:ext>
            </p:extLst>
          </p:nvPr>
        </p:nvGraphicFramePr>
        <p:xfrm>
          <a:off x="5159257" y="3017484"/>
          <a:ext cx="3162742" cy="1487869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3162742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78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FROM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node:lts-alpine3.20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WORKDIR 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index.js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b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package.json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b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RUN </a:t>
                      </a:r>
                      <a:r>
                        <a:rPr lang="en-US" sz="1400" dirty="0" err="1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install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CMD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[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"start"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]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4C6B9F9-BAB7-2DDE-8319-5252C8285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510379"/>
              </p:ext>
            </p:extLst>
          </p:nvPr>
        </p:nvGraphicFramePr>
        <p:xfrm>
          <a:off x="8674763" y="1912137"/>
          <a:ext cx="3162742" cy="1487869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3162742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78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FROM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node:lts-alpine3.20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WORKDIR 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package.json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RUN </a:t>
                      </a:r>
                      <a:r>
                        <a:rPr lang="en-US" sz="1400" dirty="0" err="1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install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index.js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usr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b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CMD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[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"start"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]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22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6" grpId="0"/>
      <p:bldP spid="2" grpId="0"/>
      <p:bldP spid="17" grpId="0"/>
      <p:bldP spid="19" grpId="0"/>
      <p:bldP spid="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8498C-2087-4337-BD1C-E53939F9F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Multi-Stage </a:t>
            </a:r>
            <a:r>
              <a:rPr lang="de-DE" dirty="0" err="1"/>
              <a:t>Builds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E79A9-9530-423E-BF59-56608FC4F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7B47FA-362A-4E09-A86C-A1297ADF0B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95333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9348-FCC6-C310-7E5C-3BA3BD8E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EF6A4-E8C6-F83F-5A07-1C94F449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35054-DB19-5147-D5E0-E5157001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978EC1-EEDA-FE6C-F83B-E183D20B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Multi-Stage </a:t>
            </a:r>
            <a:r>
              <a:rPr lang="de-DE" dirty="0" err="1"/>
              <a:t>Builds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D117CF-E640-A726-F897-6FFEA2C5175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552D41-8FAA-E3A6-FE23-B78443382A0E}"/>
              </a:ext>
            </a:extLst>
          </p:cNvPr>
          <p:cNvGraphicFramePr>
            <a:graphicFrameLocks noGrp="1"/>
          </p:cNvGraphicFramePr>
          <p:nvPr/>
        </p:nvGraphicFramePr>
        <p:xfrm>
          <a:off x="1873825" y="2722386"/>
          <a:ext cx="7655186" cy="2795976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7655186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279597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# Stage 1: Build Environment</a:t>
                      </a:r>
                    </a:p>
                    <a:p>
                      <a:r>
                        <a:rPr lang="en-US" sz="1400" dirty="0">
                          <a:solidFill>
                            <a:srgbClr val="F15931"/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builder-image</a:t>
                      </a: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F15931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build-stage</a:t>
                      </a:r>
                    </a:p>
                    <a:p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# Install build tools (e.g., Maven, Gradle)</a:t>
                      </a:r>
                    </a:p>
                    <a:p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# Copy source code</a:t>
                      </a:r>
                    </a:p>
                    <a:p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# Build commands (e.g., compile, package)</a:t>
                      </a:r>
                    </a:p>
                    <a:p>
                      <a:endParaRPr lang="en-US" sz="1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# Stage 2: Runtime environment</a:t>
                      </a:r>
                    </a:p>
                    <a:p>
                      <a:r>
                        <a:rPr lang="en-US" sz="1400" dirty="0">
                          <a:solidFill>
                            <a:srgbClr val="F15931"/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runtime-image</a:t>
                      </a: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F15931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final-stage</a:t>
                      </a:r>
                    </a:p>
                    <a:p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#  Copy application artifacts from the build stage (e.g., JAR file)</a:t>
                      </a:r>
                    </a:p>
                    <a:p>
                      <a:r>
                        <a:rPr lang="en-US" sz="1400" dirty="0">
                          <a:solidFill>
                            <a:srgbClr val="F15931"/>
                          </a:solidFill>
                          <a:latin typeface="Consolas" panose="020B0609020204030204" pitchFamily="49" charset="0"/>
                        </a:rPr>
                        <a:t>COPY</a:t>
                      </a: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--from=build-stage /path/in/build/stage /path/to/place/in/final/stage</a:t>
                      </a:r>
                    </a:p>
                    <a:p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# Define runtime configuration (e.g., CMD, ENTRYPOINT)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ED61E8-D22D-E8CE-CE9E-9E4490F025C7}"/>
              </a:ext>
            </a:extLst>
          </p:cNvPr>
          <p:cNvSpPr txBox="1"/>
          <p:nvPr/>
        </p:nvSpPr>
        <p:spPr>
          <a:xfrm>
            <a:off x="5231468" y="2280819"/>
            <a:ext cx="864532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20469466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0FD98-C4FE-109C-EE0E-AD95618BA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1F588-48DC-C4A4-A22C-5DDFD8CD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7AEA0-74A2-8B64-47A4-4D6D5399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853628-9BAD-21A6-A578-9CB2D13C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Multi-Stage </a:t>
            </a:r>
            <a:r>
              <a:rPr lang="de-DE" dirty="0" err="1"/>
              <a:t>Builds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4AD7E-E6D1-1516-E642-B0AE7F1DB07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8E692C-5CC1-B47C-CA2A-B7BC023C4148}"/>
              </a:ext>
            </a:extLst>
          </p:cNvPr>
          <p:cNvGraphicFramePr>
            <a:graphicFrameLocks noGrp="1"/>
          </p:cNvGraphicFramePr>
          <p:nvPr/>
        </p:nvGraphicFramePr>
        <p:xfrm>
          <a:off x="1459894" y="2031012"/>
          <a:ext cx="3843581" cy="2795976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3843581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279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# Stage 1 - Build</a:t>
                      </a:r>
                      <a:b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FROM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node:lts-alpine3.20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AS </a:t>
                      </a:r>
                      <a: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build-stage</a:t>
                      </a:r>
                      <a:b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WORKDIR 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# Copy </a:t>
                      </a:r>
                      <a:r>
                        <a:rPr lang="en-US" sz="1400" dirty="0" err="1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package.json</a:t>
                      </a: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 and install dependencies</a:t>
                      </a:r>
                      <a:b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package.json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.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RUN </a:t>
                      </a:r>
                      <a:r>
                        <a:rPr lang="en-US" sz="1400" dirty="0" err="1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C57633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install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# Copy the rest of the source code</a:t>
                      </a:r>
                      <a:b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source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index.js .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34414C-FEF5-061D-917B-6797668F9FD6}"/>
              </a:ext>
            </a:extLst>
          </p:cNvPr>
          <p:cNvSpPr txBox="1"/>
          <p:nvPr/>
        </p:nvSpPr>
        <p:spPr>
          <a:xfrm>
            <a:off x="5303475" y="1630690"/>
            <a:ext cx="792525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Example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78A482-B4DC-F228-BB32-AA5868586AEA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031012"/>
          <a:ext cx="3843581" cy="4304221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3843581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279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# Stage 2 - Runtime</a:t>
                      </a:r>
                      <a:b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FROM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node:lts-alpine3.20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AS </a:t>
                      </a:r>
                      <a: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final-stage</a:t>
                      </a:r>
                      <a:b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WORKDIR 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# Copy only the necessary files from the build stage</a:t>
                      </a:r>
                      <a:b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--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from=</a:t>
                      </a:r>
                      <a: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build-stage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node_modules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.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node_modules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--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from=</a:t>
                      </a:r>
                      <a: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build-stage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index.js .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COPY --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from=</a:t>
                      </a:r>
                      <a:r>
                        <a:rPr lang="en-US" sz="1400" i="1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build-stage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package.json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.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# Expose the application port</a:t>
                      </a:r>
                      <a:b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EXPOSE </a:t>
                      </a:r>
                      <a:r>
                        <a:rPr lang="en-US" sz="14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  <a:t>8080</a:t>
                      </a:r>
                      <a:br>
                        <a:rPr lang="en-US" sz="14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4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# Start the application</a:t>
                      </a:r>
                      <a:br>
                        <a:rPr lang="en-US" sz="14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CMD 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[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npm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"start"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]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endParaRPr lang="en-US" sz="1400" dirty="0">
                        <a:solidFill>
                          <a:srgbClr val="BCBEC4"/>
                        </a:solidFill>
                        <a:effectLst/>
                        <a:latin typeface="JetBrains Mono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548E8F-CA6E-34B4-E1D0-32DA2229348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303475" y="3429000"/>
            <a:ext cx="792525" cy="0"/>
          </a:xfrm>
          <a:prstGeom prst="straightConnector1">
            <a:avLst/>
          </a:prstGeom>
          <a:ln w="57150"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5198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6900-7F88-7503-0E4E-C978B51D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BDC69-15BC-DC2E-F3B9-17636CB3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2D9C7-CF66-4A4F-51D9-2B9F0D93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D3C775-00F3-429E-5564-220872C8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Multi-Stage </a:t>
            </a:r>
            <a:r>
              <a:rPr lang="de-DE" dirty="0" err="1"/>
              <a:t>Builds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C08A93-F84D-FE1D-BE37-3E7766242B5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C4CE5F0-813A-7367-0F98-6C7689DE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 dirty="0"/>
              <a:t>Build a Specific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Multi-stage </a:t>
            </a:r>
            <a:r>
              <a:rPr lang="en-US" dirty="0" err="1"/>
              <a:t>Dockerfiles</a:t>
            </a:r>
            <a:r>
              <a:rPr lang="en-US" dirty="0"/>
              <a:t> can contain several build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do not have to build all stages every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--target option to stop the build at a specific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for:</a:t>
            </a:r>
          </a:p>
          <a:p>
            <a:pPr marL="429750" lvl="1" indent="-285750"/>
            <a:r>
              <a:rPr lang="en-US" dirty="0"/>
              <a:t>Testing intermediate stages</a:t>
            </a:r>
          </a:p>
          <a:p>
            <a:pPr marL="429750" lvl="1" indent="-285750"/>
            <a:r>
              <a:rPr lang="en-US" dirty="0"/>
              <a:t>Debugging build issues</a:t>
            </a:r>
          </a:p>
          <a:p>
            <a:pPr marL="429750" lvl="1" indent="-285750"/>
            <a:r>
              <a:rPr lang="en-US" dirty="0"/>
              <a:t>Speeding up development workflows</a:t>
            </a:r>
          </a:p>
          <a:p>
            <a:pPr marL="429750" lvl="1" indent="-285750"/>
            <a:endParaRPr lang="en-US" dirty="0"/>
          </a:p>
          <a:p>
            <a:pPr lvl="1" indent="0">
              <a:buNone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3B0A22-62F4-81F6-9C64-CBC8DF755AFF}"/>
              </a:ext>
            </a:extLst>
          </p:cNvPr>
          <p:cNvSpPr/>
          <p:nvPr/>
        </p:nvSpPr>
        <p:spPr>
          <a:xfrm>
            <a:off x="1260088" y="4581659"/>
            <a:ext cx="9699722" cy="5871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build --target build-stage -t hello .</a:t>
            </a:r>
          </a:p>
        </p:txBody>
      </p:sp>
    </p:spTree>
    <p:extLst>
      <p:ext uri="{BB962C8B-B14F-4D97-AF65-F5344CB8AC3E}">
        <p14:creationId xmlns:p14="http://schemas.microsoft.com/office/powerpoint/2010/main" val="6602623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4F31-5EF8-37F4-732C-2E3A3820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84A5F-8A96-6A8A-B094-5D573CC0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56F77-FF6F-B732-649A-31C2D40D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9888FA-ECB7-484E-AA0D-89FC4932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Multi-Stage </a:t>
            </a:r>
            <a:r>
              <a:rPr lang="de-DE" dirty="0" err="1"/>
              <a:t>Builds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640DB-D855-7488-7874-9B2A9FAA26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5CCE7FA3-D503-6BB8-ABE4-E4822F3B4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multiple </a:t>
            </a:r>
            <a:r>
              <a:rPr lang="en-US" b="1" dirty="0"/>
              <a:t>FROM</a:t>
            </a:r>
            <a:r>
              <a:rPr lang="en-US" dirty="0"/>
              <a:t> instructions in a single </a:t>
            </a:r>
            <a:r>
              <a:rPr lang="en-US" dirty="0" err="1"/>
              <a:t>Dockerfile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FROM starts a new build stage and can use a different base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dependencies and tools remain in intermediate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COPY --from=&lt;stage&gt; </a:t>
            </a:r>
            <a:r>
              <a:rPr lang="en-US" dirty="0"/>
              <a:t>to transfer only the required artifacts to the next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final image contains only what is needed, resulting in:</a:t>
            </a:r>
          </a:p>
          <a:p>
            <a:pPr marL="429750" lvl="1" indent="-285750"/>
            <a:r>
              <a:rPr lang="en-US" dirty="0"/>
              <a:t>Smaller image size</a:t>
            </a:r>
          </a:p>
          <a:p>
            <a:pPr marL="429750" lvl="1" indent="-285750"/>
            <a:r>
              <a:rPr lang="en-US" dirty="0"/>
              <a:t>Improved security</a:t>
            </a:r>
          </a:p>
          <a:p>
            <a:pPr marL="429750" lvl="1" indent="-285750"/>
            <a:r>
              <a:rPr lang="en-US" dirty="0"/>
              <a:t>Faster deployment and startup times</a:t>
            </a:r>
          </a:p>
          <a:p>
            <a:pPr marL="429750" lvl="1" indent="-285750"/>
            <a:endParaRPr lang="en-US" dirty="0"/>
          </a:p>
          <a:p>
            <a:pPr lvl="1" indent="0">
              <a:buNone/>
            </a:pPr>
            <a:r>
              <a:rPr lang="en-US" b="1" dirty="0"/>
              <a:t>Key Benefit</a:t>
            </a:r>
            <a:r>
              <a:rPr lang="en-US" dirty="0"/>
              <a:t>: Separate the build environment from the runtime environment, keeping production images clean and lightweight.</a:t>
            </a:r>
          </a:p>
          <a:p>
            <a:pPr marL="429750" lvl="1" indent="-285750"/>
            <a:endParaRPr lang="en-US" dirty="0"/>
          </a:p>
          <a:p>
            <a:pPr lvl="1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2533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35925F-DA4E-46FC-ABB7-DA427E5A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520" y="1826649"/>
            <a:ext cx="4629796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147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89E5BF-0F37-4873-A559-32B61521A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62" y="1690445"/>
            <a:ext cx="896427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321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34A37-80B3-4A83-A2F4-5CEA2E0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75FA-076D-485F-8046-562B9FEF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7E22A2-224F-4738-9B27-821B3060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Project with Docker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0F921-E1F7-4A15-B9A5-480AD7DC47C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CCB59C-C21C-4B6D-BA5C-67FDE3322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41" y="1878098"/>
            <a:ext cx="890711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31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7C98-3422-55D8-74B6-C3806A86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7A5E0-56BD-DD6F-B4DC-23C28C33C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Docker - </a:t>
            </a:r>
            <a:r>
              <a:rPr lang="de-DE" dirty="0" err="1"/>
              <a:t>Volumes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5C7825-CF3D-E22A-A0AC-BAB4580B39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E081C2-5251-23CA-E387-784D049A51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17726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73C30-03BD-E43A-5EC7-70E3B8F2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CD88F-99B7-A405-6418-03D3EAA2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7D9EA-25DB-5D8C-1E55-815AB97E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78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69275E-993C-2AA1-F88C-5637E599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- Volumes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32A4F2-3DC3-E8B7-3C5C-614D1117D61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1A5887-8708-F5C0-A0DB-F4D97E5AC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Volumes provide persistent storage for containers.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Managed by Docker and stored on the Docker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volumes manually: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then use in docker container: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 let Docker create them automatically when a container starts.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Volumes can be mounted into one or more containers.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remains available even if the container is removed.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Use Volumes?</a:t>
            </a:r>
          </a:p>
          <a:p>
            <a:pPr marL="429750" lvl="1" indent="-285750"/>
            <a:r>
              <a:rPr lang="en-US" dirty="0"/>
              <a:t>persistence</a:t>
            </a:r>
          </a:p>
          <a:p>
            <a:pPr marL="429750" lvl="1" indent="-285750"/>
            <a:r>
              <a:rPr lang="en-US" dirty="0"/>
              <a:t>Share data between containers</a:t>
            </a:r>
          </a:p>
          <a:p>
            <a:pPr marL="429750" lvl="1" indent="-285750"/>
            <a:r>
              <a:rPr lang="en-US" dirty="0"/>
              <a:t>Separate data from application code</a:t>
            </a:r>
          </a:p>
          <a:p>
            <a:pPr marL="285750" indent="-285750"/>
            <a:r>
              <a:rPr lang="en-US" b="1" dirty="0"/>
              <a:t>Key Benefit</a:t>
            </a:r>
            <a:r>
              <a:rPr lang="en-US" dirty="0"/>
              <a:t>: Containers are temporary, but data stored in volumes remains persistent and reusable.</a:t>
            </a:r>
          </a:p>
          <a:p>
            <a:pPr marL="4297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DE416-A4CC-86A6-77AE-10AF28278025}"/>
              </a:ext>
            </a:extLst>
          </p:cNvPr>
          <p:cNvSpPr/>
          <p:nvPr/>
        </p:nvSpPr>
        <p:spPr>
          <a:xfrm>
            <a:off x="1167917" y="2708081"/>
            <a:ext cx="9699722" cy="38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volume create my-volume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085DB-14EB-2DA6-DE75-0ACFF4C6172F}"/>
              </a:ext>
            </a:extLst>
          </p:cNvPr>
          <p:cNvSpPr/>
          <p:nvPr/>
        </p:nvSpPr>
        <p:spPr>
          <a:xfrm>
            <a:off x="1167917" y="3347902"/>
            <a:ext cx="9699722" cy="5871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-it --volume my-volume alpine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sh</a:t>
            </a:r>
            <a:b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/ # touch /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mnt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/test.txt</a:t>
            </a:r>
          </a:p>
        </p:txBody>
      </p:sp>
    </p:spTree>
    <p:extLst>
      <p:ext uri="{BB962C8B-B14F-4D97-AF65-F5344CB8AC3E}">
        <p14:creationId xmlns:p14="http://schemas.microsoft.com/office/powerpoint/2010/main" val="4467470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E027-4D0D-C64E-9AB3-28EEABA4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E0C6F-FE97-C4EE-D50E-EB9300D1C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Docker - Networking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20A603-8264-8CE4-1EC0-5DF377AA59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8CFD48-F8F0-76DB-0AB1-8E758650C0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44870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D0C0-AB9B-E96F-757C-7AEE7F31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7F672-A361-A03D-1A71-C1EF2CD8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13D85-B7CD-DEC8-361A-BB6BE52C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1290B6-CCFF-FB48-0609-4834A978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- Volumes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993983-A17B-1F11-0A59-91A3A9B2BB9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85A0F-1A36-0450-0C90-D4B2C7BB5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 networking enables </a:t>
            </a:r>
            <a:r>
              <a:rPr lang="en-US" b="1" dirty="0"/>
              <a:t>containers to</a:t>
            </a:r>
            <a:r>
              <a:rPr lang="en-US" dirty="0"/>
              <a:t> </a:t>
            </a:r>
            <a:r>
              <a:rPr lang="en-US" b="1" dirty="0"/>
              <a:t>communicate with each other</a:t>
            </a:r>
            <a:r>
              <a:rPr lang="en-US" dirty="0"/>
              <a:t>, the host machine, and external services through Docker-managed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A393D9-18CE-C13F-2B41-2A7EC17D16C3}"/>
              </a:ext>
            </a:extLst>
          </p:cNvPr>
          <p:cNvSpPr/>
          <p:nvPr/>
        </p:nvSpPr>
        <p:spPr>
          <a:xfrm>
            <a:off x="1167917" y="2708081"/>
            <a:ext cx="9699722" cy="38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network create my-awesome-network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9ECDBD-3089-A8DE-98FB-DCB86C732AAF}"/>
              </a:ext>
            </a:extLst>
          </p:cNvPr>
          <p:cNvSpPr/>
          <p:nvPr/>
        </p:nvSpPr>
        <p:spPr>
          <a:xfrm>
            <a:off x="1167917" y="3147456"/>
            <a:ext cx="9699722" cy="38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-it --rm --name foo --network test alpine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sh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B1604F-92D3-61BF-2849-D22E92433197}"/>
              </a:ext>
            </a:extLst>
          </p:cNvPr>
          <p:cNvSpPr/>
          <p:nvPr/>
        </p:nvSpPr>
        <p:spPr>
          <a:xfrm>
            <a:off x="1167917" y="3582175"/>
            <a:ext cx="9699722" cy="1335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-it --rm --name bar --network test alpine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sh</a:t>
            </a:r>
            <a:b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/ # ping foo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PING foo (172.18.0.2): 56 data bytes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64 bytes from 172.18.0.2: seq=0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ttl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=64 time=0.217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64 bytes from 172.18.0.2: seq=1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ttl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=64 time=0.086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ms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919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F7F3-0B6A-7D76-7C5B-9F246638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F442B7-6A6A-27B6-9F2E-292FE8086C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6AB3B6-DBBC-54B0-FF75-DAD2CE1930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259472-BECF-77CA-4F88-47CA0E40C0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5080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2336-F121-D8B7-19A7-2BDC25D3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5B5C03-B5EA-C2D1-82D6-856EAEFEE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7183" y="2782706"/>
            <a:ext cx="7859222" cy="2591162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BAE1D-6F48-80CE-FB01-CF0C74CB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56494-F2C7-4E18-AA37-B814F9F3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17BC59-330C-81A8-FEAA-E121AB529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A05E4A-16AD-075D-D7F3-0915813CB8D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220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B96831-FEF7-4D41-86E9-F970442AF212}"/>
              </a:ext>
            </a:extLst>
          </p:cNvPr>
          <p:cNvSpPr txBox="1"/>
          <p:nvPr/>
        </p:nvSpPr>
        <p:spPr>
          <a:xfrm>
            <a:off x="841375" y="1855694"/>
            <a:ext cx="5387822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Why not to use single container for both Node and Redis?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790CA5-6695-4F4F-85CB-67D5896AB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21" y="2561141"/>
            <a:ext cx="6601746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065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B96831-FEF7-4D41-86E9-F970442AF212}"/>
              </a:ext>
            </a:extLst>
          </p:cNvPr>
          <p:cNvSpPr txBox="1"/>
          <p:nvPr/>
        </p:nvSpPr>
        <p:spPr>
          <a:xfrm>
            <a:off x="841374" y="1855694"/>
            <a:ext cx="5749925" cy="898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dirty="0"/>
              <a:t>Single container won’t work in real world because: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as requests grow multiple container instances are needed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containers would be isolated from each other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5EBEC0-64F5-4278-8D14-3DB4759BA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065" y="2747750"/>
            <a:ext cx="7163869" cy="361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24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16179E-00E3-44F1-982C-C4BA0E9EC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3213547"/>
            <a:ext cx="8602275" cy="2686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CD43A7-6337-46FD-B0EB-446678E3E1AF}"/>
              </a:ext>
            </a:extLst>
          </p:cNvPr>
          <p:cNvSpPr txBox="1"/>
          <p:nvPr/>
        </p:nvSpPr>
        <p:spPr>
          <a:xfrm>
            <a:off x="841375" y="1855694"/>
            <a:ext cx="3379836" cy="89883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Solution: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docker container for node app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docker container for Redis server</a:t>
            </a:r>
          </a:p>
        </p:txBody>
      </p:sp>
    </p:spTree>
    <p:extLst>
      <p:ext uri="{BB962C8B-B14F-4D97-AF65-F5344CB8AC3E}">
        <p14:creationId xmlns:p14="http://schemas.microsoft.com/office/powerpoint/2010/main" val="307814580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86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9C32B-9A18-4B4F-8CEF-CFFADFFD6246}"/>
              </a:ext>
            </a:extLst>
          </p:cNvPr>
          <p:cNvSpPr txBox="1"/>
          <p:nvPr/>
        </p:nvSpPr>
        <p:spPr>
          <a:xfrm>
            <a:off x="841375" y="1352592"/>
            <a:ext cx="709874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index.js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233FA-3637-46E8-A084-97A0461BDCA0}"/>
              </a:ext>
            </a:extLst>
          </p:cNvPr>
          <p:cNvSpPr txBox="1"/>
          <p:nvPr/>
        </p:nvSpPr>
        <p:spPr>
          <a:xfrm>
            <a:off x="6887208" y="1328418"/>
            <a:ext cx="1209177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 err="1"/>
              <a:t>package.json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581452-AF66-1B43-3FB4-1C9923A95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770202"/>
              </p:ext>
            </p:extLst>
          </p:nvPr>
        </p:nvGraphicFramePr>
        <p:xfrm>
          <a:off x="1662597" y="1403182"/>
          <a:ext cx="4998997" cy="5110607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4998997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78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const </a:t>
                      </a:r>
                      <a:r>
                        <a:rPr lang="en-US" sz="1200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express 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= require(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</a:t>
                      </a:r>
                      <a:r>
                        <a:rPr lang="en-US" sz="12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express'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const </a:t>
                      </a: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redis</a:t>
                      </a:r>
                      <a:r>
                        <a:rPr lang="en-US" sz="1200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= require(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</a:t>
                      </a:r>
                      <a:r>
                        <a:rPr lang="en-US" sz="12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redis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const </a:t>
                      </a: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os</a:t>
                      </a:r>
                      <a:r>
                        <a:rPr lang="en-US" sz="1200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= require(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</a:t>
                      </a:r>
                      <a:r>
                        <a:rPr lang="en-US" sz="12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os'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const </a:t>
                      </a:r>
                      <a:r>
                        <a:rPr lang="en-US" sz="1200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app 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= </a:t>
                      </a:r>
                      <a:r>
                        <a:rPr lang="en-US" sz="1200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express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const </a:t>
                      </a:r>
                      <a:r>
                        <a:rPr lang="en-US" sz="1200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client 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= </a:t>
                      </a: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redis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.createClient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({</a:t>
                      </a:r>
                      <a:b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200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host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</a:t>
                      </a:r>
                      <a:r>
                        <a:rPr lang="en-US" sz="12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redis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-server'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200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port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</a:t>
                      </a:r>
                      <a:r>
                        <a:rPr lang="en-US" sz="12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  <a:t>6379</a:t>
                      </a:r>
                      <a:br>
                        <a:rPr lang="en-US" sz="12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});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client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56A8F5"/>
                          </a:solidFill>
                          <a:effectLst/>
                          <a:latin typeface="JetBrains Mono"/>
                        </a:rPr>
                        <a:t>set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'visits'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  <a:t>0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a</a:t>
                      </a: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pp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56A8F5"/>
                          </a:solidFill>
                          <a:effectLst/>
                          <a:latin typeface="JetBrains Mono"/>
                        </a:rPr>
                        <a:t>get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'/'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(req, res) =&gt; {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// when we try to access it in the browser</a:t>
                      </a:r>
                      <a:b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    // this will cause the process to exit and stop the pod</a:t>
                      </a:r>
                      <a:b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    // </a:t>
                      </a:r>
                      <a:r>
                        <a:rPr lang="en-US" sz="1200" dirty="0" err="1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process.exit</a:t>
                      </a:r>
                      <a: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(0);</a:t>
                      </a:r>
                      <a:b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7A7E85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client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56A8F5"/>
                          </a:solidFill>
                          <a:effectLst/>
                          <a:latin typeface="JetBrains Mono"/>
                        </a:rPr>
                        <a:t>get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'visits'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(err, visits) =&gt; {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    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res.</a:t>
                      </a:r>
                      <a:r>
                        <a:rPr lang="en-US" sz="1200" dirty="0" err="1">
                          <a:solidFill>
                            <a:srgbClr val="56A8F5"/>
                          </a:solidFill>
                          <a:effectLst/>
                          <a:latin typeface="JetBrains Mono"/>
                        </a:rPr>
                        <a:t>send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        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'Number of visits is ' 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+ visits +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        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'&lt;</a:t>
                      </a:r>
                      <a:r>
                        <a:rPr lang="en-US" sz="12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br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&gt;Hostname: ' 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+ </a:t>
                      </a: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os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hostname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()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    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    </a:t>
                      </a: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client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56A8F5"/>
                          </a:solidFill>
                          <a:effectLst/>
                          <a:latin typeface="JetBrains Mono"/>
                        </a:rPr>
                        <a:t>set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'visits'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56A8F5"/>
                          </a:solidFill>
                          <a:effectLst/>
                          <a:latin typeface="JetBrains Mono"/>
                        </a:rPr>
                        <a:t>parseInt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(visits) + </a:t>
                      </a:r>
                      <a:r>
                        <a:rPr lang="en-US" sz="12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});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});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app</a:t>
                      </a:r>
                      <a:r>
                        <a:rPr lang="en-US" sz="1200" dirty="0" err="1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.listen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2AACB8"/>
                          </a:solidFill>
                          <a:effectLst/>
                          <a:latin typeface="JetBrains Mono"/>
                        </a:rPr>
                        <a:t>8081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 () =&gt; {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200" i="1" dirty="0">
                          <a:solidFill>
                            <a:srgbClr val="C77DBA"/>
                          </a:solidFill>
                          <a:effectLst/>
                          <a:latin typeface="JetBrains Mono"/>
                        </a:rPr>
                        <a:t>console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sz="1200" dirty="0">
                          <a:solidFill>
                            <a:srgbClr val="56A8F5"/>
                          </a:solidFill>
                          <a:effectLst/>
                          <a:latin typeface="JetBrains Mono"/>
                        </a:rPr>
                        <a:t>log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'Listening on port 8081'</a:t>
                      </a: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);</a:t>
                      </a:r>
                      <a:b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2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});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82AAA8-96AC-EA5F-EF94-39381C199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518153"/>
              </p:ext>
            </p:extLst>
          </p:nvPr>
        </p:nvGraphicFramePr>
        <p:xfrm>
          <a:off x="8156575" y="1403182"/>
          <a:ext cx="1678187" cy="1741869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1678187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78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{</a:t>
                      </a:r>
                      <a:b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</a:t>
                      </a:r>
                      <a:r>
                        <a:rPr lang="en-US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"dependencies"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{</a:t>
                      </a:r>
                      <a:b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"express"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</a:t>
                      </a:r>
                      <a:r>
                        <a:rPr lang="en-US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"*"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,</a:t>
                      </a:r>
                      <a:b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dirty="0" err="1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redis</a:t>
                      </a:r>
                      <a:r>
                        <a:rPr lang="en-US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"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</a:t>
                      </a:r>
                      <a:r>
                        <a:rPr lang="en-US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"2.8.0"</a:t>
                      </a:r>
                      <a:br>
                        <a:rPr lang="en-US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  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},</a:t>
                      </a:r>
                      <a:b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</a:t>
                      </a:r>
                      <a:r>
                        <a:rPr lang="en-US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"scripts"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{</a:t>
                      </a:r>
                      <a:b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dirty="0">
                          <a:solidFill>
                            <a:srgbClr val="C77DBB"/>
                          </a:solidFill>
                          <a:effectLst/>
                          <a:latin typeface="JetBrains Mono"/>
                        </a:rPr>
                        <a:t>"start"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</a:t>
                      </a:r>
                      <a:r>
                        <a:rPr lang="en-US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"node index.js"</a:t>
                      </a:r>
                      <a:br>
                        <a:rPr lang="en-US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  </a:t>
                      </a: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}</a:t>
                      </a:r>
                      <a:b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4834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72FD36-3F3A-4144-9007-A6F4CB58F0BC}"/>
              </a:ext>
            </a:extLst>
          </p:cNvPr>
          <p:cNvSpPr txBox="1"/>
          <p:nvPr/>
        </p:nvSpPr>
        <p:spPr>
          <a:xfrm>
            <a:off x="841375" y="2164080"/>
            <a:ext cx="2434064" cy="120353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US" dirty="0"/>
              <a:t>create node app</a:t>
            </a:r>
          </a:p>
          <a:p>
            <a:pPr marL="342900" indent="-342900" algn="l">
              <a:buAutoNum type="arabicPeriod"/>
            </a:pPr>
            <a:r>
              <a:rPr lang="en-US" dirty="0"/>
              <a:t>create Redis container</a:t>
            </a:r>
          </a:p>
          <a:p>
            <a:pPr marL="342900" indent="-342900" algn="l">
              <a:buAutoNum type="arabicPeriod"/>
            </a:pPr>
            <a:r>
              <a:rPr lang="en-US" dirty="0"/>
              <a:t>error…</a:t>
            </a:r>
          </a:p>
          <a:p>
            <a:pPr marL="342900" indent="-342900" algn="l">
              <a:buAutoNum type="arabicPeriod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E7AEAB-8E1A-4C27-A91E-BBFFC38B1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705" y="2164080"/>
            <a:ext cx="7268589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106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88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606EA1-62FB-4DDF-A76F-57A4B8DC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259" y="2195340"/>
            <a:ext cx="5601482" cy="24673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B1AB86-5235-4E45-940B-2048145463FD}"/>
              </a:ext>
            </a:extLst>
          </p:cNvPr>
          <p:cNvSpPr txBox="1"/>
          <p:nvPr/>
        </p:nvSpPr>
        <p:spPr>
          <a:xfrm>
            <a:off x="3820160" y="4662659"/>
            <a:ext cx="4946482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By default, docker containers can’t talk to each other</a:t>
            </a:r>
          </a:p>
        </p:txBody>
      </p:sp>
    </p:spTree>
    <p:extLst>
      <p:ext uri="{BB962C8B-B14F-4D97-AF65-F5344CB8AC3E}">
        <p14:creationId xmlns:p14="http://schemas.microsoft.com/office/powerpoint/2010/main" val="20952941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89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ED785-161F-4D2C-9E7F-B0854C30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021" y="2296940"/>
            <a:ext cx="5591955" cy="2467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6C8DF5-9836-4459-A143-347ADF1D2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371" y="2117216"/>
            <a:ext cx="273405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084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1A4B2-1504-4BCE-D639-7D29C5E9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3E1FC-CF3A-3D96-CC99-98AF718A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94684-BEC5-A692-06EF-E696E2AB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90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950D45-E50F-17DB-9258-EBC1F738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D7BA3-0093-52BD-E891-7450957357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F6AB4D-CDBD-FA41-D858-B7ADF96B57CD}"/>
              </a:ext>
            </a:extLst>
          </p:cNvPr>
          <p:cNvSpPr/>
          <p:nvPr/>
        </p:nvSpPr>
        <p:spPr>
          <a:xfrm>
            <a:off x="1225774" y="1904208"/>
            <a:ext cx="9699722" cy="26185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network create app-network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cdd7850ea26ba2125e2df5fa205415d39b5173752193d2893e0bf7af86374f6f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run --rm -d --network app-network --name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redis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-server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redis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fd56093d00ed8f9ab1687d097a81bebb9a82d025c2ae6fd21bd0f548968406ff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 docker run --network app-network -p 8080:8081 app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&gt; start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&gt; node index.js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Listening on port 8081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09094-8E73-B170-E556-E2C8DB89D218}"/>
              </a:ext>
            </a:extLst>
          </p:cNvPr>
          <p:cNvSpPr txBox="1"/>
          <p:nvPr/>
        </p:nvSpPr>
        <p:spPr>
          <a:xfrm>
            <a:off x="1225774" y="4634787"/>
            <a:ext cx="5567614" cy="5941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And afterwards, when you are done, good luck cleaning up.</a:t>
            </a:r>
          </a:p>
          <a:p>
            <a:pPr algn="l"/>
            <a:r>
              <a:rPr lang="en-US" dirty="0"/>
              <a:t>There has to be a better way!</a:t>
            </a:r>
          </a:p>
        </p:txBody>
      </p:sp>
    </p:spTree>
    <p:extLst>
      <p:ext uri="{BB962C8B-B14F-4D97-AF65-F5344CB8AC3E}">
        <p14:creationId xmlns:p14="http://schemas.microsoft.com/office/powerpoint/2010/main" val="18963376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91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B4FCF510-2216-1614-0E3D-DA20C9DBD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4"/>
            <a:ext cx="10352806" cy="2933551"/>
          </a:xfrm>
        </p:spPr>
        <p:txBody>
          <a:bodyPr vert="horz" lIns="0" tIns="0" rIns="0" bIns="0" rtlCol="0" anchor="t">
            <a:noAutofit/>
          </a:bodyPr>
          <a:lstStyle/>
          <a:p>
            <a:pPr marL="429750" lvl="1" indent="-285750"/>
            <a:r>
              <a:rPr lang="en-US" dirty="0"/>
              <a:t>Docker Compose is a tool for defining and running multi-container applications.</a:t>
            </a:r>
          </a:p>
          <a:p>
            <a:pPr marL="429750" lvl="1" indent="-285750"/>
            <a:r>
              <a:rPr lang="en-US" dirty="0"/>
              <a:t>Application components are described in a single YAML configuration file.</a:t>
            </a:r>
          </a:p>
          <a:p>
            <a:pPr marL="429750" lvl="1" indent="-285750"/>
            <a:r>
              <a:rPr lang="en-US" dirty="0"/>
              <a:t>Manage services, networks, and volumes from one central location.</a:t>
            </a:r>
          </a:p>
          <a:p>
            <a:pPr marL="429750" lvl="1" indent="-285750"/>
            <a:r>
              <a:rPr lang="en-US" dirty="0"/>
              <a:t>Launch the entire application stack with a single command.</a:t>
            </a:r>
          </a:p>
          <a:p>
            <a:pPr marL="429750" lvl="1" indent="-285750"/>
            <a:r>
              <a:rPr lang="en-US" dirty="0"/>
              <a:t>Automate some of the long-winded arguments passed to docker run.</a:t>
            </a:r>
          </a:p>
          <a:p>
            <a:pPr marL="429750" lvl="1" indent="-285750"/>
            <a:r>
              <a:rPr lang="en-US" dirty="0"/>
              <a:t>Works consistently across:</a:t>
            </a:r>
          </a:p>
          <a:p>
            <a:pPr marL="825750" lvl="2" indent="-285750"/>
            <a:r>
              <a:rPr lang="en-US" sz="1800" dirty="0"/>
              <a:t>Development</a:t>
            </a:r>
          </a:p>
          <a:p>
            <a:pPr marL="825750" lvl="2" indent="-285750"/>
            <a:r>
              <a:rPr lang="en-US" sz="1800" dirty="0"/>
              <a:t>Testing</a:t>
            </a:r>
          </a:p>
          <a:p>
            <a:pPr marL="825750" lvl="2" indent="-285750"/>
            <a:r>
              <a:rPr lang="en-US" sz="1800" dirty="0"/>
              <a:t>Staging</a:t>
            </a:r>
          </a:p>
          <a:p>
            <a:pPr marL="825750" lvl="2" indent="-285750"/>
            <a:r>
              <a:rPr lang="en-US" sz="1800" dirty="0"/>
              <a:t>Production</a:t>
            </a:r>
          </a:p>
          <a:p>
            <a:pPr marL="825750" lvl="2" indent="-285750"/>
            <a:r>
              <a:rPr lang="en-US" sz="1800" dirty="0"/>
              <a:t>CI/CD pipelines</a:t>
            </a:r>
          </a:p>
          <a:p>
            <a:pPr lvl="1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79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92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E990DD-12BE-450E-BF1F-044072BD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500" y="3395019"/>
            <a:ext cx="3191320" cy="3134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34297C-8CC7-448F-A49C-E0AC32D6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412" y="1270000"/>
            <a:ext cx="7116168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695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93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-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F9C7A4-07EF-3FB4-E651-2343EF13D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49401"/>
              </p:ext>
            </p:extLst>
          </p:nvPr>
        </p:nvGraphicFramePr>
        <p:xfrm>
          <a:off x="5353986" y="2065912"/>
          <a:ext cx="1484028" cy="1722565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1484028">
                  <a:extLst>
                    <a:ext uri="{9D8B030D-6E8A-4147-A177-3AD203B41FA5}">
                      <a16:colId xmlns:a16="http://schemas.microsoft.com/office/drawing/2014/main" val="608448772"/>
                    </a:ext>
                  </a:extLst>
                </a:gridCol>
              </a:tblGrid>
              <a:tr h="1715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services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</a:t>
                      </a:r>
                      <a:r>
                        <a:rPr lang="en-US" sz="1400" dirty="0" err="1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redis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-server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image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</a:t>
                      </a:r>
                      <a:r>
                        <a:rPr lang="en-US" sz="1400" dirty="0" err="1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redis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</a:t>
                      </a:r>
                      <a:b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 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node-app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build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 .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sz="1400" dirty="0">
                          <a:solidFill>
                            <a:srgbClr val="CF8E6D"/>
                          </a:solidFill>
                          <a:effectLst/>
                          <a:latin typeface="JetBrains Mono"/>
                        </a:rPr>
                        <a:t>ports</a:t>
                      </a: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:</a:t>
                      </a:r>
                      <a:b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sz="1400" dirty="0">
                          <a:solidFill>
                            <a:srgbClr val="BCBEC4"/>
                          </a:solidFill>
                          <a:effectLst/>
                          <a:latin typeface="JetBrains Mono"/>
                        </a:rPr>
                        <a:t>      - </a:t>
                      </a:r>
                      <a:r>
                        <a:rPr lang="en-US" sz="1400" dirty="0">
                          <a:solidFill>
                            <a:srgbClr val="6AAB73"/>
                          </a:solidFill>
                          <a:effectLst/>
                          <a:latin typeface="JetBrains Mono"/>
                        </a:rPr>
                        <a:t>'8081'</a:t>
                      </a:r>
                      <a:endParaRPr lang="en-US" sz="1400" dirty="0">
                        <a:solidFill>
                          <a:srgbClr val="BCBEC4"/>
                        </a:solidFill>
                        <a:effectLst/>
                        <a:latin typeface="JetBrains Mono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1579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F09652D-B257-37DC-C1EF-348D8BFC7B8D}"/>
              </a:ext>
            </a:extLst>
          </p:cNvPr>
          <p:cNvSpPr/>
          <p:nvPr/>
        </p:nvSpPr>
        <p:spPr>
          <a:xfrm>
            <a:off x="1246139" y="4045661"/>
            <a:ext cx="9699722" cy="780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compose up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# or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PS C:\Users\molnare&gt; docker compose up --scale node-app=3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3E428-8A6E-6BB5-E0AE-4906D1178A64}"/>
              </a:ext>
            </a:extLst>
          </p:cNvPr>
          <p:cNvSpPr txBox="1"/>
          <p:nvPr/>
        </p:nvSpPr>
        <p:spPr>
          <a:xfrm>
            <a:off x="5123169" y="1664008"/>
            <a:ext cx="1945661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5273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202BA-C335-9452-1160-7762FD39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7F503-B2DC-6E3B-B648-937C06D126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 Compose - Commands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245184-992C-8926-4A40-715A11B53A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BC4BD5-F3E3-D34C-5694-55285EC582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94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8658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95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Commands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26089D-C9E5-4E4E-AB45-A35C5D18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85" y="1489429"/>
            <a:ext cx="5944430" cy="2410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87CAA8-71F5-4C1B-B1DA-E5855B551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497" y="4015902"/>
            <a:ext cx="3801005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5876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D981-A396-0E4E-DBF4-267D0C18A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1CDCC2-D2A6-B7F4-431A-5FF986BF67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 Compose - Crashed Containers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0A2071-DF0E-64A3-4064-7710D97226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FCDB58-763E-9CB0-52E8-4CAA77938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46045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0DAB-1C16-4EDE-A221-8A06932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6E9-F857-4B44-90E5-5E6C8B5C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97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F7305-8A4B-483A-8913-DBD9D22E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– Crashed Pods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D018-42CC-4D5D-AAF4-4A0AA482238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F32EE8-36E4-4B4A-B782-3D0769D81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3424967"/>
            <a:ext cx="3915321" cy="2248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D6737B-1CA6-488A-B3E5-5A5BC5211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41" y="1843679"/>
            <a:ext cx="5715798" cy="847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00FD0A-77E4-4C11-BB98-42B740AC0D30}"/>
              </a:ext>
            </a:extLst>
          </p:cNvPr>
          <p:cNvSpPr txBox="1"/>
          <p:nvPr/>
        </p:nvSpPr>
        <p:spPr>
          <a:xfrm>
            <a:off x="6763621" y="1818183"/>
            <a:ext cx="4757819" cy="898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dirty="0"/>
              <a:t>Rebuild, relaunch. </a:t>
            </a:r>
            <a:br>
              <a:rPr lang="en-US" dirty="0"/>
            </a:br>
            <a:r>
              <a:rPr lang="en-US" dirty="0"/>
              <a:t>When you try to access the app in the browser, the pod will stop.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33E950-841C-4B41-A4CE-5701471CF633}"/>
              </a:ext>
            </a:extLst>
          </p:cNvPr>
          <p:cNvSpPr txBox="1"/>
          <p:nvPr/>
        </p:nvSpPr>
        <p:spPr>
          <a:xfrm>
            <a:off x="996187" y="3135529"/>
            <a:ext cx="2803653" cy="28943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/>
              <a:t>we can define restart policies: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D89313-9416-4761-817C-333B14D35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092" y="3498431"/>
            <a:ext cx="2248214" cy="23434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6BE8D2-C0A2-45A4-9FBB-4CD0F91720F2}"/>
              </a:ext>
            </a:extLst>
          </p:cNvPr>
          <p:cNvSpPr txBox="1"/>
          <p:nvPr/>
        </p:nvSpPr>
        <p:spPr>
          <a:xfrm>
            <a:off x="7865702" y="3498431"/>
            <a:ext cx="3881120" cy="1508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dirty="0"/>
              <a:t>Try it with on-failure policy too and exit code 0, see what happens.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check running pods with:</a:t>
            </a:r>
            <a:br>
              <a:rPr lang="en-US" dirty="0"/>
            </a:br>
            <a:r>
              <a:rPr lang="en-US" dirty="0"/>
              <a:t>docker compose </a:t>
            </a:r>
            <a:r>
              <a:rPr lang="en-US" dirty="0" err="1"/>
              <a:t>ps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37FE3E-E80B-432C-8E5B-F8CD7838BE44}"/>
              </a:ext>
            </a:extLst>
          </p:cNvPr>
          <p:cNvSpPr txBox="1"/>
          <p:nvPr/>
        </p:nvSpPr>
        <p:spPr>
          <a:xfrm>
            <a:off x="941941" y="5667024"/>
            <a:ext cx="3680859" cy="28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/>
              <a:t>no has to be quoted due </a:t>
            </a:r>
            <a:r>
              <a:rPr lang="en-US" err="1"/>
              <a:t>toyaml</a:t>
            </a:r>
            <a:r>
              <a:rPr lang="en-US"/>
              <a:t> syntax</a:t>
            </a:r>
          </a:p>
        </p:txBody>
      </p:sp>
    </p:spTree>
    <p:extLst>
      <p:ext uri="{BB962C8B-B14F-4D97-AF65-F5344CB8AC3E}">
        <p14:creationId xmlns:p14="http://schemas.microsoft.com/office/powerpoint/2010/main" val="2923745922"/>
      </p:ext>
    </p:extLst>
  </p:cSld>
  <p:clrMapOvr>
    <a:masterClrMapping/>
  </p:clrMapOvr>
</p:sld>
</file>

<file path=ppt/theme/theme1.xml><?xml version="1.0" encoding="utf-8"?>
<a:theme xmlns:a="http://schemas.openxmlformats.org/drawingml/2006/main" name="msg Master klein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Präsentation7" id="{0BC172F9-962C-494D-9338-C56D914D26C1}" vid="{6993085F-7E77-E146-87D3-74A20FC97FA3}"/>
    </a:ext>
  </a:extLst>
</a:theme>
</file>

<file path=ppt/theme/theme2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sg_Klassifizierung xmlns="1dd69248-66f9-453d-8211-ae5ae34a4b30">internal</msg_Klassifizierung>
    <msg_Status xmlns="1dd69248-66f9-453d-8211-ae5ae34a4b30">draft</msg_Status>
    <msg_Firma xmlns="1dd69248-66f9-453d-8211-ae5ae34a4b30"/>
    <msg_Version xmlns="1dd69248-66f9-453d-8211-ae5ae34a4b30">0.1</msg_Version>
    <msg_Manager xmlns="1dd69248-66f9-453d-8211-ae5ae34a4b30">[Dokumentverantwortlicher]</msg_Manager>
    <msg_Dokumententyp xmlns="1dd69248-66f9-453d-8211-ae5ae34a4b30">Schriftwechsel (allgemein)</msg_Dokumententyp>
    <msg_gueltig_ab xmlns="1dd69248-66f9-453d-8211-ae5ae34a4b30">2021-03-22T12:00:00+00:00</msg_gueltig_ab>
    <msg_gueltig_bis xmlns="1dd69248-66f9-453d-8211-ae5ae34a4b30">2027-12-31T12:00:00+00:00</msg_gueltig_bis>
    <msg_Kommentar xmlns="1dd69248-66f9-453d-8211-ae5ae34a4b30">Neues Dokument erstellt.</msg_Kommentar>
  </documentManagement>
</p:properties>
</file>

<file path=customXml/itemProps1.xml><?xml version="1.0" encoding="utf-8"?>
<ds:datastoreItem xmlns:ds="http://schemas.openxmlformats.org/officeDocument/2006/customXml" ds:itemID="{FB763358-E7B6-47CE-BEED-3814D0C50AC7}">
  <ds:schemaRefs>
    <ds:schemaRef ds:uri="1dd69248-66f9-453d-8211-ae5ae34a4b30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7b563a01-caf2-48ed-8708-7300e4e42e72}" enabled="1" method="Privileged" siteId="{763b2760-45c5-46d3-883e-29705bba49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6942</Words>
  <Application>Microsoft Office PowerPoint</Application>
  <PresentationFormat>Widescreen</PresentationFormat>
  <Paragraphs>1312</Paragraphs>
  <Slides>97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2" baseType="lpstr">
      <vt:lpstr>Arial</vt:lpstr>
      <vt:lpstr>Calibri</vt:lpstr>
      <vt:lpstr>Consolas</vt:lpstr>
      <vt:lpstr>JetBrains Mono</vt:lpstr>
      <vt:lpstr>msg Master klein</vt:lpstr>
      <vt:lpstr>Introduction to Docker</vt:lpstr>
      <vt:lpstr>Introduction</vt:lpstr>
      <vt:lpstr>Docker - Basics</vt:lpstr>
      <vt:lpstr>Why Use Docker?</vt:lpstr>
      <vt:lpstr>Why Use Docker?</vt:lpstr>
      <vt:lpstr>What Is Docker?</vt:lpstr>
      <vt:lpstr>What Is Docker?</vt:lpstr>
      <vt:lpstr>What Is Docker?</vt:lpstr>
      <vt:lpstr>Docker CLI</vt:lpstr>
      <vt:lpstr>Docker CLI</vt:lpstr>
      <vt:lpstr>Container Explained</vt:lpstr>
      <vt:lpstr>Container Explained</vt:lpstr>
      <vt:lpstr>Container Explained</vt:lpstr>
      <vt:lpstr>Container Explained</vt:lpstr>
      <vt:lpstr>Container Explained</vt:lpstr>
      <vt:lpstr>Container Explained</vt:lpstr>
      <vt:lpstr>Container Explained</vt:lpstr>
      <vt:lpstr>Container Explained</vt:lpstr>
      <vt:lpstr>Default Command Override</vt:lpstr>
      <vt:lpstr>Default Command Override</vt:lpstr>
      <vt:lpstr>Default Command Override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</vt:lpstr>
      <vt:lpstr>Container Lifecycle - Housekeeping</vt:lpstr>
      <vt:lpstr>Container Lifecycle - Housekeeping</vt:lpstr>
      <vt:lpstr>Container Lifecycle - Housekeeping</vt:lpstr>
      <vt:lpstr>Container Lifecycle - Housekeeping</vt:lpstr>
      <vt:lpstr>Logs</vt:lpstr>
      <vt:lpstr>Logs</vt:lpstr>
      <vt:lpstr>Multi Command Container</vt:lpstr>
      <vt:lpstr>Multi-Command Containers</vt:lpstr>
      <vt:lpstr>Multi-Command Containers</vt:lpstr>
      <vt:lpstr>Multi-Command Containers</vt:lpstr>
      <vt:lpstr>Multi-Command Containers</vt:lpstr>
      <vt:lpstr>Multi-Command Containers</vt:lpstr>
      <vt:lpstr>Multi-Command Containers</vt:lpstr>
      <vt:lpstr>Multi-Command Containers</vt:lpstr>
      <vt:lpstr>Creating Docker Images</vt:lpstr>
      <vt:lpstr>Creating Docker Images</vt:lpstr>
      <vt:lpstr>Creating Docker Images</vt:lpstr>
      <vt:lpstr>Creating Docker Images</vt:lpstr>
      <vt:lpstr>Creating Docker Images</vt:lpstr>
      <vt:lpstr>Creating Docker Images</vt:lpstr>
      <vt:lpstr>Creating Docker Images</vt:lpstr>
      <vt:lpstr>Base Image</vt:lpstr>
      <vt:lpstr>What’s a base image?</vt:lpstr>
      <vt:lpstr>What’s a base image?</vt:lpstr>
      <vt:lpstr>Build Process</vt:lpstr>
      <vt:lpstr>Tagging Docker Images </vt:lpstr>
      <vt:lpstr>Tagging Docker Images </vt:lpstr>
      <vt:lpstr>Docker Image Generation</vt:lpstr>
      <vt:lpstr>Real Project with Docker</vt:lpstr>
      <vt:lpstr>Real Project with Docker</vt:lpstr>
      <vt:lpstr>Real Project with Docker</vt:lpstr>
      <vt:lpstr>Real Project with Docker</vt:lpstr>
      <vt:lpstr>Real Project with Docker</vt:lpstr>
      <vt:lpstr>Real Project with Docker</vt:lpstr>
      <vt:lpstr>Real Project with Docker</vt:lpstr>
      <vt:lpstr>Multi-Stage Builds</vt:lpstr>
      <vt:lpstr>Multi-Stage Builds</vt:lpstr>
      <vt:lpstr>Multi-Stage Builds</vt:lpstr>
      <vt:lpstr>Multi-Stage Builds</vt:lpstr>
      <vt:lpstr>Multi-Stage Builds</vt:lpstr>
      <vt:lpstr>Real Project with Docker</vt:lpstr>
      <vt:lpstr>Real Project with Docker</vt:lpstr>
      <vt:lpstr>Real Project with Docker</vt:lpstr>
      <vt:lpstr>Docker - Volumes</vt:lpstr>
      <vt:lpstr>Docker - Volumes</vt:lpstr>
      <vt:lpstr>Docker - Networking</vt:lpstr>
      <vt:lpstr>Docker - Volumes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Project</vt:lpstr>
      <vt:lpstr>Docker Compose - Commands</vt:lpstr>
      <vt:lpstr>Docker Compose Commands</vt:lpstr>
      <vt:lpstr>Docker Compose - Crashed Containers</vt:lpstr>
      <vt:lpstr>Docker Compose – Crashed Pods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Presentation2</dc:title>
  <dc:creator>Elod Molnar</dc:creator>
  <cp:lastModifiedBy>Elod Molnar</cp:lastModifiedBy>
  <cp:revision>55</cp:revision>
  <dcterms:created xsi:type="dcterms:W3CDTF">2021-03-22T13:40:13Z</dcterms:created>
  <dcterms:modified xsi:type="dcterms:W3CDTF">2026-07-31T13:53:07Z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g_AssistantVisibility">
    <vt:bool>false</vt:bool>
  </property>
  <property fmtid="{D5CDD505-2E9C-101B-9397-08002B2CF9AE}" pid="3" name="msg_DueDateChanged">
    <vt:filetime>2021-03-22T13:40:14Z</vt:filetime>
  </property>
  <property fmtid="{D5CDD505-2E9C-101B-9397-08002B2CF9AE}" pid="4" name="MSIP_Label_7b563a01-caf2-48ed-8708-7300e4e42e72_Enabled">
    <vt:lpwstr>true</vt:lpwstr>
  </property>
  <property fmtid="{D5CDD505-2E9C-101B-9397-08002B2CF9AE}" pid="5" name="MSIP_Label_7b563a01-caf2-48ed-8708-7300e4e42e72_SetDate">
    <vt:lpwstr>2022-07-15T07:58:41Z</vt:lpwstr>
  </property>
  <property fmtid="{D5CDD505-2E9C-101B-9397-08002B2CF9AE}" pid="6" name="MSIP_Label_7b563a01-caf2-48ed-8708-7300e4e42e72_Method">
    <vt:lpwstr>Privileged</vt:lpwstr>
  </property>
  <property fmtid="{D5CDD505-2E9C-101B-9397-08002B2CF9AE}" pid="7" name="MSIP_Label_7b563a01-caf2-48ed-8708-7300e4e42e72_Name">
    <vt:lpwstr>Intern - Internal</vt:lpwstr>
  </property>
  <property fmtid="{D5CDD505-2E9C-101B-9397-08002B2CF9AE}" pid="8" name="MSIP_Label_7b563a01-caf2-48ed-8708-7300e4e42e72_SiteId">
    <vt:lpwstr>763b2760-45c5-46d3-883e-29705bba49b7</vt:lpwstr>
  </property>
  <property fmtid="{D5CDD505-2E9C-101B-9397-08002B2CF9AE}" pid="9" name="MSIP_Label_7b563a01-caf2-48ed-8708-7300e4e42e72_ActionId">
    <vt:lpwstr>167d4558-5f53-4a29-a4b7-7e5a15f34c0a</vt:lpwstr>
  </property>
  <property fmtid="{D5CDD505-2E9C-101B-9397-08002B2CF9AE}" pid="10" name="MSIP_Label_7b563a01-caf2-48ed-8708-7300e4e42e72_ContentBits">
    <vt:lpwstr>0</vt:lpwstr>
  </property>
</Properties>
</file>